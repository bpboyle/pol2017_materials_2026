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73"/>
  </p:notesMasterIdLst>
  <p:sldIdLst>
    <p:sldId id="279" r:id="rId2"/>
    <p:sldId id="257" r:id="rId3"/>
    <p:sldId id="560" r:id="rId4"/>
    <p:sldId id="559" r:id="rId5"/>
    <p:sldId id="389" r:id="rId6"/>
    <p:sldId id="491" r:id="rId7"/>
    <p:sldId id="492" r:id="rId8"/>
    <p:sldId id="494" r:id="rId9"/>
    <p:sldId id="418" r:id="rId10"/>
    <p:sldId id="280" r:id="rId11"/>
    <p:sldId id="500" r:id="rId12"/>
    <p:sldId id="499" r:id="rId13"/>
    <p:sldId id="555" r:id="rId14"/>
    <p:sldId id="556" r:id="rId15"/>
    <p:sldId id="527" r:id="rId16"/>
    <p:sldId id="501" r:id="rId17"/>
    <p:sldId id="529" r:id="rId18"/>
    <p:sldId id="403" r:id="rId19"/>
    <p:sldId id="381" r:id="rId20"/>
    <p:sldId id="461" r:id="rId21"/>
    <p:sldId id="433" r:id="rId22"/>
    <p:sldId id="434" r:id="rId23"/>
    <p:sldId id="435" r:id="rId24"/>
    <p:sldId id="436" r:id="rId25"/>
    <p:sldId id="437" r:id="rId26"/>
    <p:sldId id="438" r:id="rId27"/>
    <p:sldId id="554" r:id="rId28"/>
    <p:sldId id="525" r:id="rId29"/>
    <p:sldId id="425" r:id="rId30"/>
    <p:sldId id="537" r:id="rId31"/>
    <p:sldId id="561" r:id="rId32"/>
    <p:sldId id="426" r:id="rId33"/>
    <p:sldId id="427" r:id="rId34"/>
    <p:sldId id="428" r:id="rId35"/>
    <p:sldId id="429" r:id="rId36"/>
    <p:sldId id="430" r:id="rId37"/>
    <p:sldId id="420" r:id="rId38"/>
    <p:sldId id="417" r:id="rId39"/>
    <p:sldId id="530" r:id="rId40"/>
    <p:sldId id="534" r:id="rId41"/>
    <p:sldId id="532" r:id="rId42"/>
    <p:sldId id="533" r:id="rId43"/>
    <p:sldId id="538" r:id="rId44"/>
    <p:sldId id="539" r:id="rId45"/>
    <p:sldId id="421" r:id="rId46"/>
    <p:sldId id="440" r:id="rId47"/>
    <p:sldId id="498" r:id="rId48"/>
    <p:sldId id="562" r:id="rId49"/>
    <p:sldId id="563" r:id="rId50"/>
    <p:sldId id="564" r:id="rId51"/>
    <p:sldId id="565" r:id="rId52"/>
    <p:sldId id="566" r:id="rId53"/>
    <p:sldId id="567" r:id="rId54"/>
    <p:sldId id="510" r:id="rId55"/>
    <p:sldId id="511" r:id="rId56"/>
    <p:sldId id="512" r:id="rId57"/>
    <p:sldId id="441" r:id="rId58"/>
    <p:sldId id="550" r:id="rId59"/>
    <p:sldId id="442" r:id="rId60"/>
    <p:sldId id="526" r:id="rId61"/>
    <p:sldId id="516" r:id="rId62"/>
    <p:sldId id="519" r:id="rId63"/>
    <p:sldId id="522" r:id="rId64"/>
    <p:sldId id="523" r:id="rId65"/>
    <p:sldId id="524" r:id="rId66"/>
    <p:sldId id="521" r:id="rId67"/>
    <p:sldId id="551" r:id="rId68"/>
    <p:sldId id="552" r:id="rId69"/>
    <p:sldId id="568" r:id="rId70"/>
    <p:sldId id="569" r:id="rId71"/>
    <p:sldId id="553" r:id="rId7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87E0A"/>
    <a:srgbClr val="E76254"/>
    <a:srgbClr val="F4B5AE"/>
    <a:srgbClr val="B33F62"/>
    <a:srgbClr val="01A08A"/>
    <a:srgbClr val="F7AA58"/>
    <a:srgbClr val="F69B36"/>
    <a:srgbClr val="060B28"/>
    <a:srgbClr val="121634"/>
    <a:srgbClr val="86868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9" d="100"/>
          <a:sy n="79" d="100"/>
        </p:scale>
        <p:origin x="821" y="72"/>
      </p:cViewPr>
      <p:guideLst/>
    </p:cSldViewPr>
  </p:slideViewPr>
  <p:notesTextViewPr>
    <p:cViewPr>
      <p:scale>
        <a:sx n="1" d="1"/>
        <a:sy n="1" d="1"/>
      </p:scale>
      <p:origin x="0" y="0"/>
    </p:cViewPr>
  </p:notesTextViewPr>
  <p:sorterViewPr>
    <p:cViewPr>
      <p:scale>
        <a:sx n="100" d="100"/>
        <a:sy n="100" d="100"/>
      </p:scale>
      <p:origin x="0" y="-11096"/>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3F3E4C-7C94-4BF3-897F-69B76BF34905}" type="datetimeFigureOut">
              <a:rPr lang="en-GB" smtClean="0"/>
              <a:t>27/04/2026</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859D84-7AD2-4F35-9177-9966E85B1D52}" type="slidenum">
              <a:rPr lang="en-GB" smtClean="0"/>
              <a:t>‹#›</a:t>
            </a:fld>
            <a:endParaRPr lang="en-GB" dirty="0"/>
          </a:p>
        </p:txBody>
      </p:sp>
    </p:spTree>
    <p:extLst>
      <p:ext uri="{BB962C8B-B14F-4D97-AF65-F5344CB8AC3E}">
        <p14:creationId xmlns:p14="http://schemas.microsoft.com/office/powerpoint/2010/main" val="33172415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rgbClr val="0070C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699D11-05BD-92B2-BEAC-72491257331F}"/>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endParaRPr lang="en-GB" dirty="0"/>
          </a:p>
        </p:txBody>
      </p:sp>
      <p:sp>
        <p:nvSpPr>
          <p:cNvPr id="3" name="Subtitle 2">
            <a:extLst>
              <a:ext uri="{FF2B5EF4-FFF2-40B4-BE49-F238E27FC236}">
                <a16:creationId xmlns:a16="http://schemas.microsoft.com/office/drawing/2014/main" id="{19AF8DC6-ABE1-D783-93A6-EC8013C3B3B2}"/>
              </a:ext>
            </a:extLst>
          </p:cNvPr>
          <p:cNvSpPr>
            <a:spLocks noGrp="1"/>
          </p:cNvSpPr>
          <p:nvPr>
            <p:ph type="subTitle" idx="1"/>
          </p:nvPr>
        </p:nvSpPr>
        <p:spPr>
          <a:xfrm>
            <a:off x="1601822" y="4887337"/>
            <a:ext cx="9144000" cy="1655762"/>
          </a:xfrm>
        </p:spPr>
        <p:txBody>
          <a:bodyPr>
            <a:normAutofit/>
          </a:bodyPr>
          <a:lstStyle>
            <a:lvl1pPr marL="0" indent="0" algn="ctr">
              <a:buNone/>
              <a:defRPr sz="2800">
                <a:solidFill>
                  <a:schemeClr val="bg1"/>
                </a:solidFill>
                <a:latin typeface="Franklin Gothic Demi" panose="020B07030201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spTree>
    <p:extLst>
      <p:ext uri="{BB962C8B-B14F-4D97-AF65-F5344CB8AC3E}">
        <p14:creationId xmlns:p14="http://schemas.microsoft.com/office/powerpoint/2010/main" val="34589453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46CF2-3EBA-681F-12E2-047B13DC50D3}"/>
              </a:ext>
            </a:extLst>
          </p:cNvPr>
          <p:cNvSpPr>
            <a:spLocks noGrp="1"/>
          </p:cNvSpPr>
          <p:nvPr>
            <p:ph type="title"/>
          </p:nvPr>
        </p:nvSpPr>
        <p:spPr/>
        <p:txBody>
          <a:body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55AF9307-5FB6-6290-DF8F-926071B8493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Footer Placeholder 3">
            <a:extLst>
              <a:ext uri="{FF2B5EF4-FFF2-40B4-BE49-F238E27FC236}">
                <a16:creationId xmlns:a16="http://schemas.microsoft.com/office/drawing/2014/main" id="{DB4A59CA-8A2F-AD9B-5DDF-633218821F88}"/>
              </a:ext>
            </a:extLst>
          </p:cNvPr>
          <p:cNvSpPr>
            <a:spLocks noGrp="1"/>
          </p:cNvSpPr>
          <p:nvPr>
            <p:ph type="ftr" sz="quarter" idx="11"/>
          </p:nvPr>
        </p:nvSpPr>
        <p:spPr>
          <a:xfrm>
            <a:off x="252918" y="6363474"/>
            <a:ext cx="3861881" cy="365125"/>
          </a:xfrm>
          <a:prstGeom prst="rect">
            <a:avLst/>
          </a:prstGeom>
        </p:spPr>
        <p:txBody>
          <a:bodyPr/>
          <a:lstStyle>
            <a:lvl1pPr algn="l">
              <a:defRPr/>
            </a:lvl1pPr>
          </a:lstStyle>
          <a:p>
            <a:endParaRPr lang="en-GB" dirty="0"/>
          </a:p>
        </p:txBody>
      </p:sp>
      <p:sp>
        <p:nvSpPr>
          <p:cNvPr id="8" name="Slide Number Placeholder 4">
            <a:extLst>
              <a:ext uri="{FF2B5EF4-FFF2-40B4-BE49-F238E27FC236}">
                <a16:creationId xmlns:a16="http://schemas.microsoft.com/office/drawing/2014/main" id="{A87A51AF-A455-2D0A-339C-664F8D854363}"/>
              </a:ext>
            </a:extLst>
          </p:cNvPr>
          <p:cNvSpPr>
            <a:spLocks noGrp="1"/>
          </p:cNvSpPr>
          <p:nvPr>
            <p:ph type="sldNum" sz="quarter" idx="12"/>
          </p:nvPr>
        </p:nvSpPr>
        <p:spPr>
          <a:xfrm>
            <a:off x="9291536" y="6363474"/>
            <a:ext cx="2576209" cy="365125"/>
          </a:xfrm>
          <a:prstGeom prst="rect">
            <a:avLst/>
          </a:prstGeom>
        </p:spPr>
        <p:txBody>
          <a:bodyPr/>
          <a:lstStyle/>
          <a:p>
            <a:fld id="{372769DB-CAE7-4C85-A9AF-7D4D8DE4CA22}" type="slidenum">
              <a:rPr lang="en-GB" smtClean="0"/>
              <a:t>‹#›</a:t>
            </a:fld>
            <a:endParaRPr lang="en-GB" dirty="0"/>
          </a:p>
        </p:txBody>
      </p:sp>
    </p:spTree>
    <p:extLst>
      <p:ext uri="{BB962C8B-B14F-4D97-AF65-F5344CB8AC3E}">
        <p14:creationId xmlns:p14="http://schemas.microsoft.com/office/powerpoint/2010/main" val="36875877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C98B581-4BB0-C834-81E4-E83B8806A139}"/>
              </a:ext>
            </a:extLst>
          </p:cNvPr>
          <p:cNvSpPr/>
          <p:nvPr userDrawn="1"/>
        </p:nvSpPr>
        <p:spPr>
          <a:xfrm>
            <a:off x="0" y="0"/>
            <a:ext cx="12192000" cy="6857999"/>
          </a:xfrm>
          <a:prstGeom prst="rect">
            <a:avLst/>
          </a:prstGeom>
          <a:solidFill>
            <a:srgbClr val="E7625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25887F5E-5F3C-BBF6-59D2-5719676BDADB}"/>
              </a:ext>
            </a:extLst>
          </p:cNvPr>
          <p:cNvSpPr>
            <a:spLocks noGrp="1"/>
          </p:cNvSpPr>
          <p:nvPr>
            <p:ph type="title"/>
          </p:nvPr>
        </p:nvSpPr>
        <p:spPr>
          <a:xfrm>
            <a:off x="1050587" y="1692613"/>
            <a:ext cx="9893031" cy="2626469"/>
          </a:xfrm>
        </p:spPr>
        <p:txBody>
          <a:bodyPr anchor="b">
            <a:normAutofit/>
          </a:bodyPr>
          <a:lstStyle>
            <a:lvl1pPr algn="ctr">
              <a:defRPr sz="6600"/>
            </a:lvl1pPr>
          </a:lstStyle>
          <a:p>
            <a:r>
              <a:rPr lang="en-US" dirty="0"/>
              <a:t>Click to edit Master title style</a:t>
            </a:r>
            <a:endParaRPr lang="en-GB" dirty="0"/>
          </a:p>
        </p:txBody>
      </p:sp>
    </p:spTree>
    <p:extLst>
      <p:ext uri="{BB962C8B-B14F-4D97-AF65-F5344CB8AC3E}">
        <p14:creationId xmlns:p14="http://schemas.microsoft.com/office/powerpoint/2010/main" val="38161175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339CC17-3D2F-D715-FA5A-BB4C8CAD318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75CAE4E8-6CDF-2FD9-BF6F-EF2C59AB9E7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Footer Placeholder 3">
            <a:extLst>
              <a:ext uri="{FF2B5EF4-FFF2-40B4-BE49-F238E27FC236}">
                <a16:creationId xmlns:a16="http://schemas.microsoft.com/office/drawing/2014/main" id="{9E2D8FD2-D909-4FAE-DA6B-D318B8A2CC9F}"/>
              </a:ext>
            </a:extLst>
          </p:cNvPr>
          <p:cNvSpPr>
            <a:spLocks noGrp="1"/>
          </p:cNvSpPr>
          <p:nvPr>
            <p:ph type="ftr" sz="quarter" idx="11"/>
          </p:nvPr>
        </p:nvSpPr>
        <p:spPr>
          <a:xfrm>
            <a:off x="252918" y="6363474"/>
            <a:ext cx="3861881" cy="365125"/>
          </a:xfrm>
          <a:prstGeom prst="rect">
            <a:avLst/>
          </a:prstGeom>
        </p:spPr>
        <p:txBody>
          <a:bodyPr/>
          <a:lstStyle>
            <a:lvl1pPr algn="l">
              <a:defRPr/>
            </a:lvl1pPr>
          </a:lstStyle>
          <a:p>
            <a:endParaRPr lang="en-GB" dirty="0"/>
          </a:p>
        </p:txBody>
      </p:sp>
      <p:sp>
        <p:nvSpPr>
          <p:cNvPr id="9" name="Slide Number Placeholder 4">
            <a:extLst>
              <a:ext uri="{FF2B5EF4-FFF2-40B4-BE49-F238E27FC236}">
                <a16:creationId xmlns:a16="http://schemas.microsoft.com/office/drawing/2014/main" id="{9ADC7A76-56B7-AEBA-F17D-ECA744CB75E8}"/>
              </a:ext>
            </a:extLst>
          </p:cNvPr>
          <p:cNvSpPr>
            <a:spLocks noGrp="1"/>
          </p:cNvSpPr>
          <p:nvPr>
            <p:ph type="sldNum" sz="quarter" idx="12"/>
          </p:nvPr>
        </p:nvSpPr>
        <p:spPr>
          <a:xfrm>
            <a:off x="9291536" y="6363474"/>
            <a:ext cx="2576209" cy="365125"/>
          </a:xfrm>
          <a:prstGeom prst="rect">
            <a:avLst/>
          </a:prstGeom>
        </p:spPr>
        <p:txBody>
          <a:bodyPr/>
          <a:lstStyle/>
          <a:p>
            <a:fld id="{372769DB-CAE7-4C85-A9AF-7D4D8DE4CA22}" type="slidenum">
              <a:rPr lang="en-GB" smtClean="0"/>
              <a:t>‹#›</a:t>
            </a:fld>
            <a:endParaRPr lang="en-GB" dirty="0"/>
          </a:p>
        </p:txBody>
      </p:sp>
      <p:sp>
        <p:nvSpPr>
          <p:cNvPr id="5" name="Title 1">
            <a:extLst>
              <a:ext uri="{FF2B5EF4-FFF2-40B4-BE49-F238E27FC236}">
                <a16:creationId xmlns:a16="http://schemas.microsoft.com/office/drawing/2014/main" id="{82C09436-7DF7-BDE9-CF95-052421BA3555}"/>
              </a:ext>
            </a:extLst>
          </p:cNvPr>
          <p:cNvSpPr>
            <a:spLocks noGrp="1"/>
          </p:cNvSpPr>
          <p:nvPr>
            <p:ph type="title"/>
          </p:nvPr>
        </p:nvSpPr>
        <p:spPr>
          <a:xfrm>
            <a:off x="540571" y="193761"/>
            <a:ext cx="11110858" cy="914400"/>
          </a:xfrm>
        </p:spPr>
        <p:txBody>
          <a:bodyPr anchor="b">
            <a:noAutofit/>
          </a:bodyPr>
          <a:lstStyle>
            <a:lvl1pPr>
              <a:defRPr sz="6000"/>
            </a:lvl1pPr>
          </a:lstStyle>
          <a:p>
            <a:r>
              <a:rPr lang="en-US" dirty="0"/>
              <a:t>Click to edit Master title style</a:t>
            </a:r>
            <a:endParaRPr lang="en-GB" dirty="0"/>
          </a:p>
        </p:txBody>
      </p:sp>
    </p:spTree>
    <p:extLst>
      <p:ext uri="{BB962C8B-B14F-4D97-AF65-F5344CB8AC3E}">
        <p14:creationId xmlns:p14="http://schemas.microsoft.com/office/powerpoint/2010/main" val="13843179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7652BF6-ACFD-6764-A841-65A0CB3E20CE}"/>
              </a:ext>
            </a:extLst>
          </p:cNvPr>
          <p:cNvSpPr>
            <a:spLocks noGrp="1"/>
          </p:cNvSpPr>
          <p:nvPr>
            <p:ph type="body" idx="1"/>
          </p:nvPr>
        </p:nvSpPr>
        <p:spPr>
          <a:xfrm>
            <a:off x="839788" y="1681163"/>
            <a:ext cx="5157787" cy="823912"/>
          </a:xfrm>
        </p:spPr>
        <p:txBody>
          <a:bodyPr anchor="b">
            <a:noAutofit/>
          </a:bodyPr>
          <a:lstStyle>
            <a:lvl1pPr marL="0" indent="0">
              <a:buNone/>
              <a:defRPr sz="3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912B3D76-2A5A-300F-8F0E-8830F95DFC1D}"/>
              </a:ext>
            </a:extLst>
          </p:cNvPr>
          <p:cNvSpPr>
            <a:spLocks noGrp="1"/>
          </p:cNvSpPr>
          <p:nvPr>
            <p:ph sz="half" idx="2"/>
          </p:nvPr>
        </p:nvSpPr>
        <p:spPr>
          <a:xfrm>
            <a:off x="839788" y="2505075"/>
            <a:ext cx="5157787" cy="3684588"/>
          </a:xfrm>
        </p:spPr>
        <p:txBody>
          <a:bodyPr/>
          <a:lstStyle>
            <a:lvl1pPr>
              <a:defRPr sz="320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Text Placeholder 4">
            <a:extLst>
              <a:ext uri="{FF2B5EF4-FFF2-40B4-BE49-F238E27FC236}">
                <a16:creationId xmlns:a16="http://schemas.microsoft.com/office/drawing/2014/main" id="{1FB145A9-A05F-C1CB-E5C0-02A3BFF9A85B}"/>
              </a:ext>
            </a:extLst>
          </p:cNvPr>
          <p:cNvSpPr>
            <a:spLocks noGrp="1"/>
          </p:cNvSpPr>
          <p:nvPr>
            <p:ph type="body" sz="quarter" idx="3"/>
          </p:nvPr>
        </p:nvSpPr>
        <p:spPr>
          <a:xfrm>
            <a:off x="6172200" y="1681163"/>
            <a:ext cx="5183188" cy="823912"/>
          </a:xfrm>
        </p:spPr>
        <p:txBody>
          <a:bodyPr anchor="b">
            <a:noAutofit/>
          </a:bodyPr>
          <a:lstStyle>
            <a:lvl1pPr marL="0" indent="0">
              <a:buNone/>
              <a:defRPr sz="3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25D071D9-E642-31AA-AE3F-69DEF1758E16}"/>
              </a:ext>
            </a:extLst>
          </p:cNvPr>
          <p:cNvSpPr>
            <a:spLocks noGrp="1"/>
          </p:cNvSpPr>
          <p:nvPr>
            <p:ph sz="quarter" idx="4"/>
          </p:nvPr>
        </p:nvSpPr>
        <p:spPr>
          <a:xfrm>
            <a:off x="6172200" y="2505075"/>
            <a:ext cx="5183188" cy="3684588"/>
          </a:xfrm>
        </p:spPr>
        <p:txBody>
          <a:bodyPr>
            <a:normAutofit/>
          </a:bodyPr>
          <a:lstStyle>
            <a:lvl1pPr>
              <a:defRPr sz="3200"/>
            </a:lvl1pPr>
            <a:lvl2pPr>
              <a:defRPr sz="3200"/>
            </a:lvl2pPr>
            <a:lvl3pPr>
              <a:defRPr sz="3200"/>
            </a:lvl3pPr>
            <a:lvl4pPr>
              <a:defRPr sz="3200"/>
            </a:lvl4pPr>
            <a:lvl5pPr>
              <a:defRPr sz="3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0" name="Footer Placeholder 3">
            <a:extLst>
              <a:ext uri="{FF2B5EF4-FFF2-40B4-BE49-F238E27FC236}">
                <a16:creationId xmlns:a16="http://schemas.microsoft.com/office/drawing/2014/main" id="{5ABF6DF7-3183-A9DF-C891-522AE460E439}"/>
              </a:ext>
            </a:extLst>
          </p:cNvPr>
          <p:cNvSpPr>
            <a:spLocks noGrp="1"/>
          </p:cNvSpPr>
          <p:nvPr>
            <p:ph type="ftr" sz="quarter" idx="11"/>
          </p:nvPr>
        </p:nvSpPr>
        <p:spPr>
          <a:xfrm>
            <a:off x="252918" y="6363474"/>
            <a:ext cx="3861881" cy="365125"/>
          </a:xfrm>
          <a:prstGeom prst="rect">
            <a:avLst/>
          </a:prstGeom>
        </p:spPr>
        <p:txBody>
          <a:bodyPr/>
          <a:lstStyle>
            <a:lvl1pPr algn="l">
              <a:defRPr/>
            </a:lvl1pPr>
          </a:lstStyle>
          <a:p>
            <a:endParaRPr lang="en-GB" dirty="0"/>
          </a:p>
        </p:txBody>
      </p:sp>
      <p:sp>
        <p:nvSpPr>
          <p:cNvPr id="11" name="Slide Number Placeholder 4">
            <a:extLst>
              <a:ext uri="{FF2B5EF4-FFF2-40B4-BE49-F238E27FC236}">
                <a16:creationId xmlns:a16="http://schemas.microsoft.com/office/drawing/2014/main" id="{9B3DE170-4110-D1C3-D06E-5D7D884C6C57}"/>
              </a:ext>
            </a:extLst>
          </p:cNvPr>
          <p:cNvSpPr>
            <a:spLocks noGrp="1"/>
          </p:cNvSpPr>
          <p:nvPr>
            <p:ph type="sldNum" sz="quarter" idx="12"/>
          </p:nvPr>
        </p:nvSpPr>
        <p:spPr>
          <a:xfrm>
            <a:off x="9291536" y="6363474"/>
            <a:ext cx="2576209" cy="365125"/>
          </a:xfrm>
          <a:prstGeom prst="rect">
            <a:avLst/>
          </a:prstGeom>
        </p:spPr>
        <p:txBody>
          <a:bodyPr/>
          <a:lstStyle/>
          <a:p>
            <a:fld id="{372769DB-CAE7-4C85-A9AF-7D4D8DE4CA22}" type="slidenum">
              <a:rPr lang="en-GB" smtClean="0"/>
              <a:t>‹#›</a:t>
            </a:fld>
            <a:endParaRPr lang="en-GB" dirty="0"/>
          </a:p>
        </p:txBody>
      </p:sp>
      <p:sp>
        <p:nvSpPr>
          <p:cNvPr id="7" name="Title 1">
            <a:extLst>
              <a:ext uri="{FF2B5EF4-FFF2-40B4-BE49-F238E27FC236}">
                <a16:creationId xmlns:a16="http://schemas.microsoft.com/office/drawing/2014/main" id="{22E5BA71-C08F-1D0F-0F81-B9192A0C0D28}"/>
              </a:ext>
            </a:extLst>
          </p:cNvPr>
          <p:cNvSpPr>
            <a:spLocks noGrp="1"/>
          </p:cNvSpPr>
          <p:nvPr>
            <p:ph type="title"/>
          </p:nvPr>
        </p:nvSpPr>
        <p:spPr>
          <a:xfrm>
            <a:off x="540571" y="193761"/>
            <a:ext cx="11110858" cy="914400"/>
          </a:xfrm>
        </p:spPr>
        <p:txBody>
          <a:bodyPr anchor="b">
            <a:noAutofit/>
          </a:bodyPr>
          <a:lstStyle>
            <a:lvl1pPr>
              <a:defRPr sz="6000"/>
            </a:lvl1pPr>
          </a:lstStyle>
          <a:p>
            <a:r>
              <a:rPr lang="en-US" dirty="0"/>
              <a:t>Click to edit Master title style</a:t>
            </a:r>
            <a:endParaRPr lang="en-GB" dirty="0"/>
          </a:p>
        </p:txBody>
      </p:sp>
    </p:spTree>
    <p:extLst>
      <p:ext uri="{BB962C8B-B14F-4D97-AF65-F5344CB8AC3E}">
        <p14:creationId xmlns:p14="http://schemas.microsoft.com/office/powerpoint/2010/main" val="4367174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59C097-32A5-A687-E53B-70511CAF290F}"/>
              </a:ext>
            </a:extLst>
          </p:cNvPr>
          <p:cNvSpPr>
            <a:spLocks noGrp="1"/>
          </p:cNvSpPr>
          <p:nvPr>
            <p:ph type="ftr" sz="quarter" idx="11"/>
          </p:nvPr>
        </p:nvSpPr>
        <p:spPr>
          <a:xfrm>
            <a:off x="252918" y="6363474"/>
            <a:ext cx="3861881" cy="365125"/>
          </a:xfrm>
          <a:prstGeom prst="rect">
            <a:avLst/>
          </a:prstGeom>
        </p:spPr>
        <p:txBody>
          <a:bodyPr/>
          <a:lstStyle>
            <a:lvl1pPr algn="l">
              <a:defRPr/>
            </a:lvl1pPr>
          </a:lstStyle>
          <a:p>
            <a:endParaRPr lang="en-GB" dirty="0"/>
          </a:p>
        </p:txBody>
      </p:sp>
      <p:sp>
        <p:nvSpPr>
          <p:cNvPr id="5" name="Slide Number Placeholder 4">
            <a:extLst>
              <a:ext uri="{FF2B5EF4-FFF2-40B4-BE49-F238E27FC236}">
                <a16:creationId xmlns:a16="http://schemas.microsoft.com/office/drawing/2014/main" id="{5F39E005-ECD2-D8B0-F2A6-7FF12C769CCB}"/>
              </a:ext>
            </a:extLst>
          </p:cNvPr>
          <p:cNvSpPr>
            <a:spLocks noGrp="1"/>
          </p:cNvSpPr>
          <p:nvPr>
            <p:ph type="sldNum" sz="quarter" idx="12"/>
          </p:nvPr>
        </p:nvSpPr>
        <p:spPr>
          <a:xfrm>
            <a:off x="9291536" y="6363474"/>
            <a:ext cx="2576209" cy="365125"/>
          </a:xfrm>
          <a:prstGeom prst="rect">
            <a:avLst/>
          </a:prstGeom>
        </p:spPr>
        <p:txBody>
          <a:bodyPr/>
          <a:lstStyle/>
          <a:p>
            <a:fld id="{372769DB-CAE7-4C85-A9AF-7D4D8DE4CA22}" type="slidenum">
              <a:rPr lang="en-GB" smtClean="0"/>
              <a:t>‹#›</a:t>
            </a:fld>
            <a:endParaRPr lang="en-GB" dirty="0"/>
          </a:p>
        </p:txBody>
      </p:sp>
      <p:sp>
        <p:nvSpPr>
          <p:cNvPr id="3" name="Title 1">
            <a:extLst>
              <a:ext uri="{FF2B5EF4-FFF2-40B4-BE49-F238E27FC236}">
                <a16:creationId xmlns:a16="http://schemas.microsoft.com/office/drawing/2014/main" id="{F92392D4-0138-ECBD-532E-276BBF1ADD4F}"/>
              </a:ext>
            </a:extLst>
          </p:cNvPr>
          <p:cNvSpPr>
            <a:spLocks noGrp="1"/>
          </p:cNvSpPr>
          <p:nvPr>
            <p:ph type="title"/>
          </p:nvPr>
        </p:nvSpPr>
        <p:spPr>
          <a:xfrm>
            <a:off x="540571" y="193761"/>
            <a:ext cx="11110858" cy="914400"/>
          </a:xfrm>
        </p:spPr>
        <p:txBody>
          <a:bodyPr anchor="b">
            <a:noAutofit/>
          </a:bodyPr>
          <a:lstStyle>
            <a:lvl1pPr>
              <a:defRPr sz="6000"/>
            </a:lvl1pPr>
          </a:lstStyle>
          <a:p>
            <a:r>
              <a:rPr lang="en-US" dirty="0"/>
              <a:t>Click to edit Master title style</a:t>
            </a:r>
            <a:endParaRPr lang="en-GB" dirty="0"/>
          </a:p>
        </p:txBody>
      </p:sp>
    </p:spTree>
    <p:extLst>
      <p:ext uri="{BB962C8B-B14F-4D97-AF65-F5344CB8AC3E}">
        <p14:creationId xmlns:p14="http://schemas.microsoft.com/office/powerpoint/2010/main" val="34811535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E12EB5B-91EF-4908-4A2A-172B36FE1DF3}"/>
              </a:ext>
            </a:extLst>
          </p:cNvPr>
          <p:cNvSpPr/>
          <p:nvPr userDrawn="1"/>
        </p:nvSpPr>
        <p:spPr>
          <a:xfrm>
            <a:off x="0" y="0"/>
            <a:ext cx="12192000" cy="685799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Slide Number Placeholder 3">
            <a:extLst>
              <a:ext uri="{FF2B5EF4-FFF2-40B4-BE49-F238E27FC236}">
                <a16:creationId xmlns:a16="http://schemas.microsoft.com/office/drawing/2014/main" id="{8B6E87AB-CAA0-4BDE-E584-6A2A21EB30BE}"/>
              </a:ext>
            </a:extLst>
          </p:cNvPr>
          <p:cNvSpPr>
            <a:spLocks noGrp="1"/>
          </p:cNvSpPr>
          <p:nvPr>
            <p:ph type="sldNum" sz="quarter" idx="12"/>
          </p:nvPr>
        </p:nvSpPr>
        <p:spPr>
          <a:xfrm>
            <a:off x="9028889" y="6356349"/>
            <a:ext cx="2743200" cy="365125"/>
          </a:xfrm>
          <a:prstGeom prst="rect">
            <a:avLst/>
          </a:prstGeom>
        </p:spPr>
        <p:txBody>
          <a:bodyPr/>
          <a:lstStyle/>
          <a:p>
            <a:fld id="{372769DB-CAE7-4C85-A9AF-7D4D8DE4CA22}" type="slidenum">
              <a:rPr lang="en-GB" smtClean="0"/>
              <a:t>‹#›</a:t>
            </a:fld>
            <a:endParaRPr lang="en-GB" dirty="0"/>
          </a:p>
        </p:txBody>
      </p:sp>
    </p:spTree>
    <p:extLst>
      <p:ext uri="{BB962C8B-B14F-4D97-AF65-F5344CB8AC3E}">
        <p14:creationId xmlns:p14="http://schemas.microsoft.com/office/powerpoint/2010/main" val="1939715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B3A148E-F221-49F5-8FAD-8F9979F79DB1}"/>
              </a:ext>
            </a:extLst>
          </p:cNvPr>
          <p:cNvSpPr>
            <a:spLocks noGrp="1"/>
          </p:cNvSpPr>
          <p:nvPr>
            <p:ph idx="1"/>
          </p:nvPr>
        </p:nvSpPr>
        <p:spPr>
          <a:xfrm>
            <a:off x="5000017" y="1489848"/>
            <a:ext cx="6491558" cy="4873625"/>
          </a:xfrm>
        </p:spPr>
        <p:txBody>
          <a:bodyPr>
            <a:normAutofit/>
          </a:bodyPr>
          <a:lstStyle>
            <a:lvl1pPr>
              <a:defRPr sz="3200"/>
            </a:lvl1pPr>
            <a:lvl2pPr>
              <a:defRPr sz="3200"/>
            </a:lvl2pPr>
            <a:lvl3pPr>
              <a:defRPr sz="3200"/>
            </a:lvl3pPr>
            <a:lvl4pPr>
              <a:defRPr sz="3200"/>
            </a:lvl4pPr>
            <a:lvl5pPr>
              <a:defRPr sz="32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Text Placeholder 3">
            <a:extLst>
              <a:ext uri="{FF2B5EF4-FFF2-40B4-BE49-F238E27FC236}">
                <a16:creationId xmlns:a16="http://schemas.microsoft.com/office/drawing/2014/main" id="{EBFCA531-6799-0A7D-BB52-DE792E83A6A2}"/>
              </a:ext>
            </a:extLst>
          </p:cNvPr>
          <p:cNvSpPr>
            <a:spLocks noGrp="1"/>
          </p:cNvSpPr>
          <p:nvPr>
            <p:ph type="body" sz="half" idx="2"/>
          </p:nvPr>
        </p:nvSpPr>
        <p:spPr>
          <a:xfrm>
            <a:off x="839788" y="2057400"/>
            <a:ext cx="3932237" cy="3811588"/>
          </a:xfrm>
        </p:spPr>
        <p:txBody>
          <a:bodyPr>
            <a:normAutofit/>
          </a:bodyPr>
          <a:lstStyle>
            <a:lvl1pPr marL="0" indent="0">
              <a:buNone/>
              <a:defRPr sz="2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6" name="Footer Placeholder 5">
            <a:extLst>
              <a:ext uri="{FF2B5EF4-FFF2-40B4-BE49-F238E27FC236}">
                <a16:creationId xmlns:a16="http://schemas.microsoft.com/office/drawing/2014/main" id="{855C95B6-27F8-3A53-C994-DD92E5F860BD}"/>
              </a:ext>
            </a:extLst>
          </p:cNvPr>
          <p:cNvSpPr>
            <a:spLocks noGrp="1"/>
          </p:cNvSpPr>
          <p:nvPr>
            <p:ph type="ftr" sz="quarter" idx="11"/>
          </p:nvPr>
        </p:nvSpPr>
        <p:spPr>
          <a:xfrm>
            <a:off x="0" y="6363474"/>
            <a:ext cx="4114800" cy="365125"/>
          </a:xfrm>
          <a:prstGeom prst="rect">
            <a:avLst/>
          </a:prstGeom>
        </p:spPr>
        <p:txBody>
          <a:bodyPr/>
          <a:lstStyle/>
          <a:p>
            <a:endParaRPr lang="en-GB" dirty="0"/>
          </a:p>
        </p:txBody>
      </p:sp>
      <p:sp>
        <p:nvSpPr>
          <p:cNvPr id="7" name="Slide Number Placeholder 6">
            <a:extLst>
              <a:ext uri="{FF2B5EF4-FFF2-40B4-BE49-F238E27FC236}">
                <a16:creationId xmlns:a16="http://schemas.microsoft.com/office/drawing/2014/main" id="{02493E98-5D4C-EB9B-5697-C0ED4B9F262C}"/>
              </a:ext>
            </a:extLst>
          </p:cNvPr>
          <p:cNvSpPr>
            <a:spLocks noGrp="1"/>
          </p:cNvSpPr>
          <p:nvPr>
            <p:ph type="sldNum" sz="quarter" idx="12"/>
          </p:nvPr>
        </p:nvSpPr>
        <p:spPr>
          <a:xfrm>
            <a:off x="9291536" y="6363474"/>
            <a:ext cx="2743200" cy="365125"/>
          </a:xfrm>
          <a:prstGeom prst="rect">
            <a:avLst/>
          </a:prstGeom>
        </p:spPr>
        <p:txBody>
          <a:bodyPr/>
          <a:lstStyle/>
          <a:p>
            <a:fld id="{372769DB-CAE7-4C85-A9AF-7D4D8DE4CA22}" type="slidenum">
              <a:rPr lang="en-GB" smtClean="0"/>
              <a:t>‹#›</a:t>
            </a:fld>
            <a:endParaRPr lang="en-GB" dirty="0"/>
          </a:p>
        </p:txBody>
      </p:sp>
      <p:sp>
        <p:nvSpPr>
          <p:cNvPr id="5" name="Title 1">
            <a:extLst>
              <a:ext uri="{FF2B5EF4-FFF2-40B4-BE49-F238E27FC236}">
                <a16:creationId xmlns:a16="http://schemas.microsoft.com/office/drawing/2014/main" id="{ACC033A0-C9EA-ED54-3B72-4192C4F04538}"/>
              </a:ext>
            </a:extLst>
          </p:cNvPr>
          <p:cNvSpPr>
            <a:spLocks noGrp="1"/>
          </p:cNvSpPr>
          <p:nvPr>
            <p:ph type="title"/>
          </p:nvPr>
        </p:nvSpPr>
        <p:spPr>
          <a:xfrm>
            <a:off x="540571" y="193761"/>
            <a:ext cx="11110858" cy="914400"/>
          </a:xfrm>
        </p:spPr>
        <p:txBody>
          <a:bodyPr anchor="b">
            <a:noAutofit/>
          </a:bodyPr>
          <a:lstStyle>
            <a:lvl1pPr>
              <a:defRPr sz="6000"/>
            </a:lvl1pPr>
          </a:lstStyle>
          <a:p>
            <a:r>
              <a:rPr lang="en-US" dirty="0"/>
              <a:t>Click to edit Master title style</a:t>
            </a:r>
            <a:endParaRPr lang="en-GB" dirty="0"/>
          </a:p>
        </p:txBody>
      </p:sp>
    </p:spTree>
    <p:extLst>
      <p:ext uri="{BB962C8B-B14F-4D97-AF65-F5344CB8AC3E}">
        <p14:creationId xmlns:p14="http://schemas.microsoft.com/office/powerpoint/2010/main" val="6456938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FDEE3-635D-CB9C-9911-5F287B56C8B8}"/>
              </a:ext>
            </a:extLst>
          </p:cNvPr>
          <p:cNvSpPr>
            <a:spLocks noGrp="1"/>
          </p:cNvSpPr>
          <p:nvPr>
            <p:ph type="title"/>
          </p:nvPr>
        </p:nvSpPr>
        <p:spPr>
          <a:xfrm>
            <a:off x="540571" y="193761"/>
            <a:ext cx="11110858" cy="914400"/>
          </a:xfrm>
        </p:spPr>
        <p:txBody>
          <a:bodyPr anchor="b">
            <a:noAutofit/>
          </a:bodyPr>
          <a:lstStyle>
            <a:lvl1pPr>
              <a:defRPr sz="6000"/>
            </a:lvl1pPr>
          </a:lstStyle>
          <a:p>
            <a:r>
              <a:rPr lang="en-US" dirty="0"/>
              <a:t>Click to edit Master title style</a:t>
            </a:r>
            <a:endParaRPr lang="en-GB" dirty="0"/>
          </a:p>
        </p:txBody>
      </p:sp>
      <p:sp>
        <p:nvSpPr>
          <p:cNvPr id="3" name="Picture Placeholder 2">
            <a:extLst>
              <a:ext uri="{FF2B5EF4-FFF2-40B4-BE49-F238E27FC236}">
                <a16:creationId xmlns:a16="http://schemas.microsoft.com/office/drawing/2014/main" id="{287404D5-B2D3-F6C7-A964-A19846114627}"/>
              </a:ext>
            </a:extLst>
          </p:cNvPr>
          <p:cNvSpPr>
            <a:spLocks noGrp="1"/>
          </p:cNvSpPr>
          <p:nvPr>
            <p:ph type="pic" idx="1"/>
          </p:nvPr>
        </p:nvSpPr>
        <p:spPr>
          <a:xfrm>
            <a:off x="4309353" y="1352145"/>
            <a:ext cx="7402749" cy="500420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dirty="0"/>
          </a:p>
        </p:txBody>
      </p:sp>
      <p:sp>
        <p:nvSpPr>
          <p:cNvPr id="4" name="Text Placeholder 3">
            <a:extLst>
              <a:ext uri="{FF2B5EF4-FFF2-40B4-BE49-F238E27FC236}">
                <a16:creationId xmlns:a16="http://schemas.microsoft.com/office/drawing/2014/main" id="{BC72E5A9-E23F-5DEE-AF48-F3FF759A3395}"/>
              </a:ext>
            </a:extLst>
          </p:cNvPr>
          <p:cNvSpPr>
            <a:spLocks noGrp="1"/>
          </p:cNvSpPr>
          <p:nvPr>
            <p:ph type="body" sz="half" idx="2"/>
          </p:nvPr>
        </p:nvSpPr>
        <p:spPr>
          <a:xfrm>
            <a:off x="242887" y="1916349"/>
            <a:ext cx="3871913" cy="3959156"/>
          </a:xfrm>
        </p:spPr>
        <p:txBody>
          <a:bodyPr>
            <a:normAutofit/>
          </a:bodyPr>
          <a:lstStyle>
            <a:lvl1pPr marL="0" indent="0">
              <a:buNone/>
              <a:defRPr sz="2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6" name="Footer Placeholder 5">
            <a:extLst>
              <a:ext uri="{FF2B5EF4-FFF2-40B4-BE49-F238E27FC236}">
                <a16:creationId xmlns:a16="http://schemas.microsoft.com/office/drawing/2014/main" id="{0A564931-9660-71DE-C324-782959E138C0}"/>
              </a:ext>
            </a:extLst>
          </p:cNvPr>
          <p:cNvSpPr>
            <a:spLocks noGrp="1"/>
          </p:cNvSpPr>
          <p:nvPr>
            <p:ph type="ftr" sz="quarter" idx="11"/>
          </p:nvPr>
        </p:nvSpPr>
        <p:spPr>
          <a:xfrm>
            <a:off x="0" y="6363473"/>
            <a:ext cx="4114800" cy="365125"/>
          </a:xfrm>
          <a:prstGeom prst="rect">
            <a:avLst/>
          </a:prstGeom>
        </p:spPr>
        <p:txBody>
          <a:bodyPr/>
          <a:lstStyle/>
          <a:p>
            <a:endParaRPr lang="en-GB" dirty="0"/>
          </a:p>
        </p:txBody>
      </p:sp>
      <p:sp>
        <p:nvSpPr>
          <p:cNvPr id="7" name="Slide Number Placeholder 6">
            <a:extLst>
              <a:ext uri="{FF2B5EF4-FFF2-40B4-BE49-F238E27FC236}">
                <a16:creationId xmlns:a16="http://schemas.microsoft.com/office/drawing/2014/main" id="{0974101F-C579-3FA8-15A9-1156DC1C4485}"/>
              </a:ext>
            </a:extLst>
          </p:cNvPr>
          <p:cNvSpPr>
            <a:spLocks noGrp="1"/>
          </p:cNvSpPr>
          <p:nvPr>
            <p:ph type="sldNum" sz="quarter" idx="12"/>
          </p:nvPr>
        </p:nvSpPr>
        <p:spPr>
          <a:xfrm>
            <a:off x="9291536" y="6363474"/>
            <a:ext cx="2743200" cy="365125"/>
          </a:xfrm>
          <a:prstGeom prst="rect">
            <a:avLst/>
          </a:prstGeom>
        </p:spPr>
        <p:txBody>
          <a:bodyPr/>
          <a:lstStyle/>
          <a:p>
            <a:fld id="{372769DB-CAE7-4C85-A9AF-7D4D8DE4CA22}" type="slidenum">
              <a:rPr lang="en-GB" smtClean="0"/>
              <a:t>‹#›</a:t>
            </a:fld>
            <a:endParaRPr lang="en-GB" dirty="0"/>
          </a:p>
        </p:txBody>
      </p:sp>
    </p:spTree>
    <p:extLst>
      <p:ext uri="{BB962C8B-B14F-4D97-AF65-F5344CB8AC3E}">
        <p14:creationId xmlns:p14="http://schemas.microsoft.com/office/powerpoint/2010/main" val="25160259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022171F-7F37-458B-E310-C64CC24B9571}"/>
              </a:ext>
            </a:extLst>
          </p:cNvPr>
          <p:cNvSpPr/>
          <p:nvPr userDrawn="1"/>
        </p:nvSpPr>
        <p:spPr>
          <a:xfrm>
            <a:off x="0" y="0"/>
            <a:ext cx="12192000" cy="1154096"/>
          </a:xfrm>
          <a:prstGeom prst="rect">
            <a:avLst/>
          </a:prstGeom>
          <a:solidFill>
            <a:srgbClr val="F7A855"/>
          </a:solidFill>
          <a:ln>
            <a:solidFill>
              <a:srgbClr val="F7A85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0EB3B69C-5102-F7EC-ACA1-B357C88005B8}"/>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4367444F-E134-DF1E-A1B3-041F3CB38036}"/>
              </a:ext>
            </a:extLst>
          </p:cNvPr>
          <p:cNvSpPr>
            <a:spLocks noGrp="1"/>
          </p:cNvSpPr>
          <p:nvPr>
            <p:ph type="body" orient="vert" idx="1"/>
          </p:nvPr>
        </p:nvSpPr>
        <p:spPr>
          <a:xfrm>
            <a:off x="6461760" y="1825625"/>
            <a:ext cx="4892040" cy="43513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A3D3E8F7-DFA2-87D3-246E-6EDA78447C5E}"/>
              </a:ext>
            </a:extLst>
          </p:cNvPr>
          <p:cNvSpPr>
            <a:spLocks noGrp="1"/>
          </p:cNvSpPr>
          <p:nvPr>
            <p:ph type="ftr" sz="quarter" idx="11"/>
          </p:nvPr>
        </p:nvSpPr>
        <p:spPr>
          <a:xfrm>
            <a:off x="0" y="6363474"/>
            <a:ext cx="4114800" cy="365125"/>
          </a:xfrm>
          <a:prstGeom prst="rect">
            <a:avLst/>
          </a:prstGeom>
        </p:spPr>
        <p:txBody>
          <a:bodyPr/>
          <a:lstStyle/>
          <a:p>
            <a:endParaRPr lang="en-GB" dirty="0"/>
          </a:p>
        </p:txBody>
      </p:sp>
      <p:sp>
        <p:nvSpPr>
          <p:cNvPr id="6" name="Slide Number Placeholder 5">
            <a:extLst>
              <a:ext uri="{FF2B5EF4-FFF2-40B4-BE49-F238E27FC236}">
                <a16:creationId xmlns:a16="http://schemas.microsoft.com/office/drawing/2014/main" id="{0084D201-4FE7-45F0-EE4D-E77E00679242}"/>
              </a:ext>
            </a:extLst>
          </p:cNvPr>
          <p:cNvSpPr>
            <a:spLocks noGrp="1"/>
          </p:cNvSpPr>
          <p:nvPr>
            <p:ph type="sldNum" sz="quarter" idx="12"/>
          </p:nvPr>
        </p:nvSpPr>
        <p:spPr>
          <a:xfrm>
            <a:off x="9291536" y="6363474"/>
            <a:ext cx="2743200" cy="365125"/>
          </a:xfrm>
          <a:prstGeom prst="rect">
            <a:avLst/>
          </a:prstGeom>
        </p:spPr>
        <p:txBody>
          <a:bodyPr/>
          <a:lstStyle/>
          <a:p>
            <a:fld id="{372769DB-CAE7-4C85-A9AF-7D4D8DE4CA22}" type="slidenum">
              <a:rPr lang="en-GB" smtClean="0"/>
              <a:t>‹#›</a:t>
            </a:fld>
            <a:endParaRPr lang="en-GB" dirty="0"/>
          </a:p>
        </p:txBody>
      </p:sp>
      <p:sp>
        <p:nvSpPr>
          <p:cNvPr id="7" name="Rectangle 6">
            <a:extLst>
              <a:ext uri="{FF2B5EF4-FFF2-40B4-BE49-F238E27FC236}">
                <a16:creationId xmlns:a16="http://schemas.microsoft.com/office/drawing/2014/main" id="{588B5922-6DD0-09AE-40A9-EC242DC6857E}"/>
              </a:ext>
            </a:extLst>
          </p:cNvPr>
          <p:cNvSpPr/>
          <p:nvPr userDrawn="1"/>
        </p:nvSpPr>
        <p:spPr>
          <a:xfrm>
            <a:off x="2892797" y="2152258"/>
            <a:ext cx="553279" cy="503721"/>
          </a:xfrm>
          <a:prstGeom prst="rect">
            <a:avLst/>
          </a:prstGeom>
          <a:solidFill>
            <a:srgbClr val="F7A8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C14B5CBE-ECB8-D850-33FA-52C867A9611F}"/>
              </a:ext>
            </a:extLst>
          </p:cNvPr>
          <p:cNvSpPr/>
          <p:nvPr userDrawn="1"/>
        </p:nvSpPr>
        <p:spPr>
          <a:xfrm>
            <a:off x="2892799" y="2955421"/>
            <a:ext cx="553278" cy="503721"/>
          </a:xfrm>
          <a:prstGeom prst="rect">
            <a:avLst/>
          </a:prstGeom>
          <a:solidFill>
            <a:srgbClr val="FEF0E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 name="Rectangle 8">
            <a:extLst>
              <a:ext uri="{FF2B5EF4-FFF2-40B4-BE49-F238E27FC236}">
                <a16:creationId xmlns:a16="http://schemas.microsoft.com/office/drawing/2014/main" id="{A57FF8C6-A5E1-9C6A-E79E-405B34F814DD}"/>
              </a:ext>
            </a:extLst>
          </p:cNvPr>
          <p:cNvSpPr/>
          <p:nvPr userDrawn="1"/>
        </p:nvSpPr>
        <p:spPr>
          <a:xfrm>
            <a:off x="1827621" y="2955421"/>
            <a:ext cx="553278" cy="502377"/>
          </a:xfrm>
          <a:prstGeom prst="rect">
            <a:avLst/>
          </a:prstGeom>
          <a:solidFill>
            <a:srgbClr val="72BCD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 name="Rectangle 9">
            <a:extLst>
              <a:ext uri="{FF2B5EF4-FFF2-40B4-BE49-F238E27FC236}">
                <a16:creationId xmlns:a16="http://schemas.microsoft.com/office/drawing/2014/main" id="{2869F75A-002C-2529-CB1D-D09D74F122F8}"/>
              </a:ext>
            </a:extLst>
          </p:cNvPr>
          <p:cNvSpPr/>
          <p:nvPr userDrawn="1"/>
        </p:nvSpPr>
        <p:spPr>
          <a:xfrm>
            <a:off x="3836982" y="2154668"/>
            <a:ext cx="553277" cy="501311"/>
          </a:xfrm>
          <a:prstGeom prst="rect">
            <a:avLst/>
          </a:prstGeom>
          <a:solidFill>
            <a:srgbClr val="E7625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Rectangle 10">
            <a:extLst>
              <a:ext uri="{FF2B5EF4-FFF2-40B4-BE49-F238E27FC236}">
                <a16:creationId xmlns:a16="http://schemas.microsoft.com/office/drawing/2014/main" id="{9E80ED7E-B825-169D-5F98-6B2CD58FDAA0}"/>
              </a:ext>
            </a:extLst>
          </p:cNvPr>
          <p:cNvSpPr/>
          <p:nvPr userDrawn="1"/>
        </p:nvSpPr>
        <p:spPr>
          <a:xfrm>
            <a:off x="1827621" y="2137131"/>
            <a:ext cx="553278" cy="502377"/>
          </a:xfrm>
          <a:prstGeom prst="rect">
            <a:avLst/>
          </a:prstGeom>
          <a:solidFill>
            <a:srgbClr val="37679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2" name="Rectangle 11">
            <a:extLst>
              <a:ext uri="{FF2B5EF4-FFF2-40B4-BE49-F238E27FC236}">
                <a16:creationId xmlns:a16="http://schemas.microsoft.com/office/drawing/2014/main" id="{00DC89A4-D434-533C-A09D-9183CB354F82}"/>
              </a:ext>
            </a:extLst>
          </p:cNvPr>
          <p:cNvSpPr/>
          <p:nvPr userDrawn="1"/>
        </p:nvSpPr>
        <p:spPr>
          <a:xfrm>
            <a:off x="3836982" y="2955421"/>
            <a:ext cx="553278" cy="518784"/>
          </a:xfrm>
          <a:prstGeom prst="rect">
            <a:avLst/>
          </a:prstGeom>
          <a:solidFill>
            <a:srgbClr val="FCE2D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3" name="Rectangle 12">
            <a:extLst>
              <a:ext uri="{FF2B5EF4-FFF2-40B4-BE49-F238E27FC236}">
                <a16:creationId xmlns:a16="http://schemas.microsoft.com/office/drawing/2014/main" id="{653F9D73-E78B-94A1-E5C2-22FA154344C3}"/>
              </a:ext>
            </a:extLst>
          </p:cNvPr>
          <p:cNvSpPr/>
          <p:nvPr userDrawn="1"/>
        </p:nvSpPr>
        <p:spPr>
          <a:xfrm>
            <a:off x="2922271" y="4151748"/>
            <a:ext cx="553279" cy="503721"/>
          </a:xfrm>
          <a:prstGeom prst="rect">
            <a:avLst/>
          </a:prstGeom>
          <a:solidFill>
            <a:srgbClr val="F7A8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4" name="Rectangle 13">
            <a:extLst>
              <a:ext uri="{FF2B5EF4-FFF2-40B4-BE49-F238E27FC236}">
                <a16:creationId xmlns:a16="http://schemas.microsoft.com/office/drawing/2014/main" id="{05E5E622-FB98-73DB-5586-C0ADCB995613}"/>
              </a:ext>
            </a:extLst>
          </p:cNvPr>
          <p:cNvSpPr/>
          <p:nvPr userDrawn="1"/>
        </p:nvSpPr>
        <p:spPr>
          <a:xfrm>
            <a:off x="2922273" y="4954911"/>
            <a:ext cx="553278" cy="503721"/>
          </a:xfrm>
          <a:prstGeom prst="rect">
            <a:avLst/>
          </a:prstGeom>
          <a:solidFill>
            <a:srgbClr val="E5860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5" name="Rectangle 14">
            <a:extLst>
              <a:ext uri="{FF2B5EF4-FFF2-40B4-BE49-F238E27FC236}">
                <a16:creationId xmlns:a16="http://schemas.microsoft.com/office/drawing/2014/main" id="{6FA642DA-A018-C45D-85CD-175791132943}"/>
              </a:ext>
            </a:extLst>
          </p:cNvPr>
          <p:cNvSpPr/>
          <p:nvPr userDrawn="1"/>
        </p:nvSpPr>
        <p:spPr>
          <a:xfrm>
            <a:off x="1857095" y="4954911"/>
            <a:ext cx="553278" cy="502377"/>
          </a:xfrm>
          <a:prstGeom prst="rect">
            <a:avLst/>
          </a:prstGeom>
          <a:solidFill>
            <a:srgbClr val="F2AB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6" name="Rectangle 15">
            <a:extLst>
              <a:ext uri="{FF2B5EF4-FFF2-40B4-BE49-F238E27FC236}">
                <a16:creationId xmlns:a16="http://schemas.microsoft.com/office/drawing/2014/main" id="{F49973BA-C0E1-9DB6-F14F-F326ED0C8700}"/>
              </a:ext>
            </a:extLst>
          </p:cNvPr>
          <p:cNvSpPr/>
          <p:nvPr userDrawn="1"/>
        </p:nvSpPr>
        <p:spPr>
          <a:xfrm>
            <a:off x="3866456" y="4154158"/>
            <a:ext cx="553277" cy="501311"/>
          </a:xfrm>
          <a:prstGeom prst="rect">
            <a:avLst/>
          </a:prstGeom>
          <a:solidFill>
            <a:srgbClr val="E7625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7" name="Rectangle 16">
            <a:extLst>
              <a:ext uri="{FF2B5EF4-FFF2-40B4-BE49-F238E27FC236}">
                <a16:creationId xmlns:a16="http://schemas.microsoft.com/office/drawing/2014/main" id="{76422483-2999-7D3D-422B-23683B72C1E1}"/>
              </a:ext>
            </a:extLst>
          </p:cNvPr>
          <p:cNvSpPr/>
          <p:nvPr userDrawn="1"/>
        </p:nvSpPr>
        <p:spPr>
          <a:xfrm>
            <a:off x="1857095" y="4136621"/>
            <a:ext cx="553278" cy="502377"/>
          </a:xfrm>
          <a:prstGeom prst="rect">
            <a:avLst/>
          </a:prstGeom>
          <a:solidFill>
            <a:srgbClr val="EBCC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8" name="Rectangle 17">
            <a:extLst>
              <a:ext uri="{FF2B5EF4-FFF2-40B4-BE49-F238E27FC236}">
                <a16:creationId xmlns:a16="http://schemas.microsoft.com/office/drawing/2014/main" id="{CBDA8352-04A8-CA95-2A5A-CBD134AE176C}"/>
              </a:ext>
            </a:extLst>
          </p:cNvPr>
          <p:cNvSpPr/>
          <p:nvPr userDrawn="1"/>
        </p:nvSpPr>
        <p:spPr>
          <a:xfrm>
            <a:off x="3866456" y="4954911"/>
            <a:ext cx="553278" cy="518784"/>
          </a:xfrm>
          <a:prstGeom prst="rect">
            <a:avLst/>
          </a:prstGeom>
          <a:solidFill>
            <a:srgbClr val="01A08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5100735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DB9C93C-C147-D2FF-6AFC-7E7BE5466FA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96217830-FCB5-9878-FF2A-D2CDEE77AC2C}"/>
              </a:ext>
            </a:extLst>
          </p:cNvPr>
          <p:cNvSpPr>
            <a:spLocks noGrp="1"/>
          </p:cNvSpPr>
          <p:nvPr>
            <p:ph type="body" orient="vert" idx="1"/>
          </p:nvPr>
        </p:nvSpPr>
        <p:spPr>
          <a:xfrm>
            <a:off x="3322320" y="365125"/>
            <a:ext cx="525018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22D0C7C-F16C-C08B-4592-407E9C6577DA}"/>
              </a:ext>
            </a:extLst>
          </p:cNvPr>
          <p:cNvSpPr>
            <a:spLocks noGrp="1"/>
          </p:cNvSpPr>
          <p:nvPr>
            <p:ph type="dt" sz="half" idx="10"/>
          </p:nvPr>
        </p:nvSpPr>
        <p:spPr>
          <a:xfrm>
            <a:off x="838200" y="6356350"/>
            <a:ext cx="2743200" cy="365125"/>
          </a:xfrm>
          <a:prstGeom prst="rect">
            <a:avLst/>
          </a:prstGeom>
        </p:spPr>
        <p:txBody>
          <a:bodyPr/>
          <a:lstStyle/>
          <a:p>
            <a:endParaRPr lang="en-GB" dirty="0"/>
          </a:p>
        </p:txBody>
      </p:sp>
      <p:sp>
        <p:nvSpPr>
          <p:cNvPr id="5" name="Footer Placeholder 4">
            <a:extLst>
              <a:ext uri="{FF2B5EF4-FFF2-40B4-BE49-F238E27FC236}">
                <a16:creationId xmlns:a16="http://schemas.microsoft.com/office/drawing/2014/main" id="{BE4DD17E-38FC-A1A4-51ED-35464F773CA6}"/>
              </a:ext>
            </a:extLst>
          </p:cNvPr>
          <p:cNvSpPr>
            <a:spLocks noGrp="1"/>
          </p:cNvSpPr>
          <p:nvPr>
            <p:ph type="ftr" sz="quarter" idx="11"/>
          </p:nvPr>
        </p:nvSpPr>
        <p:spPr>
          <a:xfrm>
            <a:off x="0" y="6363473"/>
            <a:ext cx="4114800" cy="365125"/>
          </a:xfrm>
          <a:prstGeom prst="rect">
            <a:avLst/>
          </a:prstGeom>
        </p:spPr>
        <p:txBody>
          <a:bodyPr/>
          <a:lstStyle/>
          <a:p>
            <a:endParaRPr lang="en-GB" dirty="0"/>
          </a:p>
        </p:txBody>
      </p:sp>
      <p:sp>
        <p:nvSpPr>
          <p:cNvPr id="6" name="Slide Number Placeholder 5">
            <a:extLst>
              <a:ext uri="{FF2B5EF4-FFF2-40B4-BE49-F238E27FC236}">
                <a16:creationId xmlns:a16="http://schemas.microsoft.com/office/drawing/2014/main" id="{56BC4716-9DDB-6984-A8BE-8D9E1ACA7B34}"/>
              </a:ext>
            </a:extLst>
          </p:cNvPr>
          <p:cNvSpPr>
            <a:spLocks noGrp="1"/>
          </p:cNvSpPr>
          <p:nvPr>
            <p:ph type="sldNum" sz="quarter" idx="12"/>
          </p:nvPr>
        </p:nvSpPr>
        <p:spPr>
          <a:xfrm>
            <a:off x="9291536" y="6363474"/>
            <a:ext cx="2743200" cy="365125"/>
          </a:xfrm>
          <a:prstGeom prst="rect">
            <a:avLst/>
          </a:prstGeom>
        </p:spPr>
        <p:txBody>
          <a:bodyPr/>
          <a:lstStyle/>
          <a:p>
            <a:fld id="{372769DB-CAE7-4C85-A9AF-7D4D8DE4CA22}" type="slidenum">
              <a:rPr lang="en-GB" smtClean="0"/>
              <a:t>‹#›</a:t>
            </a:fld>
            <a:endParaRPr lang="en-GB" dirty="0"/>
          </a:p>
        </p:txBody>
      </p:sp>
      <p:sp>
        <p:nvSpPr>
          <p:cNvPr id="7" name="Rectangle 6">
            <a:extLst>
              <a:ext uri="{FF2B5EF4-FFF2-40B4-BE49-F238E27FC236}">
                <a16:creationId xmlns:a16="http://schemas.microsoft.com/office/drawing/2014/main" id="{F841951A-8D87-4F43-FC6B-A657181FC6FF}"/>
              </a:ext>
            </a:extLst>
          </p:cNvPr>
          <p:cNvSpPr/>
          <p:nvPr userDrawn="1"/>
        </p:nvSpPr>
        <p:spPr>
          <a:xfrm>
            <a:off x="0" y="0"/>
            <a:ext cx="12192000" cy="1154096"/>
          </a:xfrm>
          <a:prstGeom prst="rect">
            <a:avLst/>
          </a:prstGeom>
          <a:solidFill>
            <a:srgbClr val="01A0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AC5C020D-E67A-E299-C503-6697E5A42110}"/>
              </a:ext>
            </a:extLst>
          </p:cNvPr>
          <p:cNvSpPr/>
          <p:nvPr userDrawn="1"/>
        </p:nvSpPr>
        <p:spPr>
          <a:xfrm>
            <a:off x="1626737" y="2243698"/>
            <a:ext cx="553279" cy="503721"/>
          </a:xfrm>
          <a:prstGeom prst="rect">
            <a:avLst/>
          </a:prstGeom>
          <a:solidFill>
            <a:srgbClr val="F7A8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 name="Rectangle 8">
            <a:extLst>
              <a:ext uri="{FF2B5EF4-FFF2-40B4-BE49-F238E27FC236}">
                <a16:creationId xmlns:a16="http://schemas.microsoft.com/office/drawing/2014/main" id="{90AA7976-0675-37B6-6301-B5E08A25B6EE}"/>
              </a:ext>
            </a:extLst>
          </p:cNvPr>
          <p:cNvSpPr/>
          <p:nvPr userDrawn="1"/>
        </p:nvSpPr>
        <p:spPr>
          <a:xfrm>
            <a:off x="1626739" y="3046861"/>
            <a:ext cx="553278" cy="503721"/>
          </a:xfrm>
          <a:prstGeom prst="rect">
            <a:avLst/>
          </a:prstGeom>
          <a:solidFill>
            <a:srgbClr val="FEF0E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 name="Rectangle 9">
            <a:extLst>
              <a:ext uri="{FF2B5EF4-FFF2-40B4-BE49-F238E27FC236}">
                <a16:creationId xmlns:a16="http://schemas.microsoft.com/office/drawing/2014/main" id="{2E80848C-7A3C-EDDF-7749-D9687FA7D534}"/>
              </a:ext>
            </a:extLst>
          </p:cNvPr>
          <p:cNvSpPr/>
          <p:nvPr userDrawn="1"/>
        </p:nvSpPr>
        <p:spPr>
          <a:xfrm>
            <a:off x="561561" y="3046861"/>
            <a:ext cx="553278" cy="502377"/>
          </a:xfrm>
          <a:prstGeom prst="rect">
            <a:avLst/>
          </a:prstGeom>
          <a:solidFill>
            <a:srgbClr val="72BCD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Rectangle 10">
            <a:extLst>
              <a:ext uri="{FF2B5EF4-FFF2-40B4-BE49-F238E27FC236}">
                <a16:creationId xmlns:a16="http://schemas.microsoft.com/office/drawing/2014/main" id="{C90161F2-63FE-D7D0-C071-2CB3FADFBD2A}"/>
              </a:ext>
            </a:extLst>
          </p:cNvPr>
          <p:cNvSpPr/>
          <p:nvPr userDrawn="1"/>
        </p:nvSpPr>
        <p:spPr>
          <a:xfrm>
            <a:off x="2570922" y="2246108"/>
            <a:ext cx="553277" cy="501311"/>
          </a:xfrm>
          <a:prstGeom prst="rect">
            <a:avLst/>
          </a:prstGeom>
          <a:solidFill>
            <a:srgbClr val="E7625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2" name="Rectangle 11">
            <a:extLst>
              <a:ext uri="{FF2B5EF4-FFF2-40B4-BE49-F238E27FC236}">
                <a16:creationId xmlns:a16="http://schemas.microsoft.com/office/drawing/2014/main" id="{066C6C8B-7D04-F1DC-88ED-4B4EE5498B39}"/>
              </a:ext>
            </a:extLst>
          </p:cNvPr>
          <p:cNvSpPr/>
          <p:nvPr userDrawn="1"/>
        </p:nvSpPr>
        <p:spPr>
          <a:xfrm>
            <a:off x="561561" y="2228571"/>
            <a:ext cx="553278" cy="502377"/>
          </a:xfrm>
          <a:prstGeom prst="rect">
            <a:avLst/>
          </a:prstGeom>
          <a:solidFill>
            <a:srgbClr val="37679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3" name="Rectangle 12">
            <a:extLst>
              <a:ext uri="{FF2B5EF4-FFF2-40B4-BE49-F238E27FC236}">
                <a16:creationId xmlns:a16="http://schemas.microsoft.com/office/drawing/2014/main" id="{E9492BF5-494B-4BE4-709D-FB2112364DD6}"/>
              </a:ext>
            </a:extLst>
          </p:cNvPr>
          <p:cNvSpPr/>
          <p:nvPr userDrawn="1"/>
        </p:nvSpPr>
        <p:spPr>
          <a:xfrm>
            <a:off x="2570922" y="3046861"/>
            <a:ext cx="553278" cy="518784"/>
          </a:xfrm>
          <a:prstGeom prst="rect">
            <a:avLst/>
          </a:prstGeom>
          <a:solidFill>
            <a:srgbClr val="FCE2D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4" name="Rectangle 13">
            <a:extLst>
              <a:ext uri="{FF2B5EF4-FFF2-40B4-BE49-F238E27FC236}">
                <a16:creationId xmlns:a16="http://schemas.microsoft.com/office/drawing/2014/main" id="{327DFB5F-12A2-63A9-95E9-BB741AD5BE28}"/>
              </a:ext>
            </a:extLst>
          </p:cNvPr>
          <p:cNvSpPr/>
          <p:nvPr userDrawn="1"/>
        </p:nvSpPr>
        <p:spPr>
          <a:xfrm>
            <a:off x="1656211" y="4243188"/>
            <a:ext cx="553279" cy="503721"/>
          </a:xfrm>
          <a:prstGeom prst="rect">
            <a:avLst/>
          </a:prstGeom>
          <a:solidFill>
            <a:srgbClr val="F7A8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5" name="Rectangle 14">
            <a:extLst>
              <a:ext uri="{FF2B5EF4-FFF2-40B4-BE49-F238E27FC236}">
                <a16:creationId xmlns:a16="http://schemas.microsoft.com/office/drawing/2014/main" id="{3B5871CD-4399-36A1-3253-4B0BB32C4D3D}"/>
              </a:ext>
            </a:extLst>
          </p:cNvPr>
          <p:cNvSpPr/>
          <p:nvPr userDrawn="1"/>
        </p:nvSpPr>
        <p:spPr>
          <a:xfrm>
            <a:off x="1656213" y="5046351"/>
            <a:ext cx="553278" cy="503721"/>
          </a:xfrm>
          <a:prstGeom prst="rect">
            <a:avLst/>
          </a:prstGeom>
          <a:solidFill>
            <a:srgbClr val="E5860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6" name="Rectangle 15">
            <a:extLst>
              <a:ext uri="{FF2B5EF4-FFF2-40B4-BE49-F238E27FC236}">
                <a16:creationId xmlns:a16="http://schemas.microsoft.com/office/drawing/2014/main" id="{D46D2525-DFE5-C548-4358-DBBB03B838EE}"/>
              </a:ext>
            </a:extLst>
          </p:cNvPr>
          <p:cNvSpPr/>
          <p:nvPr userDrawn="1"/>
        </p:nvSpPr>
        <p:spPr>
          <a:xfrm>
            <a:off x="591035" y="5046351"/>
            <a:ext cx="553278" cy="502377"/>
          </a:xfrm>
          <a:prstGeom prst="rect">
            <a:avLst/>
          </a:prstGeom>
          <a:solidFill>
            <a:srgbClr val="F2AB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7" name="Rectangle 16">
            <a:extLst>
              <a:ext uri="{FF2B5EF4-FFF2-40B4-BE49-F238E27FC236}">
                <a16:creationId xmlns:a16="http://schemas.microsoft.com/office/drawing/2014/main" id="{E6748769-125E-C9B7-16F9-5C2B1EB7A452}"/>
              </a:ext>
            </a:extLst>
          </p:cNvPr>
          <p:cNvSpPr/>
          <p:nvPr userDrawn="1"/>
        </p:nvSpPr>
        <p:spPr>
          <a:xfrm>
            <a:off x="2600396" y="4245598"/>
            <a:ext cx="553277" cy="501311"/>
          </a:xfrm>
          <a:prstGeom prst="rect">
            <a:avLst/>
          </a:prstGeom>
          <a:solidFill>
            <a:srgbClr val="E7625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8" name="Rectangle 17">
            <a:extLst>
              <a:ext uri="{FF2B5EF4-FFF2-40B4-BE49-F238E27FC236}">
                <a16:creationId xmlns:a16="http://schemas.microsoft.com/office/drawing/2014/main" id="{E3133E4F-DF31-F074-FDA8-6D6D35FFF0B4}"/>
              </a:ext>
            </a:extLst>
          </p:cNvPr>
          <p:cNvSpPr/>
          <p:nvPr userDrawn="1"/>
        </p:nvSpPr>
        <p:spPr>
          <a:xfrm>
            <a:off x="591035" y="4228061"/>
            <a:ext cx="553278" cy="502377"/>
          </a:xfrm>
          <a:prstGeom prst="rect">
            <a:avLst/>
          </a:prstGeom>
          <a:solidFill>
            <a:srgbClr val="EBCC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9" name="Rectangle 18">
            <a:extLst>
              <a:ext uri="{FF2B5EF4-FFF2-40B4-BE49-F238E27FC236}">
                <a16:creationId xmlns:a16="http://schemas.microsoft.com/office/drawing/2014/main" id="{A6DE0CA1-4658-0FB9-A733-3BE9DDB4D172}"/>
              </a:ext>
            </a:extLst>
          </p:cNvPr>
          <p:cNvSpPr/>
          <p:nvPr userDrawn="1"/>
        </p:nvSpPr>
        <p:spPr>
          <a:xfrm>
            <a:off x="2600396" y="5046351"/>
            <a:ext cx="553278" cy="518784"/>
          </a:xfrm>
          <a:prstGeom prst="rect">
            <a:avLst/>
          </a:prstGeom>
          <a:solidFill>
            <a:srgbClr val="01A08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28452116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Vevox Question Basic">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6C5E4-F653-D1E5-781B-5C80DA9A1FD7}"/>
              </a:ext>
            </a:extLst>
          </p:cNvPr>
          <p:cNvSpPr>
            <a:spLocks noGrp="1"/>
          </p:cNvSpPr>
          <p:nvPr>
            <p:ph type="title"/>
          </p:nvPr>
        </p:nvSpPr>
        <p:spPr/>
        <p:txBody>
          <a:bodyPr/>
          <a:lstStyle/>
          <a:p>
            <a:r>
              <a:rPr lang="en-US"/>
              <a:t>Click to edit Master title style</a:t>
            </a:r>
            <a:endParaRPr lang="en-FI"/>
          </a:p>
        </p:txBody>
      </p:sp>
      <p:sp>
        <p:nvSpPr>
          <p:cNvPr id="3" name="Date Placeholder 2">
            <a:extLst>
              <a:ext uri="{FF2B5EF4-FFF2-40B4-BE49-F238E27FC236}">
                <a16:creationId xmlns:a16="http://schemas.microsoft.com/office/drawing/2014/main" id="{CA4B1EFF-8603-5BC3-A16F-837AA235F13A}"/>
              </a:ext>
            </a:extLst>
          </p:cNvPr>
          <p:cNvSpPr>
            <a:spLocks noGrp="1"/>
          </p:cNvSpPr>
          <p:nvPr>
            <p:ph type="dt" sz="half" idx="10"/>
          </p:nvPr>
        </p:nvSpPr>
        <p:spPr/>
        <p:txBody>
          <a:bodyPr/>
          <a:lstStyle/>
          <a:p>
            <a:endParaRPr lang="en-FI"/>
          </a:p>
        </p:txBody>
      </p:sp>
      <p:sp>
        <p:nvSpPr>
          <p:cNvPr id="4" name="Footer Placeholder 3">
            <a:extLst>
              <a:ext uri="{FF2B5EF4-FFF2-40B4-BE49-F238E27FC236}">
                <a16:creationId xmlns:a16="http://schemas.microsoft.com/office/drawing/2014/main" id="{C1DFCB76-F866-AFF2-45A8-D75DD768A349}"/>
              </a:ext>
            </a:extLst>
          </p:cNvPr>
          <p:cNvSpPr>
            <a:spLocks noGrp="1"/>
          </p:cNvSpPr>
          <p:nvPr>
            <p:ph type="ftr" sz="quarter" idx="11"/>
          </p:nvPr>
        </p:nvSpPr>
        <p:spPr/>
        <p:txBody>
          <a:bodyPr/>
          <a:lstStyle/>
          <a:p>
            <a:endParaRPr lang="en-FI"/>
          </a:p>
        </p:txBody>
      </p:sp>
      <p:sp>
        <p:nvSpPr>
          <p:cNvPr id="5" name="Slide Number Placeholder 4">
            <a:extLst>
              <a:ext uri="{FF2B5EF4-FFF2-40B4-BE49-F238E27FC236}">
                <a16:creationId xmlns:a16="http://schemas.microsoft.com/office/drawing/2014/main" id="{E8577D54-9E7B-8CA3-C7DA-9BF166CA6240}"/>
              </a:ext>
            </a:extLst>
          </p:cNvPr>
          <p:cNvSpPr>
            <a:spLocks noGrp="1"/>
          </p:cNvSpPr>
          <p:nvPr>
            <p:ph type="sldNum" sz="quarter" idx="12"/>
          </p:nvPr>
        </p:nvSpPr>
        <p:spPr/>
        <p:txBody>
          <a:bodyPr/>
          <a:lstStyle/>
          <a:p>
            <a:fld id="{C4DDFEFA-D601-40AB-9EFD-121C9BFF3B2B}" type="slidenum">
              <a:rPr lang="en-FI" smtClean="0"/>
              <a:t>‹#›</a:t>
            </a:fld>
            <a:endParaRPr lang="en-FI"/>
          </a:p>
        </p:txBody>
      </p:sp>
      <p:sp>
        <p:nvSpPr>
          <p:cNvPr id="7" name="Content Placeholder 6">
            <a:extLst>
              <a:ext uri="{FF2B5EF4-FFF2-40B4-BE49-F238E27FC236}">
                <a16:creationId xmlns:a16="http://schemas.microsoft.com/office/drawing/2014/main" id="{23589107-4708-E9D3-0A18-B23A231F8127}"/>
              </a:ext>
            </a:extLst>
          </p:cNvPr>
          <p:cNvSpPr>
            <a:spLocks noGrp="1"/>
          </p:cNvSpPr>
          <p:nvPr>
            <p:ph sz="quarter" idx="13"/>
          </p:nvPr>
        </p:nvSpPr>
        <p:spPr>
          <a:xfrm>
            <a:off x="838200" y="1798321"/>
            <a:ext cx="10515600" cy="4399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FI"/>
          </a:p>
        </p:txBody>
      </p:sp>
    </p:spTree>
    <p:extLst>
      <p:ext uri="{BB962C8B-B14F-4D97-AF65-F5344CB8AC3E}">
        <p14:creationId xmlns:p14="http://schemas.microsoft.com/office/powerpoint/2010/main" val="30188444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Vevox basic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72F2E-3F20-0DC0-CFA3-D11D49B01C69}"/>
              </a:ext>
            </a:extLst>
          </p:cNvPr>
          <p:cNvSpPr>
            <a:spLocks noGrp="1"/>
          </p:cNvSpPr>
          <p:nvPr>
            <p:ph type="title"/>
          </p:nvPr>
        </p:nvSpPr>
        <p:spPr/>
        <p:txBody>
          <a:bodyPr/>
          <a:lstStyle/>
          <a:p>
            <a:r>
              <a:rPr lang="en-US"/>
              <a:t>Click to edit Master title style</a:t>
            </a:r>
            <a:endParaRPr lang="en-FI"/>
          </a:p>
        </p:txBody>
      </p:sp>
      <p:sp>
        <p:nvSpPr>
          <p:cNvPr id="3" name="Date Placeholder 2">
            <a:extLst>
              <a:ext uri="{FF2B5EF4-FFF2-40B4-BE49-F238E27FC236}">
                <a16:creationId xmlns:a16="http://schemas.microsoft.com/office/drawing/2014/main" id="{33DD3D74-F972-E096-E828-44B6C11A314C}"/>
              </a:ext>
            </a:extLst>
          </p:cNvPr>
          <p:cNvSpPr>
            <a:spLocks noGrp="1"/>
          </p:cNvSpPr>
          <p:nvPr>
            <p:ph type="dt" sz="half" idx="10"/>
          </p:nvPr>
        </p:nvSpPr>
        <p:spPr/>
        <p:txBody>
          <a:bodyPr/>
          <a:lstStyle/>
          <a:p>
            <a:endParaRPr lang="en-FI"/>
          </a:p>
        </p:txBody>
      </p:sp>
      <p:sp>
        <p:nvSpPr>
          <p:cNvPr id="4" name="Footer Placeholder 3">
            <a:extLst>
              <a:ext uri="{FF2B5EF4-FFF2-40B4-BE49-F238E27FC236}">
                <a16:creationId xmlns:a16="http://schemas.microsoft.com/office/drawing/2014/main" id="{03087A18-8950-3A86-D6FB-14BF0F08BA1C}"/>
              </a:ext>
            </a:extLst>
          </p:cNvPr>
          <p:cNvSpPr>
            <a:spLocks noGrp="1"/>
          </p:cNvSpPr>
          <p:nvPr>
            <p:ph type="ftr" sz="quarter" idx="11"/>
          </p:nvPr>
        </p:nvSpPr>
        <p:spPr/>
        <p:txBody>
          <a:bodyPr/>
          <a:lstStyle/>
          <a:p>
            <a:endParaRPr lang="en-FI"/>
          </a:p>
        </p:txBody>
      </p:sp>
      <p:sp>
        <p:nvSpPr>
          <p:cNvPr id="5" name="Slide Number Placeholder 4">
            <a:extLst>
              <a:ext uri="{FF2B5EF4-FFF2-40B4-BE49-F238E27FC236}">
                <a16:creationId xmlns:a16="http://schemas.microsoft.com/office/drawing/2014/main" id="{AED9F6BC-1B26-1DC3-0C4B-4C12F07C71C1}"/>
              </a:ext>
            </a:extLst>
          </p:cNvPr>
          <p:cNvSpPr>
            <a:spLocks noGrp="1"/>
          </p:cNvSpPr>
          <p:nvPr>
            <p:ph type="sldNum" sz="quarter" idx="12"/>
          </p:nvPr>
        </p:nvSpPr>
        <p:spPr/>
        <p:txBody>
          <a:bodyPr/>
          <a:lstStyle/>
          <a:p>
            <a:fld id="{9D4AD3D6-B89C-4D82-B254-B84B3D342745}" type="slidenum">
              <a:rPr lang="en-FI" smtClean="0"/>
              <a:t>‹#›</a:t>
            </a:fld>
            <a:endParaRPr lang="en-FI"/>
          </a:p>
        </p:txBody>
      </p:sp>
      <p:sp>
        <p:nvSpPr>
          <p:cNvPr id="7" name="Content Placeholder 6">
            <a:extLst>
              <a:ext uri="{FF2B5EF4-FFF2-40B4-BE49-F238E27FC236}">
                <a16:creationId xmlns:a16="http://schemas.microsoft.com/office/drawing/2014/main" id="{1CADAFE8-3608-FDE7-C3ED-12BD6811F72B}"/>
              </a:ext>
            </a:extLst>
          </p:cNvPr>
          <p:cNvSpPr>
            <a:spLocks noGrp="1"/>
          </p:cNvSpPr>
          <p:nvPr>
            <p:ph sz="quarter" idx="13"/>
          </p:nvPr>
        </p:nvSpPr>
        <p:spPr>
          <a:xfrm>
            <a:off x="838200" y="1798320"/>
            <a:ext cx="10515600" cy="4429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FI"/>
          </a:p>
        </p:txBody>
      </p:sp>
    </p:spTree>
    <p:extLst>
      <p:ext uri="{BB962C8B-B14F-4D97-AF65-F5344CB8AC3E}">
        <p14:creationId xmlns:p14="http://schemas.microsoft.com/office/powerpoint/2010/main" val="18145957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1B5E911-D491-9FF0-A994-C6B793C0EB5E}"/>
              </a:ext>
            </a:extLst>
          </p:cNvPr>
          <p:cNvSpPr/>
          <p:nvPr userDrawn="1"/>
        </p:nvSpPr>
        <p:spPr>
          <a:xfrm>
            <a:off x="0" y="0"/>
            <a:ext cx="12192000" cy="1154097"/>
          </a:xfrm>
          <a:prstGeom prst="rect">
            <a:avLst/>
          </a:prstGeom>
          <a:solidFill>
            <a:srgbClr val="0070C0"/>
          </a:solidFill>
          <a:ln>
            <a:solidFill>
              <a:srgbClr val="3767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Placeholder 1">
            <a:extLst>
              <a:ext uri="{FF2B5EF4-FFF2-40B4-BE49-F238E27FC236}">
                <a16:creationId xmlns:a16="http://schemas.microsoft.com/office/drawing/2014/main" id="{120A8125-450B-C759-EE28-E4766E4DADFD}"/>
              </a:ext>
            </a:extLst>
          </p:cNvPr>
          <p:cNvSpPr>
            <a:spLocks noGrp="1"/>
          </p:cNvSpPr>
          <p:nvPr>
            <p:ph type="title"/>
          </p:nvPr>
        </p:nvSpPr>
        <p:spPr>
          <a:xfrm>
            <a:off x="506027" y="93257"/>
            <a:ext cx="11685973" cy="1154096"/>
          </a:xfrm>
          <a:prstGeom prst="rect">
            <a:avLst/>
          </a:prstGeom>
          <a:noFill/>
        </p:spPr>
        <p:txBody>
          <a:bodyPr vert="horz" lIns="91440" tIns="45720" rIns="91440" bIns="45720" rtlCol="0" anchor="ctr">
            <a:norm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05F57A63-E583-0606-820E-D2535190E32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9" name="Footer Placeholder 3">
            <a:extLst>
              <a:ext uri="{FF2B5EF4-FFF2-40B4-BE49-F238E27FC236}">
                <a16:creationId xmlns:a16="http://schemas.microsoft.com/office/drawing/2014/main" id="{A76EF038-572C-E3A7-507B-C8F667377E7D}"/>
              </a:ext>
            </a:extLst>
          </p:cNvPr>
          <p:cNvSpPr>
            <a:spLocks noGrp="1"/>
          </p:cNvSpPr>
          <p:nvPr>
            <p:ph type="ftr" sz="quarter" idx="3"/>
          </p:nvPr>
        </p:nvSpPr>
        <p:spPr>
          <a:xfrm>
            <a:off x="252918" y="6363474"/>
            <a:ext cx="3861881" cy="365125"/>
          </a:xfrm>
          <a:prstGeom prst="rect">
            <a:avLst/>
          </a:prstGeom>
        </p:spPr>
        <p:txBody>
          <a:bodyPr/>
          <a:lstStyle>
            <a:lvl1pPr algn="l">
              <a:defRPr sz="1400">
                <a:latin typeface="Gill Sans MT" panose="020B0502020104020203" pitchFamily="34" charset="0"/>
              </a:defRPr>
            </a:lvl1pPr>
          </a:lstStyle>
          <a:p>
            <a:endParaRPr lang="en-GB" dirty="0"/>
          </a:p>
        </p:txBody>
      </p:sp>
      <p:sp>
        <p:nvSpPr>
          <p:cNvPr id="10" name="Slide Number Placeholder 4">
            <a:extLst>
              <a:ext uri="{FF2B5EF4-FFF2-40B4-BE49-F238E27FC236}">
                <a16:creationId xmlns:a16="http://schemas.microsoft.com/office/drawing/2014/main" id="{422A7349-2727-7A03-4940-F40F76DE81F9}"/>
              </a:ext>
            </a:extLst>
          </p:cNvPr>
          <p:cNvSpPr>
            <a:spLocks noGrp="1"/>
          </p:cNvSpPr>
          <p:nvPr>
            <p:ph type="sldNum" sz="quarter" idx="4"/>
          </p:nvPr>
        </p:nvSpPr>
        <p:spPr>
          <a:xfrm>
            <a:off x="9291536" y="6363474"/>
            <a:ext cx="2576209" cy="365125"/>
          </a:xfrm>
          <a:prstGeom prst="rect">
            <a:avLst/>
          </a:prstGeom>
        </p:spPr>
        <p:txBody>
          <a:bodyPr/>
          <a:lstStyle>
            <a:lvl1pPr algn="r">
              <a:defRPr sz="1400">
                <a:latin typeface="Gill Sans MT" panose="020B0502020104020203" pitchFamily="34" charset="0"/>
              </a:defRPr>
            </a:lvl1pPr>
          </a:lstStyle>
          <a:p>
            <a:fld id="{372769DB-CAE7-4C85-A9AF-7D4D8DE4CA22}" type="slidenum">
              <a:rPr lang="en-GB" smtClean="0"/>
              <a:pPr/>
              <a:t>‹#›</a:t>
            </a:fld>
            <a:endParaRPr lang="en-GB" dirty="0"/>
          </a:p>
        </p:txBody>
      </p:sp>
    </p:spTree>
    <p:extLst>
      <p:ext uri="{BB962C8B-B14F-4D97-AF65-F5344CB8AC3E}">
        <p14:creationId xmlns:p14="http://schemas.microsoft.com/office/powerpoint/2010/main" val="1454370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lvl1pPr algn="l" defTabSz="914400" rtl="0" eaLnBrk="1" latinLnBrk="0" hangingPunct="1">
        <a:lnSpc>
          <a:spcPct val="90000"/>
        </a:lnSpc>
        <a:spcBef>
          <a:spcPct val="0"/>
        </a:spcBef>
        <a:buNone/>
        <a:defRPr sz="6000" kern="1200">
          <a:solidFill>
            <a:schemeClr val="bg1"/>
          </a:solidFill>
          <a:latin typeface="Franklin Gothic Demi" panose="020B07030201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40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www.ncl.ac.uk/library/resources-and-study-support/peer-mentoring/" TargetMode="Externa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hyperlink" Target="https://arxiv.org/abs/2402.14875" TargetMode="External"/><Relationship Id="rId2" Type="http://schemas.openxmlformats.org/officeDocument/2006/relationships/image" Target="../media/image17.png"/><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4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hyperlink" Target="https://www.britishelectionstudy.com/bes-resources/coding-the-single-most-important-issue/" TargetMode="Externa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hyperlink" Target="https://www.britishelectionstudy.com/bes-resources/coding-the-single-most-important-issue/" TargetMode="Externa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hyperlink" Target="https://onlinelibrary.wiley.com/doi/10.1111/ajps.70050" TargetMode="Externa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E993F3-E80D-4684-85BC-E4E24E79F73A}"/>
              </a:ext>
            </a:extLst>
          </p:cNvPr>
          <p:cNvSpPr>
            <a:spLocks noGrp="1"/>
          </p:cNvSpPr>
          <p:nvPr>
            <p:ph type="ctrTitle"/>
          </p:nvPr>
        </p:nvSpPr>
        <p:spPr/>
        <p:txBody>
          <a:bodyPr/>
          <a:lstStyle/>
          <a:p>
            <a:r>
              <a:rPr lang="en-GB" dirty="0"/>
              <a:t>Content Analysis (Part II)</a:t>
            </a:r>
          </a:p>
        </p:txBody>
      </p:sp>
      <p:sp>
        <p:nvSpPr>
          <p:cNvPr id="3" name="Subtitle 2">
            <a:extLst>
              <a:ext uri="{FF2B5EF4-FFF2-40B4-BE49-F238E27FC236}">
                <a16:creationId xmlns:a16="http://schemas.microsoft.com/office/drawing/2014/main" id="{8E363FEF-E855-8DC3-5C0C-1B3D78422314}"/>
              </a:ext>
            </a:extLst>
          </p:cNvPr>
          <p:cNvSpPr>
            <a:spLocks noGrp="1"/>
          </p:cNvSpPr>
          <p:nvPr>
            <p:ph type="subTitle" idx="1"/>
          </p:nvPr>
        </p:nvSpPr>
        <p:spPr/>
        <p:txBody>
          <a:bodyPr/>
          <a:lstStyle/>
          <a:p>
            <a:r>
              <a:rPr lang="en-GB" dirty="0"/>
              <a:t>Week 10  Lecture</a:t>
            </a:r>
          </a:p>
          <a:p>
            <a:r>
              <a:rPr lang="en-GB" dirty="0"/>
              <a:t>Becoming a Political Researcher (POL2017)</a:t>
            </a:r>
          </a:p>
        </p:txBody>
      </p:sp>
    </p:spTree>
    <p:extLst>
      <p:ext uri="{BB962C8B-B14F-4D97-AF65-F5344CB8AC3E}">
        <p14:creationId xmlns:p14="http://schemas.microsoft.com/office/powerpoint/2010/main" val="28978534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132ECAE3-F561-96E1-DE29-6376297F5CE4}"/>
              </a:ext>
            </a:extLst>
          </p:cNvPr>
          <p:cNvSpPr/>
          <p:nvPr/>
        </p:nvSpPr>
        <p:spPr>
          <a:xfrm>
            <a:off x="0" y="0"/>
            <a:ext cx="12192000" cy="2641582"/>
          </a:xfrm>
          <a:prstGeom prst="rect">
            <a:avLst/>
          </a:prstGeom>
          <a:solidFill>
            <a:schemeClr val="tx1">
              <a:alpha val="4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D1C8E116-5D6D-0AE3-4EA7-5904DAD2B7E0}"/>
              </a:ext>
            </a:extLst>
          </p:cNvPr>
          <p:cNvSpPr/>
          <p:nvPr/>
        </p:nvSpPr>
        <p:spPr>
          <a:xfrm>
            <a:off x="0" y="5108406"/>
            <a:ext cx="12191999" cy="1749593"/>
          </a:xfrm>
          <a:prstGeom prst="rect">
            <a:avLst/>
          </a:prstGeom>
          <a:solidFill>
            <a:schemeClr val="tx1">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 name="TextBox 9">
            <a:extLst>
              <a:ext uri="{FF2B5EF4-FFF2-40B4-BE49-F238E27FC236}">
                <a16:creationId xmlns:a16="http://schemas.microsoft.com/office/drawing/2014/main" id="{B8206594-314A-E653-2522-80938F9A39A8}"/>
              </a:ext>
            </a:extLst>
          </p:cNvPr>
          <p:cNvSpPr txBox="1"/>
          <p:nvPr/>
        </p:nvSpPr>
        <p:spPr>
          <a:xfrm>
            <a:off x="293914" y="777547"/>
            <a:ext cx="11516209" cy="2616101"/>
          </a:xfrm>
          <a:prstGeom prst="rect">
            <a:avLst/>
          </a:prstGeom>
          <a:noFill/>
        </p:spPr>
        <p:txBody>
          <a:bodyPr wrap="square" rtlCol="0">
            <a:spAutoFit/>
          </a:bodyPr>
          <a:lstStyle/>
          <a:p>
            <a:pPr algn="r"/>
            <a:r>
              <a:rPr lang="en-GB" sz="4400" dirty="0">
                <a:solidFill>
                  <a:srgbClr val="FFC000"/>
                </a:solidFill>
                <a:latin typeface="Aharoni" panose="020B0604020202020204" pitchFamily="2" charset="-79"/>
                <a:cs typeface="Aharoni" panose="020B0604020202020204" pitchFamily="2" charset="-79"/>
              </a:rPr>
              <a:t>FOOD</a:t>
            </a:r>
            <a:r>
              <a:rPr lang="en-GB" sz="4400" dirty="0">
                <a:solidFill>
                  <a:schemeClr val="bg1"/>
                </a:solidFill>
                <a:latin typeface="Aharoni" panose="020B0604020202020204" pitchFamily="2" charset="-79"/>
                <a:cs typeface="Aharoni" panose="020B0604020202020204" pitchFamily="2" charset="-79"/>
              </a:rPr>
              <a:t> FOR </a:t>
            </a:r>
            <a:r>
              <a:rPr lang="en-GB" sz="4400" dirty="0">
                <a:solidFill>
                  <a:srgbClr val="FFC000"/>
                </a:solidFill>
                <a:latin typeface="Aharoni" panose="020B0604020202020204" pitchFamily="2" charset="-79"/>
                <a:cs typeface="Aharoni" panose="020B0604020202020204" pitchFamily="2" charset="-79"/>
              </a:rPr>
              <a:t>THOUGHT </a:t>
            </a:r>
          </a:p>
          <a:p>
            <a:r>
              <a:rPr lang="en-GB" sz="3200" b="1" dirty="0">
                <a:solidFill>
                  <a:schemeClr val="bg1"/>
                </a:solidFill>
                <a:latin typeface="Bierstadt" panose="020B0604020202020204" pitchFamily="34" charset="0"/>
                <a:cs typeface="Aharoni" panose="02010803020104030203" pitchFamily="2" charset="-79"/>
              </a:rPr>
              <a:t>Balance or Bias? Parties, Privilege and BBC Question Time</a:t>
            </a:r>
          </a:p>
          <a:p>
            <a:r>
              <a:rPr lang="en-GB" sz="2400" b="1" dirty="0">
                <a:solidFill>
                  <a:schemeClr val="bg1"/>
                </a:solidFill>
                <a:latin typeface="Bierstadt" panose="020B0604020202020204" pitchFamily="34" charset="0"/>
                <a:cs typeface="Aharoni" panose="02010803020104030203" pitchFamily="2" charset="-79"/>
              </a:rPr>
              <a:t>with Dr BRIAN BOYLE</a:t>
            </a:r>
          </a:p>
          <a:p>
            <a:endParaRPr lang="en-GB" sz="2400" b="1" dirty="0">
              <a:solidFill>
                <a:schemeClr val="bg1"/>
              </a:solidFill>
              <a:latin typeface="Bierstadt" panose="020B0604020202020204" pitchFamily="34" charset="0"/>
              <a:cs typeface="Aharoni" panose="02010803020104030203" pitchFamily="2" charset="-79"/>
            </a:endParaRPr>
          </a:p>
          <a:p>
            <a:endParaRPr lang="en-GB" sz="2000" b="1" dirty="0">
              <a:solidFill>
                <a:schemeClr val="bg1"/>
              </a:solidFill>
              <a:latin typeface="Bierstadt" panose="020B0604020202020204" pitchFamily="34" charset="0"/>
              <a:cs typeface="Aharoni" panose="02010803020104030203" pitchFamily="2" charset="-79"/>
            </a:endParaRPr>
          </a:p>
          <a:p>
            <a:endParaRPr lang="en-GB" sz="2000" dirty="0">
              <a:solidFill>
                <a:schemeClr val="accent2">
                  <a:lumMod val="75000"/>
                </a:schemeClr>
              </a:solidFill>
              <a:latin typeface="Aharoni" panose="020B0604020202020204" pitchFamily="2" charset="-79"/>
              <a:cs typeface="Aharoni" panose="020B0604020202020204" pitchFamily="2" charset="-79"/>
            </a:endParaRPr>
          </a:p>
        </p:txBody>
      </p:sp>
      <p:sp>
        <p:nvSpPr>
          <p:cNvPr id="12" name="TextBox 11">
            <a:extLst>
              <a:ext uri="{FF2B5EF4-FFF2-40B4-BE49-F238E27FC236}">
                <a16:creationId xmlns:a16="http://schemas.microsoft.com/office/drawing/2014/main" id="{743EC7F9-6FAD-17FC-4D9C-6903688A8618}"/>
              </a:ext>
            </a:extLst>
          </p:cNvPr>
          <p:cNvSpPr txBox="1"/>
          <p:nvPr/>
        </p:nvSpPr>
        <p:spPr>
          <a:xfrm>
            <a:off x="522514" y="5117555"/>
            <a:ext cx="11287609" cy="1191181"/>
          </a:xfrm>
          <a:prstGeom prst="rect">
            <a:avLst/>
          </a:prstGeom>
          <a:noFill/>
        </p:spPr>
        <p:txBody>
          <a:bodyPr wrap="square" rtlCol="0">
            <a:spAutoFit/>
          </a:bodyPr>
          <a:lstStyle/>
          <a:p>
            <a:pPr marL="285750" indent="-285750">
              <a:buFont typeface="Arial" panose="020B0604020202020204" pitchFamily="34" charset="0"/>
              <a:buChar char="•"/>
            </a:pPr>
            <a:r>
              <a:rPr lang="en-GB" b="1" dirty="0">
                <a:solidFill>
                  <a:srgbClr val="FFC000"/>
                </a:solidFill>
                <a:latin typeface="Bierstadt" panose="020B0604020202020204" pitchFamily="34" charset="0"/>
                <a:cs typeface="Aharoni" panose="020B0604020202020204" pitchFamily="2" charset="-79"/>
              </a:rPr>
              <a:t>FREE FOOD </a:t>
            </a:r>
            <a:r>
              <a:rPr lang="en-GB" b="1" dirty="0">
                <a:solidFill>
                  <a:schemeClr val="bg1"/>
                </a:solidFill>
                <a:latin typeface="Bierstadt" panose="020B0604020202020204" pitchFamily="34" charset="0"/>
                <a:cs typeface="Aharoni" panose="020B0604020202020204" pitchFamily="2" charset="-79"/>
              </a:rPr>
              <a:t>&amp; </a:t>
            </a:r>
            <a:r>
              <a:rPr lang="en-GB" b="1" dirty="0">
                <a:solidFill>
                  <a:srgbClr val="FFC000"/>
                </a:solidFill>
                <a:latin typeface="Bierstadt" panose="020B0604020202020204" pitchFamily="34" charset="0"/>
                <a:cs typeface="Aharoni" panose="020B0604020202020204" pitchFamily="2" charset="-79"/>
              </a:rPr>
              <a:t>FREE THINKING</a:t>
            </a:r>
            <a:r>
              <a:rPr lang="en-GB" b="1" dirty="0">
                <a:solidFill>
                  <a:schemeClr val="bg1"/>
                </a:solidFill>
                <a:latin typeface="Bierstadt" panose="020B0604020202020204" pitchFamily="34" charset="0"/>
                <a:cs typeface="Aharoni" panose="020B0604020202020204" pitchFamily="2" charset="-79"/>
              </a:rPr>
              <a:t> – A CONVERSATION ABOUT GLOBAL EVENTS</a:t>
            </a:r>
          </a:p>
          <a:p>
            <a:pPr marL="285750" indent="-285750">
              <a:buFont typeface="Arial" panose="020B0604020202020204" pitchFamily="34" charset="0"/>
              <a:buChar char="•"/>
            </a:pPr>
            <a:r>
              <a:rPr lang="en-GB" b="1" dirty="0">
                <a:solidFill>
                  <a:schemeClr val="bg1"/>
                </a:solidFill>
                <a:latin typeface="Bierstadt" panose="020B0604020202020204" pitchFamily="34" charset="0"/>
                <a:cs typeface="Aharoni" panose="020B0604020202020204" pitchFamily="2" charset="-79"/>
              </a:rPr>
              <a:t>SANDWICHES, COFFEE, CAKE &amp; EXPERT ANALYSIS OF THE WEEK’S BIGGEST NEWS STORIES</a:t>
            </a:r>
          </a:p>
          <a:p>
            <a:pPr marL="285750" indent="-285750">
              <a:buFont typeface="Arial" panose="020B0604020202020204" pitchFamily="34" charset="0"/>
              <a:buChar char="•"/>
            </a:pPr>
            <a:r>
              <a:rPr lang="en-GB" b="1" dirty="0">
                <a:solidFill>
                  <a:schemeClr val="bg1"/>
                </a:solidFill>
                <a:latin typeface="Bierstadt" panose="020B0604020202020204" pitchFamily="34" charset="0"/>
                <a:cs typeface="Aharoni" panose="020B0604020202020204" pitchFamily="2" charset="-79"/>
              </a:rPr>
              <a:t>A DIFFERENT THEME EACH TIME</a:t>
            </a:r>
          </a:p>
          <a:p>
            <a:pPr marL="285750" indent="-285750">
              <a:buFont typeface="Arial" panose="020B0604020202020204" pitchFamily="34" charset="0"/>
              <a:buChar char="•"/>
            </a:pPr>
            <a:r>
              <a:rPr lang="en-GB" b="1" dirty="0">
                <a:solidFill>
                  <a:srgbClr val="FFC000"/>
                </a:solidFill>
                <a:latin typeface="Bierstadt" panose="020B0604020202020204" pitchFamily="34" charset="0"/>
                <a:cs typeface="Aharoni" panose="02010803020104030203" pitchFamily="2" charset="-79"/>
              </a:rPr>
              <a:t>WHEN AND WHERE: WEDNESDAY 6 MAY  4</a:t>
            </a:r>
            <a:r>
              <a:rPr lang="en-GB" b="1" baseline="30000" dirty="0">
                <a:solidFill>
                  <a:srgbClr val="FFC000"/>
                </a:solidFill>
                <a:latin typeface="Bierstadt" panose="020B0604020202020204" pitchFamily="34" charset="0"/>
                <a:cs typeface="Aharoni" panose="02010803020104030203" pitchFamily="2" charset="-79"/>
              </a:rPr>
              <a:t>TH</a:t>
            </a:r>
            <a:r>
              <a:rPr lang="en-GB" b="1" dirty="0">
                <a:solidFill>
                  <a:srgbClr val="FFC000"/>
                </a:solidFill>
                <a:latin typeface="Bierstadt" panose="020B0604020202020204" pitchFamily="34" charset="0"/>
                <a:cs typeface="Aharoni" panose="02010803020104030203" pitchFamily="2" charset="-79"/>
              </a:rPr>
              <a:t> FLOOR HDB, 12.15-12:45</a:t>
            </a:r>
            <a:endParaRPr lang="en-GB" b="1" dirty="0">
              <a:solidFill>
                <a:schemeClr val="bg1"/>
              </a:solidFill>
              <a:latin typeface="Bierstadt" panose="020B0604020202020204" pitchFamily="34" charset="0"/>
              <a:cs typeface="Aharoni" panose="02010803020104030203" pitchFamily="2" charset="-79"/>
            </a:endParaRPr>
          </a:p>
        </p:txBody>
      </p:sp>
      <p:sp>
        <p:nvSpPr>
          <p:cNvPr id="32" name="TextBox 31">
            <a:extLst>
              <a:ext uri="{FF2B5EF4-FFF2-40B4-BE49-F238E27FC236}">
                <a16:creationId xmlns:a16="http://schemas.microsoft.com/office/drawing/2014/main" id="{81E188AA-7C17-AFA2-2CBE-122E43C1133E}"/>
              </a:ext>
            </a:extLst>
          </p:cNvPr>
          <p:cNvSpPr txBox="1"/>
          <p:nvPr/>
        </p:nvSpPr>
        <p:spPr>
          <a:xfrm>
            <a:off x="6490607" y="408214"/>
            <a:ext cx="5589902" cy="369332"/>
          </a:xfrm>
          <a:prstGeom prst="rect">
            <a:avLst/>
          </a:prstGeom>
          <a:noFill/>
        </p:spPr>
        <p:txBody>
          <a:bodyPr wrap="square" rtlCol="0">
            <a:spAutoFit/>
          </a:bodyPr>
          <a:lstStyle/>
          <a:p>
            <a:pPr algn="ctr"/>
            <a:r>
              <a:rPr lang="en-GB" dirty="0">
                <a:solidFill>
                  <a:schemeClr val="bg1"/>
                </a:solidFill>
                <a:latin typeface="Aharoni" panose="02010803020104030203" pitchFamily="2" charset="-79"/>
                <a:cs typeface="Aharoni" panose="02010803020104030203" pitchFamily="2" charset="-79"/>
              </a:rPr>
              <a:t>NEWCASTLE POLITICS DEPARTMENT PRESENTS</a:t>
            </a:r>
            <a:r>
              <a:rPr lang="en-GB" dirty="0"/>
              <a:t>:</a:t>
            </a:r>
          </a:p>
        </p:txBody>
      </p:sp>
      <p:pic>
        <p:nvPicPr>
          <p:cNvPr id="4" name="Picture 3">
            <a:extLst>
              <a:ext uri="{FF2B5EF4-FFF2-40B4-BE49-F238E27FC236}">
                <a16:creationId xmlns:a16="http://schemas.microsoft.com/office/drawing/2014/main" id="{8C1E6EF1-30A2-54B7-33B1-C3FE19D83B8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0933" y="2618453"/>
            <a:ext cx="4035963" cy="2485122"/>
          </a:xfrm>
          <a:prstGeom prst="rect">
            <a:avLst/>
          </a:prstGeom>
        </p:spPr>
      </p:pic>
      <p:pic>
        <p:nvPicPr>
          <p:cNvPr id="7" name="Picture 6">
            <a:extLst>
              <a:ext uri="{FF2B5EF4-FFF2-40B4-BE49-F238E27FC236}">
                <a16:creationId xmlns:a16="http://schemas.microsoft.com/office/drawing/2014/main" id="{B839D0E3-AB67-CD8D-7081-3252609E2DA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056896" y="2599895"/>
            <a:ext cx="4239777" cy="2498847"/>
          </a:xfrm>
          <a:prstGeom prst="rect">
            <a:avLst/>
          </a:prstGeom>
        </p:spPr>
      </p:pic>
      <p:pic>
        <p:nvPicPr>
          <p:cNvPr id="8" name="Picture 7">
            <a:extLst>
              <a:ext uri="{FF2B5EF4-FFF2-40B4-BE49-F238E27FC236}">
                <a16:creationId xmlns:a16="http://schemas.microsoft.com/office/drawing/2014/main" id="{F1AF7E6D-3D1F-93A9-5023-62B5919A82D9}"/>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8272684" y="2599896"/>
            <a:ext cx="3919315" cy="2498847"/>
          </a:xfrm>
          <a:prstGeom prst="rect">
            <a:avLst/>
          </a:prstGeom>
        </p:spPr>
      </p:pic>
      <p:sp>
        <p:nvSpPr>
          <p:cNvPr id="2" name="Slide Number Placeholder 1">
            <a:extLst>
              <a:ext uri="{FF2B5EF4-FFF2-40B4-BE49-F238E27FC236}">
                <a16:creationId xmlns:a16="http://schemas.microsoft.com/office/drawing/2014/main" id="{8DE587B3-2889-48E0-34DD-0217F5C5E0F0}"/>
              </a:ext>
            </a:extLst>
          </p:cNvPr>
          <p:cNvSpPr>
            <a:spLocks noGrp="1"/>
          </p:cNvSpPr>
          <p:nvPr>
            <p:ph type="sldNum" sz="quarter" idx="12"/>
          </p:nvPr>
        </p:nvSpPr>
        <p:spPr/>
        <p:txBody>
          <a:bodyPr/>
          <a:lstStyle/>
          <a:p>
            <a:fld id="{372769DB-CAE7-4C85-A9AF-7D4D8DE4CA22}" type="slidenum">
              <a:rPr lang="en-GB" smtClean="0"/>
              <a:t>2</a:t>
            </a:fld>
            <a:endParaRPr lang="en-GB" dirty="0"/>
          </a:p>
        </p:txBody>
      </p:sp>
    </p:spTree>
    <p:extLst>
      <p:ext uri="{BB962C8B-B14F-4D97-AF65-F5344CB8AC3E}">
        <p14:creationId xmlns:p14="http://schemas.microsoft.com/office/powerpoint/2010/main" val="16080171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8E25E56-496A-D282-5E57-BB1A16332F32}"/>
              </a:ext>
            </a:extLst>
          </p:cNvPr>
          <p:cNvSpPr>
            <a:spLocks noGrp="1"/>
          </p:cNvSpPr>
          <p:nvPr>
            <p:ph type="sldNum" sz="quarter" idx="12"/>
          </p:nvPr>
        </p:nvSpPr>
        <p:spPr/>
        <p:txBody>
          <a:bodyPr/>
          <a:lstStyle/>
          <a:p>
            <a:fld id="{372769DB-CAE7-4C85-A9AF-7D4D8DE4CA22}" type="slidenum">
              <a:rPr lang="en-GB" smtClean="0"/>
              <a:t>3</a:t>
            </a:fld>
            <a:endParaRPr lang="en-GB" dirty="0"/>
          </a:p>
        </p:txBody>
      </p:sp>
      <p:pic>
        <p:nvPicPr>
          <p:cNvPr id="1026" name="Picture 2">
            <a:extLst>
              <a:ext uri="{FF2B5EF4-FFF2-40B4-BE49-F238E27FC236}">
                <a16:creationId xmlns:a16="http://schemas.microsoft.com/office/drawing/2014/main" id="{2DEBEEF7-0E73-F2F6-510C-050DD1A62D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5737" y="136526"/>
            <a:ext cx="8334703" cy="6690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808517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E8E0D2A-BC05-1C32-2E6D-ABCAD5B1D927}"/>
              </a:ext>
            </a:extLst>
          </p:cNvPr>
          <p:cNvSpPr>
            <a:spLocks noGrp="1"/>
          </p:cNvSpPr>
          <p:nvPr>
            <p:ph type="sldNum" sz="quarter" idx="12"/>
          </p:nvPr>
        </p:nvSpPr>
        <p:spPr/>
        <p:txBody>
          <a:bodyPr/>
          <a:lstStyle/>
          <a:p>
            <a:fld id="{372769DB-CAE7-4C85-A9AF-7D4D8DE4CA22}" type="slidenum">
              <a:rPr lang="en-GB" smtClean="0"/>
              <a:t>4</a:t>
            </a:fld>
            <a:endParaRPr lang="en-GB" dirty="0"/>
          </a:p>
        </p:txBody>
      </p:sp>
      <p:sp>
        <p:nvSpPr>
          <p:cNvPr id="3" name="Rectangle 2">
            <a:extLst>
              <a:ext uri="{FF2B5EF4-FFF2-40B4-BE49-F238E27FC236}">
                <a16:creationId xmlns:a16="http://schemas.microsoft.com/office/drawing/2014/main" id="{72F0E5BD-212D-7DDC-80EA-AAA21EAEBF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01" y="-2"/>
            <a:ext cx="4069936" cy="685800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432BAB87-0113-5A53-0119-76D4840DBB66}"/>
              </a:ext>
            </a:extLst>
          </p:cNvPr>
          <p:cNvSpPr txBox="1">
            <a:spLocks/>
          </p:cNvSpPr>
          <p:nvPr/>
        </p:nvSpPr>
        <p:spPr>
          <a:xfrm>
            <a:off x="310039" y="640080"/>
            <a:ext cx="3429855" cy="5613236"/>
          </a:xfrm>
          <a:prstGeom prst="rect">
            <a:avLst/>
          </a:prstGeom>
        </p:spPr>
        <p:txBody>
          <a:bodyPr anchor="ctr">
            <a:normAutofit/>
          </a:bodyPr>
          <a:lstStyle>
            <a:lvl1pPr algn="l" defTabSz="914400" rtl="0" eaLnBrk="1" latinLnBrk="0" hangingPunct="1">
              <a:lnSpc>
                <a:spcPct val="90000"/>
              </a:lnSpc>
              <a:spcBef>
                <a:spcPct val="0"/>
              </a:spcBef>
              <a:buNone/>
              <a:defRPr sz="6000" kern="1200">
                <a:solidFill>
                  <a:schemeClr val="bg1"/>
                </a:solidFill>
                <a:latin typeface="Franklin Gothic Demi" panose="020B0703020102020204" pitchFamily="34" charset="0"/>
                <a:ea typeface="+mj-ea"/>
                <a:cs typeface="+mj-cs"/>
              </a:defRPr>
            </a:lvl1pPr>
          </a:lstStyle>
          <a:p>
            <a:r>
              <a:rPr lang="en-GB" sz="4400" dirty="0">
                <a:solidFill>
                  <a:srgbClr val="FFFFFF"/>
                </a:solidFill>
              </a:rPr>
              <a:t>Sign up to become a Politics peer-mentor!!</a:t>
            </a:r>
          </a:p>
        </p:txBody>
      </p:sp>
      <p:sp>
        <p:nvSpPr>
          <p:cNvPr id="5" name="Content Placeholder 2">
            <a:extLst>
              <a:ext uri="{FF2B5EF4-FFF2-40B4-BE49-F238E27FC236}">
                <a16:creationId xmlns:a16="http://schemas.microsoft.com/office/drawing/2014/main" id="{A72DD5C9-F64E-8204-AA0E-7CFF28CF209C}"/>
              </a:ext>
            </a:extLst>
          </p:cNvPr>
          <p:cNvSpPr txBox="1">
            <a:spLocks/>
          </p:cNvSpPr>
          <p:nvPr/>
        </p:nvSpPr>
        <p:spPr>
          <a:xfrm>
            <a:off x="4253023" y="640080"/>
            <a:ext cx="7618933" cy="3745107"/>
          </a:xfrm>
          <a:prstGeom prst="rect">
            <a:avLst/>
          </a:prstGeom>
        </p:spPr>
        <p:txBody>
          <a:bodyPr>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40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2800" b="1"/>
              <a:t>Why become a Peer Mentor?</a:t>
            </a:r>
          </a:p>
          <a:p>
            <a:r>
              <a:rPr lang="en-GB" sz="2600"/>
              <a:t>a great opportunity to</a:t>
            </a:r>
            <a:r>
              <a:rPr lang="en-GB" sz="2600" b="1"/>
              <a:t> support</a:t>
            </a:r>
            <a:r>
              <a:rPr lang="en-GB" sz="2600"/>
              <a:t> first year students and </a:t>
            </a:r>
            <a:r>
              <a:rPr lang="en-GB" sz="2600" b="1"/>
              <a:t>share your knowledge</a:t>
            </a:r>
            <a:r>
              <a:rPr lang="en-GB" sz="2600"/>
              <a:t>!</a:t>
            </a:r>
          </a:p>
          <a:p>
            <a:r>
              <a:rPr lang="en-GB" sz="2600"/>
              <a:t>Enhance your </a:t>
            </a:r>
            <a:r>
              <a:rPr lang="en-GB" sz="2600" b="1"/>
              <a:t>personal and employability skills, CV.</a:t>
            </a:r>
          </a:p>
          <a:p>
            <a:pPr marL="0" indent="0">
              <a:buFont typeface="Arial" panose="020B0604020202020204" pitchFamily="34" charset="0"/>
              <a:buNone/>
            </a:pPr>
            <a:r>
              <a:rPr lang="en-GB" sz="2600" b="1"/>
              <a:t>Main commitments: </a:t>
            </a:r>
            <a:r>
              <a:rPr lang="en-GB" sz="2600"/>
              <a:t>short online training, meeting with mentees during induction week Sep 2026.</a:t>
            </a:r>
            <a:endParaRPr lang="en-GB" sz="2600" b="1"/>
          </a:p>
          <a:p>
            <a:pPr marL="0" indent="0">
              <a:buFont typeface="Arial" panose="020B0604020202020204" pitchFamily="34" charset="0"/>
              <a:buNone/>
            </a:pPr>
            <a:r>
              <a:rPr lang="en-GB" sz="2600" b="1" u="sng"/>
              <a:t>SIGN UP via the QR code </a:t>
            </a:r>
            <a:r>
              <a:rPr lang="en-GB" sz="2600"/>
              <a:t>or via </a:t>
            </a:r>
            <a:r>
              <a:rPr lang="en-GB" sz="2600">
                <a:hlinkClick r:id="rId2"/>
              </a:rPr>
              <a:t>https://www.ncl.ac.uk/library/resources-and-study-support/peer-mentoring/</a:t>
            </a:r>
            <a:r>
              <a:rPr lang="en-GB" sz="2600"/>
              <a:t> (more info on the website)</a:t>
            </a:r>
            <a:endParaRPr lang="en-GB" sz="2600" dirty="0"/>
          </a:p>
        </p:txBody>
      </p:sp>
      <p:pic>
        <p:nvPicPr>
          <p:cNvPr id="6" name="Picture 5">
            <a:extLst>
              <a:ext uri="{FF2B5EF4-FFF2-40B4-BE49-F238E27FC236}">
                <a16:creationId xmlns:a16="http://schemas.microsoft.com/office/drawing/2014/main" id="{88CEA129-8468-4D5D-EDCD-2375D64C30BC}"/>
              </a:ext>
            </a:extLst>
          </p:cNvPr>
          <p:cNvPicPr>
            <a:picLocks noChangeAspect="1"/>
          </p:cNvPicPr>
          <p:nvPr/>
        </p:nvPicPr>
        <p:blipFill>
          <a:blip r:embed="rId3"/>
          <a:stretch>
            <a:fillRect/>
          </a:stretch>
        </p:blipFill>
        <p:spPr>
          <a:xfrm>
            <a:off x="4253023" y="4212562"/>
            <a:ext cx="2530322" cy="2523849"/>
          </a:xfrm>
          <a:prstGeom prst="rect">
            <a:avLst/>
          </a:prstGeom>
        </p:spPr>
      </p:pic>
      <p:sp>
        <p:nvSpPr>
          <p:cNvPr id="7" name="TextBox 6">
            <a:extLst>
              <a:ext uri="{FF2B5EF4-FFF2-40B4-BE49-F238E27FC236}">
                <a16:creationId xmlns:a16="http://schemas.microsoft.com/office/drawing/2014/main" id="{83436A5D-8882-1814-2214-96652505A421}"/>
              </a:ext>
            </a:extLst>
          </p:cNvPr>
          <p:cNvSpPr txBox="1"/>
          <p:nvPr/>
        </p:nvSpPr>
        <p:spPr>
          <a:xfrm>
            <a:off x="7091915" y="4667694"/>
            <a:ext cx="4780041" cy="1477328"/>
          </a:xfrm>
          <a:prstGeom prst="rect">
            <a:avLst/>
          </a:prstGeom>
          <a:noFill/>
        </p:spPr>
        <p:txBody>
          <a:bodyPr wrap="square" rtlCol="0">
            <a:spAutoFit/>
          </a:bodyPr>
          <a:lstStyle/>
          <a:p>
            <a:r>
              <a:rPr lang="en-GB" sz="2400" dirty="0"/>
              <a:t>Any questions? Contact: Hanna </a:t>
            </a:r>
          </a:p>
          <a:p>
            <a:r>
              <a:rPr lang="en-GB" sz="2400" dirty="0"/>
              <a:t>(Peer mentor coordinator for Politics) hanna.ketola@newcastle.ac.uk</a:t>
            </a:r>
          </a:p>
          <a:p>
            <a:endParaRPr lang="en-GB" dirty="0"/>
          </a:p>
        </p:txBody>
      </p:sp>
    </p:spTree>
    <p:extLst>
      <p:ext uri="{BB962C8B-B14F-4D97-AF65-F5344CB8AC3E}">
        <p14:creationId xmlns:p14="http://schemas.microsoft.com/office/powerpoint/2010/main" val="182780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BC6CE28-9627-090E-E25C-208C0CA3148D}"/>
              </a:ext>
            </a:extLst>
          </p:cNvPr>
          <p:cNvSpPr/>
          <p:nvPr/>
        </p:nvSpPr>
        <p:spPr>
          <a:xfrm>
            <a:off x="0" y="0"/>
            <a:ext cx="12192000" cy="1154096"/>
          </a:xfrm>
          <a:prstGeom prst="rect">
            <a:avLst/>
          </a:prstGeom>
          <a:solidFill>
            <a:srgbClr val="01A08A"/>
          </a:solidFill>
          <a:ln>
            <a:solidFill>
              <a:srgbClr val="01A0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AAF829ED-A900-4F1F-CE76-D4CD7E8B9016}"/>
              </a:ext>
            </a:extLst>
          </p:cNvPr>
          <p:cNvSpPr>
            <a:spLocks noGrp="1"/>
          </p:cNvSpPr>
          <p:nvPr>
            <p:ph type="title"/>
          </p:nvPr>
        </p:nvSpPr>
        <p:spPr/>
        <p:txBody>
          <a:bodyPr/>
          <a:lstStyle/>
          <a:p>
            <a:r>
              <a:rPr lang="en-GB" dirty="0"/>
              <a:t>Recap</a:t>
            </a:r>
          </a:p>
        </p:txBody>
      </p:sp>
      <p:sp>
        <p:nvSpPr>
          <p:cNvPr id="3" name="Content Placeholder 2">
            <a:extLst>
              <a:ext uri="{FF2B5EF4-FFF2-40B4-BE49-F238E27FC236}">
                <a16:creationId xmlns:a16="http://schemas.microsoft.com/office/drawing/2014/main" id="{2474AEB9-DDBA-50B4-DF19-D66664425378}"/>
              </a:ext>
            </a:extLst>
          </p:cNvPr>
          <p:cNvSpPr>
            <a:spLocks noGrp="1"/>
          </p:cNvSpPr>
          <p:nvPr>
            <p:ph idx="1"/>
          </p:nvPr>
        </p:nvSpPr>
        <p:spPr>
          <a:xfrm>
            <a:off x="584965" y="1574287"/>
            <a:ext cx="8247749" cy="4789187"/>
          </a:xfrm>
        </p:spPr>
        <p:txBody>
          <a:bodyPr>
            <a:normAutofit/>
          </a:bodyPr>
          <a:lstStyle/>
          <a:p>
            <a:pPr marL="0" indent="0">
              <a:buNone/>
            </a:pPr>
            <a:r>
              <a:rPr lang="en-GB" sz="3600" b="1" dirty="0"/>
              <a:t>Content analysis part 1</a:t>
            </a:r>
          </a:p>
          <a:p>
            <a:r>
              <a:rPr lang="en-GB" sz="3600" dirty="0"/>
              <a:t>What is content analysis?</a:t>
            </a:r>
          </a:p>
          <a:p>
            <a:r>
              <a:rPr lang="en-GB" sz="3600" dirty="0"/>
              <a:t>Types of content analysis</a:t>
            </a:r>
          </a:p>
          <a:p>
            <a:r>
              <a:rPr lang="en-GB" sz="3600" dirty="0"/>
              <a:t>Case selection</a:t>
            </a:r>
          </a:p>
          <a:p>
            <a:r>
              <a:rPr lang="en-GB" sz="3600" dirty="0"/>
              <a:t>Labelling content categories</a:t>
            </a:r>
          </a:p>
          <a:p>
            <a:r>
              <a:rPr lang="en-GB" sz="3600" dirty="0"/>
              <a:t>Finding data</a:t>
            </a:r>
          </a:p>
          <a:p>
            <a:endParaRPr lang="en-GB" sz="3600" dirty="0"/>
          </a:p>
        </p:txBody>
      </p:sp>
      <p:sp>
        <p:nvSpPr>
          <p:cNvPr id="5" name="Slide Number Placeholder 4">
            <a:extLst>
              <a:ext uri="{FF2B5EF4-FFF2-40B4-BE49-F238E27FC236}">
                <a16:creationId xmlns:a16="http://schemas.microsoft.com/office/drawing/2014/main" id="{A633363A-9297-622C-BDB2-C0D07106F406}"/>
              </a:ext>
            </a:extLst>
          </p:cNvPr>
          <p:cNvSpPr>
            <a:spLocks noGrp="1"/>
          </p:cNvSpPr>
          <p:nvPr>
            <p:ph type="sldNum" sz="quarter" idx="12"/>
          </p:nvPr>
        </p:nvSpPr>
        <p:spPr/>
        <p:txBody>
          <a:bodyPr/>
          <a:lstStyle/>
          <a:p>
            <a:fld id="{372769DB-CAE7-4C85-A9AF-7D4D8DE4CA22}" type="slidenum">
              <a:rPr lang="en-GB" smtClean="0"/>
              <a:t>5</a:t>
            </a:fld>
            <a:endParaRPr lang="en-GB" dirty="0"/>
          </a:p>
        </p:txBody>
      </p:sp>
    </p:spTree>
    <p:extLst>
      <p:ext uri="{BB962C8B-B14F-4D97-AF65-F5344CB8AC3E}">
        <p14:creationId xmlns:p14="http://schemas.microsoft.com/office/powerpoint/2010/main" val="41841473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2E3D8E2-1B12-5149-ADEC-DBCEE5A8985C}"/>
              </a:ext>
            </a:extLst>
          </p:cNvPr>
          <p:cNvSpPr/>
          <p:nvPr/>
        </p:nvSpPr>
        <p:spPr>
          <a:xfrm>
            <a:off x="0" y="0"/>
            <a:ext cx="12192000" cy="1154096"/>
          </a:xfrm>
          <a:prstGeom prst="rect">
            <a:avLst/>
          </a:prstGeom>
          <a:solidFill>
            <a:srgbClr val="01A08A"/>
          </a:solidFill>
          <a:ln>
            <a:solidFill>
              <a:srgbClr val="01A0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1642F5D2-C37D-54A4-505A-36E2D48F5EA9}"/>
              </a:ext>
            </a:extLst>
          </p:cNvPr>
          <p:cNvSpPr>
            <a:spLocks noGrp="1"/>
          </p:cNvSpPr>
          <p:nvPr>
            <p:ph type="title"/>
          </p:nvPr>
        </p:nvSpPr>
        <p:spPr/>
        <p:txBody>
          <a:bodyPr/>
          <a:lstStyle/>
          <a:p>
            <a:r>
              <a:rPr lang="en-GB" dirty="0"/>
              <a:t>What is content analysis</a:t>
            </a:r>
          </a:p>
        </p:txBody>
      </p:sp>
      <p:sp>
        <p:nvSpPr>
          <p:cNvPr id="3" name="Content Placeholder 2">
            <a:extLst>
              <a:ext uri="{FF2B5EF4-FFF2-40B4-BE49-F238E27FC236}">
                <a16:creationId xmlns:a16="http://schemas.microsoft.com/office/drawing/2014/main" id="{DE913A29-97D8-7B73-3BED-7FDB9EA9D897}"/>
              </a:ext>
            </a:extLst>
          </p:cNvPr>
          <p:cNvSpPr>
            <a:spLocks noGrp="1"/>
          </p:cNvSpPr>
          <p:nvPr>
            <p:ph idx="1"/>
          </p:nvPr>
        </p:nvSpPr>
        <p:spPr>
          <a:xfrm>
            <a:off x="506027" y="1629744"/>
            <a:ext cx="11519482" cy="4351338"/>
          </a:xfrm>
        </p:spPr>
        <p:txBody>
          <a:bodyPr>
            <a:normAutofit fontScale="92500" lnSpcReduction="10000"/>
          </a:bodyPr>
          <a:lstStyle/>
          <a:p>
            <a:pPr marL="0" indent="0">
              <a:buNone/>
            </a:pPr>
            <a:r>
              <a:rPr lang="en-GB" sz="3600" b="1" dirty="0"/>
              <a:t>Content analysis:</a:t>
            </a:r>
          </a:p>
          <a:p>
            <a:r>
              <a:rPr lang="en-GB" sz="3600" dirty="0"/>
              <a:t>Systematic analysis of texts or other media</a:t>
            </a:r>
          </a:p>
          <a:p>
            <a:r>
              <a:rPr lang="en-GB" sz="3600" dirty="0"/>
              <a:t>Can analyse a wide variety of documents</a:t>
            </a:r>
          </a:p>
          <a:p>
            <a:r>
              <a:rPr lang="en-GB" sz="3600" dirty="0"/>
              <a:t>Across huge range of issues</a:t>
            </a:r>
          </a:p>
          <a:p>
            <a:endParaRPr lang="en-GB" sz="3600" dirty="0"/>
          </a:p>
          <a:p>
            <a:r>
              <a:rPr lang="en-GB" sz="3600" dirty="0"/>
              <a:t>Unobtrusive method of data collection</a:t>
            </a:r>
          </a:p>
          <a:p>
            <a:r>
              <a:rPr lang="en-GB" sz="3600" dirty="0"/>
              <a:t>Can examine otherwise inaccessible subjects</a:t>
            </a:r>
          </a:p>
          <a:p>
            <a:r>
              <a:rPr lang="en-GB" sz="3600" dirty="0"/>
              <a:t>Can’t explore subsequent effects of the content</a:t>
            </a:r>
          </a:p>
        </p:txBody>
      </p:sp>
      <p:sp>
        <p:nvSpPr>
          <p:cNvPr id="5" name="Slide Number Placeholder 4">
            <a:extLst>
              <a:ext uri="{FF2B5EF4-FFF2-40B4-BE49-F238E27FC236}">
                <a16:creationId xmlns:a16="http://schemas.microsoft.com/office/drawing/2014/main" id="{6FF8CA63-6E84-3586-BD74-C8216D96D305}"/>
              </a:ext>
            </a:extLst>
          </p:cNvPr>
          <p:cNvSpPr>
            <a:spLocks noGrp="1"/>
          </p:cNvSpPr>
          <p:nvPr>
            <p:ph type="sldNum" sz="quarter" idx="12"/>
          </p:nvPr>
        </p:nvSpPr>
        <p:spPr/>
        <p:txBody>
          <a:bodyPr/>
          <a:lstStyle/>
          <a:p>
            <a:fld id="{372769DB-CAE7-4C85-A9AF-7D4D8DE4CA22}" type="slidenum">
              <a:rPr lang="en-GB" smtClean="0"/>
              <a:t>6</a:t>
            </a:fld>
            <a:endParaRPr lang="en-GB" dirty="0"/>
          </a:p>
        </p:txBody>
      </p:sp>
    </p:spTree>
    <p:extLst>
      <p:ext uri="{BB962C8B-B14F-4D97-AF65-F5344CB8AC3E}">
        <p14:creationId xmlns:p14="http://schemas.microsoft.com/office/powerpoint/2010/main" val="3572552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23A3F18-0661-F2FF-1EDB-4A98A4355109}"/>
              </a:ext>
            </a:extLst>
          </p:cNvPr>
          <p:cNvSpPr/>
          <p:nvPr/>
        </p:nvSpPr>
        <p:spPr>
          <a:xfrm>
            <a:off x="0" y="0"/>
            <a:ext cx="12192000" cy="1154096"/>
          </a:xfrm>
          <a:prstGeom prst="rect">
            <a:avLst/>
          </a:prstGeom>
          <a:solidFill>
            <a:srgbClr val="01A08A"/>
          </a:solidFill>
          <a:ln>
            <a:solidFill>
              <a:srgbClr val="01A0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1642F5D2-C37D-54A4-505A-36E2D48F5EA9}"/>
              </a:ext>
            </a:extLst>
          </p:cNvPr>
          <p:cNvSpPr>
            <a:spLocks noGrp="1"/>
          </p:cNvSpPr>
          <p:nvPr>
            <p:ph type="title"/>
          </p:nvPr>
        </p:nvSpPr>
        <p:spPr/>
        <p:txBody>
          <a:bodyPr/>
          <a:lstStyle/>
          <a:p>
            <a:r>
              <a:rPr lang="en-GB" dirty="0"/>
              <a:t>Types of content analysis</a:t>
            </a:r>
          </a:p>
        </p:txBody>
      </p:sp>
      <p:sp>
        <p:nvSpPr>
          <p:cNvPr id="3" name="Content Placeholder 2">
            <a:extLst>
              <a:ext uri="{FF2B5EF4-FFF2-40B4-BE49-F238E27FC236}">
                <a16:creationId xmlns:a16="http://schemas.microsoft.com/office/drawing/2014/main" id="{DE913A29-97D8-7B73-3BED-7FDB9EA9D897}"/>
              </a:ext>
            </a:extLst>
          </p:cNvPr>
          <p:cNvSpPr>
            <a:spLocks noGrp="1"/>
          </p:cNvSpPr>
          <p:nvPr>
            <p:ph idx="1"/>
          </p:nvPr>
        </p:nvSpPr>
        <p:spPr>
          <a:xfrm>
            <a:off x="838200" y="1629744"/>
            <a:ext cx="4414520" cy="4351338"/>
          </a:xfrm>
        </p:spPr>
        <p:txBody>
          <a:bodyPr/>
          <a:lstStyle/>
          <a:p>
            <a:pPr marL="0" indent="0">
              <a:buNone/>
            </a:pPr>
            <a:r>
              <a:rPr lang="en-GB" b="1" dirty="0"/>
              <a:t>Quantitative</a:t>
            </a:r>
          </a:p>
          <a:p>
            <a:r>
              <a:rPr lang="en-GB" dirty="0"/>
              <a:t>Positivism</a:t>
            </a:r>
          </a:p>
          <a:p>
            <a:r>
              <a:rPr lang="en-GB" dirty="0"/>
              <a:t>Validity, reliability</a:t>
            </a:r>
          </a:p>
          <a:p>
            <a:r>
              <a:rPr lang="en-GB" dirty="0"/>
              <a:t>Manifest content</a:t>
            </a:r>
          </a:p>
          <a:p>
            <a:endParaRPr lang="en-GB" dirty="0"/>
          </a:p>
        </p:txBody>
      </p:sp>
      <p:sp>
        <p:nvSpPr>
          <p:cNvPr id="5" name="Slide Number Placeholder 4">
            <a:extLst>
              <a:ext uri="{FF2B5EF4-FFF2-40B4-BE49-F238E27FC236}">
                <a16:creationId xmlns:a16="http://schemas.microsoft.com/office/drawing/2014/main" id="{6FF8CA63-6E84-3586-BD74-C8216D96D305}"/>
              </a:ext>
            </a:extLst>
          </p:cNvPr>
          <p:cNvSpPr>
            <a:spLocks noGrp="1"/>
          </p:cNvSpPr>
          <p:nvPr>
            <p:ph type="sldNum" sz="quarter" idx="12"/>
          </p:nvPr>
        </p:nvSpPr>
        <p:spPr/>
        <p:txBody>
          <a:bodyPr/>
          <a:lstStyle/>
          <a:p>
            <a:fld id="{372769DB-CAE7-4C85-A9AF-7D4D8DE4CA22}" type="slidenum">
              <a:rPr lang="en-GB" smtClean="0"/>
              <a:t>7</a:t>
            </a:fld>
            <a:endParaRPr lang="en-GB" dirty="0"/>
          </a:p>
        </p:txBody>
      </p:sp>
      <p:sp>
        <p:nvSpPr>
          <p:cNvPr id="7" name="TextBox 6">
            <a:extLst>
              <a:ext uri="{FF2B5EF4-FFF2-40B4-BE49-F238E27FC236}">
                <a16:creationId xmlns:a16="http://schemas.microsoft.com/office/drawing/2014/main" id="{C9B73CF0-3961-FCA6-46A3-4A82C94467B4}"/>
              </a:ext>
            </a:extLst>
          </p:cNvPr>
          <p:cNvSpPr txBox="1"/>
          <p:nvPr/>
        </p:nvSpPr>
        <p:spPr>
          <a:xfrm>
            <a:off x="5678170" y="1539875"/>
            <a:ext cx="6101080" cy="3170099"/>
          </a:xfrm>
          <a:prstGeom prst="rect">
            <a:avLst/>
          </a:prstGeom>
          <a:noFill/>
        </p:spPr>
        <p:txBody>
          <a:bodyPr wrap="square">
            <a:spAutoFit/>
          </a:bodyPr>
          <a:lstStyle/>
          <a:p>
            <a:pPr marL="0" indent="0">
              <a:buNone/>
            </a:pPr>
            <a:r>
              <a:rPr lang="en-GB" sz="4000" b="1" dirty="0">
                <a:latin typeface="Gill Sans MT" panose="020B0502020104020203" pitchFamily="34" charset="0"/>
              </a:rPr>
              <a:t>Qualitative</a:t>
            </a:r>
          </a:p>
          <a:p>
            <a:pPr marL="571500" indent="-571500">
              <a:buFont typeface="Arial" panose="020B0604020202020204" pitchFamily="34" charset="0"/>
              <a:buChar char="•"/>
            </a:pPr>
            <a:r>
              <a:rPr lang="en-GB" sz="4000" dirty="0">
                <a:latin typeface="Gill Sans MT" panose="020B0502020104020203" pitchFamily="34" charset="0"/>
              </a:rPr>
              <a:t>Interpretivism</a:t>
            </a:r>
          </a:p>
          <a:p>
            <a:pPr marL="571500" indent="-571500">
              <a:buFont typeface="Arial" panose="020B0604020202020204" pitchFamily="34" charset="0"/>
              <a:buChar char="•"/>
            </a:pPr>
            <a:r>
              <a:rPr lang="en-GB" sz="4000" dirty="0">
                <a:latin typeface="Gill Sans MT" panose="020B0502020104020203" pitchFamily="34" charset="0"/>
              </a:rPr>
              <a:t>Plausibility</a:t>
            </a:r>
          </a:p>
          <a:p>
            <a:pPr marL="571500" indent="-571500">
              <a:buFont typeface="Arial" panose="020B0604020202020204" pitchFamily="34" charset="0"/>
              <a:buChar char="•"/>
            </a:pPr>
            <a:r>
              <a:rPr lang="en-GB" sz="4000" dirty="0">
                <a:latin typeface="Gill Sans MT" panose="020B0502020104020203" pitchFamily="34" charset="0"/>
              </a:rPr>
              <a:t>Latent content</a:t>
            </a:r>
          </a:p>
          <a:p>
            <a:pPr marL="0" indent="0">
              <a:buNone/>
            </a:pPr>
            <a:endParaRPr lang="en-GB" sz="4000" dirty="0">
              <a:latin typeface="Gill Sans MT" panose="020B0502020104020203" pitchFamily="34" charset="0"/>
            </a:endParaRPr>
          </a:p>
        </p:txBody>
      </p:sp>
      <p:sp>
        <p:nvSpPr>
          <p:cNvPr id="6" name="TextBox 5">
            <a:extLst>
              <a:ext uri="{FF2B5EF4-FFF2-40B4-BE49-F238E27FC236}">
                <a16:creationId xmlns:a16="http://schemas.microsoft.com/office/drawing/2014/main" id="{2EE420CA-3D82-21C0-B33F-BA6AF97B85B3}"/>
              </a:ext>
            </a:extLst>
          </p:cNvPr>
          <p:cNvSpPr txBox="1"/>
          <p:nvPr/>
        </p:nvSpPr>
        <p:spPr>
          <a:xfrm>
            <a:off x="838200" y="5002496"/>
            <a:ext cx="10683943" cy="1323439"/>
          </a:xfrm>
          <a:prstGeom prst="rect">
            <a:avLst/>
          </a:prstGeom>
          <a:noFill/>
        </p:spPr>
        <p:txBody>
          <a:bodyPr wrap="square">
            <a:spAutoFit/>
          </a:bodyPr>
          <a:lstStyle/>
          <a:p>
            <a:pPr marL="0" indent="0">
              <a:buNone/>
            </a:pPr>
            <a:r>
              <a:rPr lang="en-GB" sz="4000" b="1" dirty="0">
                <a:latin typeface="Gill Sans MT" panose="020B0502020104020203" pitchFamily="34" charset="0"/>
              </a:rPr>
              <a:t>Inductive </a:t>
            </a:r>
            <a:r>
              <a:rPr lang="en-GB" sz="4000" dirty="0">
                <a:latin typeface="Gill Sans MT" panose="020B0502020104020203" pitchFamily="34" charset="0"/>
              </a:rPr>
              <a:t>and</a:t>
            </a:r>
            <a:r>
              <a:rPr lang="en-GB" sz="4000" b="1" dirty="0">
                <a:latin typeface="Gill Sans MT" panose="020B0502020104020203" pitchFamily="34" charset="0"/>
              </a:rPr>
              <a:t> deductive </a:t>
            </a:r>
            <a:r>
              <a:rPr lang="en-GB" sz="4000" dirty="0">
                <a:latin typeface="Gill Sans MT" panose="020B0502020104020203" pitchFamily="34" charset="0"/>
              </a:rPr>
              <a:t>approaches</a:t>
            </a:r>
          </a:p>
          <a:p>
            <a:pPr marL="0" indent="0">
              <a:buNone/>
            </a:pPr>
            <a:endParaRPr lang="en-GB" sz="4000" dirty="0">
              <a:latin typeface="Gill Sans MT" panose="020B0502020104020203" pitchFamily="34" charset="0"/>
            </a:endParaRPr>
          </a:p>
        </p:txBody>
      </p:sp>
    </p:spTree>
    <p:extLst>
      <p:ext uri="{BB962C8B-B14F-4D97-AF65-F5344CB8AC3E}">
        <p14:creationId xmlns:p14="http://schemas.microsoft.com/office/powerpoint/2010/main" val="23385443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39E7345-401D-2A69-10BE-1C9FEE512161}"/>
              </a:ext>
            </a:extLst>
          </p:cNvPr>
          <p:cNvSpPr/>
          <p:nvPr/>
        </p:nvSpPr>
        <p:spPr>
          <a:xfrm>
            <a:off x="0" y="0"/>
            <a:ext cx="12192000" cy="1154096"/>
          </a:xfrm>
          <a:prstGeom prst="rect">
            <a:avLst/>
          </a:prstGeom>
          <a:solidFill>
            <a:srgbClr val="01A08A"/>
          </a:solidFill>
          <a:ln>
            <a:solidFill>
              <a:srgbClr val="01A0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12A3E166-5276-5170-0716-E03D25C0014F}"/>
              </a:ext>
            </a:extLst>
          </p:cNvPr>
          <p:cNvSpPr>
            <a:spLocks noGrp="1"/>
          </p:cNvSpPr>
          <p:nvPr>
            <p:ph type="title"/>
          </p:nvPr>
        </p:nvSpPr>
        <p:spPr/>
        <p:txBody>
          <a:bodyPr/>
          <a:lstStyle/>
          <a:p>
            <a:r>
              <a:rPr lang="en-GB" dirty="0"/>
              <a:t>Stages of a content analysis</a:t>
            </a:r>
          </a:p>
        </p:txBody>
      </p:sp>
      <p:sp>
        <p:nvSpPr>
          <p:cNvPr id="5" name="Slide Number Placeholder 4">
            <a:extLst>
              <a:ext uri="{FF2B5EF4-FFF2-40B4-BE49-F238E27FC236}">
                <a16:creationId xmlns:a16="http://schemas.microsoft.com/office/drawing/2014/main" id="{81947358-DBD4-9B77-0716-5227A09473B9}"/>
              </a:ext>
            </a:extLst>
          </p:cNvPr>
          <p:cNvSpPr>
            <a:spLocks noGrp="1"/>
          </p:cNvSpPr>
          <p:nvPr>
            <p:ph type="sldNum" sz="quarter" idx="12"/>
          </p:nvPr>
        </p:nvSpPr>
        <p:spPr/>
        <p:txBody>
          <a:bodyPr/>
          <a:lstStyle/>
          <a:p>
            <a:fld id="{372769DB-CAE7-4C85-A9AF-7D4D8DE4CA22}" type="slidenum">
              <a:rPr lang="en-GB" smtClean="0"/>
              <a:t>8</a:t>
            </a:fld>
            <a:endParaRPr lang="en-GB" dirty="0"/>
          </a:p>
        </p:txBody>
      </p:sp>
      <p:sp>
        <p:nvSpPr>
          <p:cNvPr id="7" name="Content Placeholder 6">
            <a:extLst>
              <a:ext uri="{FF2B5EF4-FFF2-40B4-BE49-F238E27FC236}">
                <a16:creationId xmlns:a16="http://schemas.microsoft.com/office/drawing/2014/main" id="{A81DD788-1A30-D07C-83D8-5AB93E3BA928}"/>
              </a:ext>
            </a:extLst>
          </p:cNvPr>
          <p:cNvSpPr>
            <a:spLocks noGrp="1"/>
          </p:cNvSpPr>
          <p:nvPr>
            <p:ph idx="1"/>
          </p:nvPr>
        </p:nvSpPr>
        <p:spPr/>
        <p:txBody>
          <a:bodyPr/>
          <a:lstStyle/>
          <a:p>
            <a:pPr marL="742950" indent="-742950">
              <a:buFont typeface="+mj-lt"/>
              <a:buAutoNum type="arabicPeriod"/>
            </a:pPr>
            <a:r>
              <a:rPr lang="en-GB" dirty="0"/>
              <a:t>Research questions/hypotheses</a:t>
            </a:r>
          </a:p>
          <a:p>
            <a:pPr marL="742950" indent="-742950">
              <a:buFont typeface="+mj-lt"/>
              <a:buAutoNum type="arabicPeriod"/>
            </a:pPr>
            <a:r>
              <a:rPr lang="en-GB" dirty="0"/>
              <a:t>Case selection</a:t>
            </a:r>
          </a:p>
          <a:p>
            <a:pPr marL="742950" indent="-742950">
              <a:buFont typeface="+mj-lt"/>
              <a:buAutoNum type="arabicPeriod"/>
            </a:pPr>
            <a:r>
              <a:rPr lang="en-GB" dirty="0"/>
              <a:t>Units of analysis</a:t>
            </a:r>
          </a:p>
          <a:p>
            <a:pPr marL="742950" indent="-742950">
              <a:buFont typeface="+mj-lt"/>
              <a:buAutoNum type="arabicPeriod"/>
            </a:pPr>
            <a:r>
              <a:rPr lang="en-GB" dirty="0"/>
              <a:t>Categories</a:t>
            </a:r>
          </a:p>
          <a:p>
            <a:pPr marL="742950" indent="-742950">
              <a:buFont typeface="+mj-lt"/>
              <a:buAutoNum type="arabicPeriod"/>
            </a:pPr>
            <a:r>
              <a:rPr lang="en-GB" dirty="0"/>
              <a:t>Coding</a:t>
            </a:r>
          </a:p>
          <a:p>
            <a:pPr marL="742950" indent="-742950">
              <a:buFont typeface="+mj-lt"/>
              <a:buAutoNum type="arabicPeriod"/>
            </a:pPr>
            <a:r>
              <a:rPr lang="en-GB" dirty="0"/>
              <a:t>Analysis</a:t>
            </a:r>
          </a:p>
        </p:txBody>
      </p:sp>
    </p:spTree>
    <p:extLst>
      <p:ext uri="{BB962C8B-B14F-4D97-AF65-F5344CB8AC3E}">
        <p14:creationId xmlns:p14="http://schemas.microsoft.com/office/powerpoint/2010/main" val="8217721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829ED-A900-4F1F-CE76-D4CD7E8B9016}"/>
              </a:ext>
            </a:extLst>
          </p:cNvPr>
          <p:cNvSpPr>
            <a:spLocks noGrp="1"/>
          </p:cNvSpPr>
          <p:nvPr>
            <p:ph type="title"/>
          </p:nvPr>
        </p:nvSpPr>
        <p:spPr/>
        <p:txBody>
          <a:bodyPr/>
          <a:lstStyle/>
          <a:p>
            <a:r>
              <a:rPr lang="en-GB" dirty="0"/>
              <a:t>Coming up</a:t>
            </a:r>
          </a:p>
        </p:txBody>
      </p:sp>
      <p:sp>
        <p:nvSpPr>
          <p:cNvPr id="5" name="Slide Number Placeholder 4">
            <a:extLst>
              <a:ext uri="{FF2B5EF4-FFF2-40B4-BE49-F238E27FC236}">
                <a16:creationId xmlns:a16="http://schemas.microsoft.com/office/drawing/2014/main" id="{A633363A-9297-622C-BDB2-C0D07106F406}"/>
              </a:ext>
            </a:extLst>
          </p:cNvPr>
          <p:cNvSpPr>
            <a:spLocks noGrp="1"/>
          </p:cNvSpPr>
          <p:nvPr>
            <p:ph type="sldNum" sz="quarter" idx="12"/>
          </p:nvPr>
        </p:nvSpPr>
        <p:spPr/>
        <p:txBody>
          <a:bodyPr/>
          <a:lstStyle/>
          <a:p>
            <a:fld id="{372769DB-CAE7-4C85-A9AF-7D4D8DE4CA22}" type="slidenum">
              <a:rPr lang="en-GB" smtClean="0"/>
              <a:t>9</a:t>
            </a:fld>
            <a:endParaRPr lang="en-GB" dirty="0"/>
          </a:p>
        </p:txBody>
      </p:sp>
      <p:sp>
        <p:nvSpPr>
          <p:cNvPr id="6" name="Content Placeholder 2">
            <a:extLst>
              <a:ext uri="{FF2B5EF4-FFF2-40B4-BE49-F238E27FC236}">
                <a16:creationId xmlns:a16="http://schemas.microsoft.com/office/drawing/2014/main" id="{D8071FAB-572D-332E-2754-16BA3A2011A3}"/>
              </a:ext>
            </a:extLst>
          </p:cNvPr>
          <p:cNvSpPr txBox="1">
            <a:spLocks/>
          </p:cNvSpPr>
          <p:nvPr/>
        </p:nvSpPr>
        <p:spPr>
          <a:xfrm>
            <a:off x="638106" y="1665727"/>
            <a:ext cx="9359333" cy="477571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40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3600" b="1" dirty="0"/>
              <a:t>Today</a:t>
            </a:r>
          </a:p>
          <a:p>
            <a:r>
              <a:rPr lang="en-GB" sz="3600" dirty="0"/>
              <a:t>Doing our own content analysis</a:t>
            </a:r>
          </a:p>
          <a:p>
            <a:r>
              <a:rPr lang="en-GB" sz="3600" dirty="0"/>
              <a:t>Evaluating content analysis</a:t>
            </a:r>
          </a:p>
          <a:p>
            <a:r>
              <a:rPr lang="en-GB" sz="3600" dirty="0"/>
              <a:t>Examples in academic research</a:t>
            </a:r>
          </a:p>
          <a:p>
            <a:r>
              <a:rPr lang="en-GB" sz="3600" dirty="0"/>
              <a:t>Related methods</a:t>
            </a:r>
          </a:p>
          <a:p>
            <a:r>
              <a:rPr lang="en-GB" sz="3600" dirty="0"/>
              <a:t>Exam information</a:t>
            </a:r>
          </a:p>
          <a:p>
            <a:endParaRPr lang="en-GB" sz="3600" dirty="0"/>
          </a:p>
        </p:txBody>
      </p:sp>
    </p:spTree>
    <p:extLst>
      <p:ext uri="{BB962C8B-B14F-4D97-AF65-F5344CB8AC3E}">
        <p14:creationId xmlns:p14="http://schemas.microsoft.com/office/powerpoint/2010/main" val="28653492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829ED-A900-4F1F-CE76-D4CD7E8B9016}"/>
              </a:ext>
            </a:extLst>
          </p:cNvPr>
          <p:cNvSpPr>
            <a:spLocks noGrp="1"/>
          </p:cNvSpPr>
          <p:nvPr>
            <p:ph type="title"/>
          </p:nvPr>
        </p:nvSpPr>
        <p:spPr/>
        <p:txBody>
          <a:bodyPr/>
          <a:lstStyle/>
          <a:p>
            <a:r>
              <a:rPr lang="en-GB" dirty="0"/>
              <a:t>This week</a:t>
            </a:r>
          </a:p>
        </p:txBody>
      </p:sp>
      <p:sp>
        <p:nvSpPr>
          <p:cNvPr id="3" name="Content Placeholder 2">
            <a:extLst>
              <a:ext uri="{FF2B5EF4-FFF2-40B4-BE49-F238E27FC236}">
                <a16:creationId xmlns:a16="http://schemas.microsoft.com/office/drawing/2014/main" id="{2474AEB9-DDBA-50B4-DF19-D66664425378}"/>
              </a:ext>
            </a:extLst>
          </p:cNvPr>
          <p:cNvSpPr>
            <a:spLocks noGrp="1"/>
          </p:cNvSpPr>
          <p:nvPr>
            <p:ph idx="1"/>
          </p:nvPr>
        </p:nvSpPr>
        <p:spPr>
          <a:xfrm>
            <a:off x="324255" y="1247353"/>
            <a:ext cx="11543490" cy="5387127"/>
          </a:xfrm>
        </p:spPr>
        <p:txBody>
          <a:bodyPr>
            <a:normAutofit/>
          </a:bodyPr>
          <a:lstStyle/>
          <a:p>
            <a:pPr marL="0" indent="0" algn="l">
              <a:buNone/>
            </a:pPr>
            <a:r>
              <a:rPr lang="en-GB" sz="2400" b="1" i="1" dirty="0">
                <a:solidFill>
                  <a:srgbClr val="2D3B45"/>
                </a:solidFill>
                <a:effectLst/>
              </a:rPr>
              <a:t>Assigned course materials:</a:t>
            </a:r>
            <a:endParaRPr lang="en-GB" sz="2400" b="0" i="0" dirty="0">
              <a:solidFill>
                <a:srgbClr val="2D3B45"/>
              </a:solidFill>
              <a:effectLst/>
            </a:endParaRPr>
          </a:p>
          <a:p>
            <a:pPr marL="0" indent="0" algn="l">
              <a:buNone/>
            </a:pPr>
            <a:r>
              <a:rPr lang="en-US" sz="2400" i="0" dirty="0">
                <a:solidFill>
                  <a:srgbClr val="2D3B45"/>
                </a:solidFill>
                <a:effectLst/>
              </a:rPr>
              <a:t>Review the assigned readings for Content Analysis I: Halperin &amp; Heath (2025)</a:t>
            </a:r>
            <a:endParaRPr lang="en-GB" sz="2400" dirty="0">
              <a:solidFill>
                <a:srgbClr val="2D3B45"/>
              </a:solidFill>
            </a:endParaRPr>
          </a:p>
          <a:p>
            <a:pPr algn="l">
              <a:buFont typeface="+mj-lt"/>
              <a:buAutoNum type="arabicPeriod"/>
            </a:pPr>
            <a:r>
              <a:rPr lang="en-GB" sz="2400" b="1" i="0" dirty="0">
                <a:solidFill>
                  <a:srgbClr val="2D3B45"/>
                </a:solidFill>
                <a:effectLst/>
              </a:rPr>
              <a:t>Moffitt</a:t>
            </a:r>
            <a:r>
              <a:rPr lang="en-GB" sz="2400" b="1" dirty="0">
                <a:solidFill>
                  <a:srgbClr val="2D3B45"/>
                </a:solidFill>
              </a:rPr>
              <a:t> </a:t>
            </a:r>
            <a:r>
              <a:rPr lang="en-GB" sz="2400" b="1" i="0" dirty="0">
                <a:solidFill>
                  <a:srgbClr val="2D3B45"/>
                </a:solidFill>
                <a:effectLst/>
              </a:rPr>
              <a:t>(2024). </a:t>
            </a:r>
            <a:r>
              <a:rPr lang="en-GB" sz="2400" b="0" i="0" dirty="0">
                <a:solidFill>
                  <a:srgbClr val="2D3B45"/>
                </a:solidFill>
                <a:effectLst/>
              </a:rPr>
              <a:t>How do populists visually represent ‘the people’? A systematic comparative visual content analysis of Donald Trump and Bernie Sanders’ Instagram accounts. </a:t>
            </a:r>
          </a:p>
          <a:p>
            <a:pPr algn="l">
              <a:buFont typeface="+mj-lt"/>
              <a:buAutoNum type="arabicPeriod"/>
            </a:pPr>
            <a:r>
              <a:rPr lang="en-GB" sz="2400" b="1" i="0" dirty="0" err="1">
                <a:solidFill>
                  <a:srgbClr val="2D3B45"/>
                </a:solidFill>
                <a:effectLst/>
              </a:rPr>
              <a:t>Godefroidt</a:t>
            </a:r>
            <a:r>
              <a:rPr lang="en-GB" sz="2400" b="1" i="0" dirty="0">
                <a:solidFill>
                  <a:srgbClr val="2D3B45"/>
                </a:solidFill>
                <a:effectLst/>
              </a:rPr>
              <a:t>, Berbers &amp; </a:t>
            </a:r>
            <a:r>
              <a:rPr lang="en-GB" sz="2400" b="1" i="0" dirty="0" err="1">
                <a:solidFill>
                  <a:srgbClr val="2D3B45"/>
                </a:solidFill>
                <a:effectLst/>
              </a:rPr>
              <a:t>d’Haenens</a:t>
            </a:r>
            <a:r>
              <a:rPr lang="en-GB" sz="2400" b="1" i="0" dirty="0">
                <a:solidFill>
                  <a:srgbClr val="2D3B45"/>
                </a:solidFill>
                <a:effectLst/>
              </a:rPr>
              <a:t> (2016).</a:t>
            </a:r>
            <a:r>
              <a:rPr lang="en-GB" sz="2400" i="0" dirty="0">
                <a:solidFill>
                  <a:srgbClr val="2D3B45"/>
                </a:solidFill>
                <a:effectLst/>
              </a:rPr>
              <a:t> </a:t>
            </a:r>
            <a:r>
              <a:rPr lang="en-GB" sz="2400" b="0" i="0" dirty="0">
                <a:solidFill>
                  <a:srgbClr val="2D3B45"/>
                </a:solidFill>
                <a:effectLst/>
              </a:rPr>
              <a:t>What’s in a frame? A comparative content analysis of American, British, French, and Russian news articles. </a:t>
            </a:r>
          </a:p>
          <a:p>
            <a:pPr algn="l">
              <a:buFont typeface="+mj-lt"/>
              <a:buAutoNum type="arabicPeriod"/>
            </a:pPr>
            <a:endParaRPr lang="en-GB" sz="2400" b="0" i="0" dirty="0">
              <a:solidFill>
                <a:srgbClr val="2D3B45"/>
              </a:solidFill>
              <a:effectLst/>
            </a:endParaRPr>
          </a:p>
          <a:p>
            <a:pPr marL="0" indent="0" algn="l">
              <a:buNone/>
            </a:pPr>
            <a:r>
              <a:rPr lang="en-GB" sz="2400" b="1" i="1" dirty="0">
                <a:solidFill>
                  <a:srgbClr val="2D3B45"/>
                </a:solidFill>
                <a:effectLst/>
              </a:rPr>
              <a:t>Seminar questions:</a:t>
            </a:r>
            <a:endParaRPr lang="en-GB" sz="2400" b="0" i="0" dirty="0">
              <a:solidFill>
                <a:srgbClr val="2D3B45"/>
              </a:solidFill>
              <a:effectLst/>
            </a:endParaRPr>
          </a:p>
          <a:p>
            <a:pPr lvl="0"/>
            <a:r>
              <a:rPr lang="en-GB" sz="2400" dirty="0"/>
              <a:t>What are the similarities and differences between qualitative and quantitative content analysis?</a:t>
            </a:r>
          </a:p>
          <a:p>
            <a:pPr lvl="0"/>
            <a:r>
              <a:rPr lang="en-GB" sz="2400" dirty="0"/>
              <a:t>What do you think are some of the main issues/limitations we would need to take into consideration if we wanted to conduct our own content analysis project?</a:t>
            </a:r>
          </a:p>
          <a:p>
            <a:endParaRPr lang="en-GB" dirty="0"/>
          </a:p>
        </p:txBody>
      </p:sp>
      <p:sp>
        <p:nvSpPr>
          <p:cNvPr id="5" name="Slide Number Placeholder 4">
            <a:extLst>
              <a:ext uri="{FF2B5EF4-FFF2-40B4-BE49-F238E27FC236}">
                <a16:creationId xmlns:a16="http://schemas.microsoft.com/office/drawing/2014/main" id="{A633363A-9297-622C-BDB2-C0D07106F406}"/>
              </a:ext>
            </a:extLst>
          </p:cNvPr>
          <p:cNvSpPr>
            <a:spLocks noGrp="1"/>
          </p:cNvSpPr>
          <p:nvPr>
            <p:ph type="sldNum" sz="quarter" idx="12"/>
          </p:nvPr>
        </p:nvSpPr>
        <p:spPr/>
        <p:txBody>
          <a:bodyPr/>
          <a:lstStyle/>
          <a:p>
            <a:fld id="{372769DB-CAE7-4C85-A9AF-7D4D8DE4CA22}" type="slidenum">
              <a:rPr lang="en-GB" smtClean="0"/>
              <a:t>10</a:t>
            </a:fld>
            <a:endParaRPr lang="en-GB" dirty="0"/>
          </a:p>
        </p:txBody>
      </p:sp>
    </p:spTree>
    <p:extLst>
      <p:ext uri="{BB962C8B-B14F-4D97-AF65-F5344CB8AC3E}">
        <p14:creationId xmlns:p14="http://schemas.microsoft.com/office/powerpoint/2010/main" val="37961732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FF242-9172-165A-2AD8-6CC6437642CC}"/>
              </a:ext>
            </a:extLst>
          </p:cNvPr>
          <p:cNvSpPr>
            <a:spLocks noGrp="1"/>
          </p:cNvSpPr>
          <p:nvPr>
            <p:ph type="title"/>
          </p:nvPr>
        </p:nvSpPr>
        <p:spPr>
          <a:xfrm>
            <a:off x="1047884" y="1337013"/>
            <a:ext cx="9893031" cy="2626469"/>
          </a:xfrm>
        </p:spPr>
        <p:txBody>
          <a:bodyPr/>
          <a:lstStyle/>
          <a:p>
            <a:r>
              <a:rPr lang="en-GB" dirty="0"/>
              <a:t>Doing content analysis</a:t>
            </a:r>
          </a:p>
        </p:txBody>
      </p:sp>
    </p:spTree>
    <p:extLst>
      <p:ext uri="{BB962C8B-B14F-4D97-AF65-F5344CB8AC3E}">
        <p14:creationId xmlns:p14="http://schemas.microsoft.com/office/powerpoint/2010/main" val="10726534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58F10-4AB7-450C-EFF2-E5AE46683363}"/>
              </a:ext>
            </a:extLst>
          </p:cNvPr>
          <p:cNvSpPr>
            <a:spLocks noGrp="1"/>
          </p:cNvSpPr>
          <p:nvPr>
            <p:ph type="title"/>
          </p:nvPr>
        </p:nvSpPr>
        <p:spPr/>
        <p:txBody>
          <a:bodyPr/>
          <a:lstStyle/>
          <a:p>
            <a:r>
              <a:rPr lang="en-US" dirty="0"/>
              <a:t>Considerations</a:t>
            </a:r>
            <a:endParaRPr lang="en-GB" dirty="0"/>
          </a:p>
        </p:txBody>
      </p:sp>
      <p:sp>
        <p:nvSpPr>
          <p:cNvPr id="3" name="Content Placeholder 2">
            <a:extLst>
              <a:ext uri="{FF2B5EF4-FFF2-40B4-BE49-F238E27FC236}">
                <a16:creationId xmlns:a16="http://schemas.microsoft.com/office/drawing/2014/main" id="{F4AABE7F-8EF5-E345-B593-865BE6750F98}"/>
              </a:ext>
            </a:extLst>
          </p:cNvPr>
          <p:cNvSpPr>
            <a:spLocks noGrp="1"/>
          </p:cNvSpPr>
          <p:nvPr>
            <p:ph idx="1"/>
          </p:nvPr>
        </p:nvSpPr>
        <p:spPr/>
        <p:txBody>
          <a:bodyPr/>
          <a:lstStyle/>
          <a:p>
            <a:r>
              <a:rPr lang="en-GB" dirty="0"/>
              <a:t>What features of the document are relevant?</a:t>
            </a:r>
          </a:p>
          <a:p>
            <a:r>
              <a:rPr lang="en-GB" dirty="0"/>
              <a:t>Just the raw text, or formatting important?</a:t>
            </a:r>
          </a:p>
          <a:p>
            <a:r>
              <a:rPr lang="en-GB" dirty="0"/>
              <a:t>Video file, or written transcript?</a:t>
            </a:r>
          </a:p>
          <a:p>
            <a:r>
              <a:rPr lang="en-GB" dirty="0"/>
              <a:t>What size of coding unit will you use?</a:t>
            </a:r>
          </a:p>
          <a:p>
            <a:r>
              <a:rPr lang="en-GB" dirty="0"/>
              <a:t>Data storage/organisation</a:t>
            </a:r>
          </a:p>
          <a:p>
            <a:r>
              <a:rPr lang="en-GB" dirty="0"/>
              <a:t>Data cleaning &amp; processing</a:t>
            </a:r>
          </a:p>
          <a:p>
            <a:pPr marL="0" indent="0">
              <a:buNone/>
            </a:pPr>
            <a:endParaRPr lang="en-GB" dirty="0"/>
          </a:p>
        </p:txBody>
      </p:sp>
      <p:sp>
        <p:nvSpPr>
          <p:cNvPr id="5" name="Slide Number Placeholder 4">
            <a:extLst>
              <a:ext uri="{FF2B5EF4-FFF2-40B4-BE49-F238E27FC236}">
                <a16:creationId xmlns:a16="http://schemas.microsoft.com/office/drawing/2014/main" id="{4B125740-9452-A170-4F59-69FB6A9AEB85}"/>
              </a:ext>
            </a:extLst>
          </p:cNvPr>
          <p:cNvSpPr>
            <a:spLocks noGrp="1"/>
          </p:cNvSpPr>
          <p:nvPr>
            <p:ph type="sldNum" sz="quarter" idx="12"/>
          </p:nvPr>
        </p:nvSpPr>
        <p:spPr/>
        <p:txBody>
          <a:bodyPr/>
          <a:lstStyle/>
          <a:p>
            <a:fld id="{372769DB-CAE7-4C85-A9AF-7D4D8DE4CA22}" type="slidenum">
              <a:rPr lang="en-GB" smtClean="0"/>
              <a:t>12</a:t>
            </a:fld>
            <a:endParaRPr lang="en-GB" dirty="0"/>
          </a:p>
        </p:txBody>
      </p:sp>
    </p:spTree>
    <p:extLst>
      <p:ext uri="{BB962C8B-B14F-4D97-AF65-F5344CB8AC3E}">
        <p14:creationId xmlns:p14="http://schemas.microsoft.com/office/powerpoint/2010/main" val="19021489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EC9991D-5C10-49AB-B815-C4CBBB1B220D}"/>
              </a:ext>
            </a:extLst>
          </p:cNvPr>
          <p:cNvSpPr>
            <a:spLocks noGrp="1"/>
          </p:cNvSpPr>
          <p:nvPr>
            <p:ph type="sldNum" sz="quarter" idx="12"/>
          </p:nvPr>
        </p:nvSpPr>
        <p:spPr/>
        <p:txBody>
          <a:bodyPr/>
          <a:lstStyle/>
          <a:p>
            <a:fld id="{372769DB-CAE7-4C85-A9AF-7D4D8DE4CA22}" type="slidenum">
              <a:rPr lang="en-GB" smtClean="0"/>
              <a:t>13</a:t>
            </a:fld>
            <a:endParaRPr lang="en-GB" dirty="0"/>
          </a:p>
        </p:txBody>
      </p:sp>
      <p:sp>
        <p:nvSpPr>
          <p:cNvPr id="3" name="Title 2">
            <a:extLst>
              <a:ext uri="{FF2B5EF4-FFF2-40B4-BE49-F238E27FC236}">
                <a16:creationId xmlns:a16="http://schemas.microsoft.com/office/drawing/2014/main" id="{0EF06CD0-F308-D494-FC4B-526E37A3C6AF}"/>
              </a:ext>
            </a:extLst>
          </p:cNvPr>
          <p:cNvSpPr>
            <a:spLocks noGrp="1"/>
          </p:cNvSpPr>
          <p:nvPr>
            <p:ph type="title"/>
          </p:nvPr>
        </p:nvSpPr>
        <p:spPr/>
        <p:txBody>
          <a:bodyPr/>
          <a:lstStyle/>
          <a:p>
            <a:r>
              <a:rPr lang="en-US" dirty="0" err="1"/>
              <a:t>Organisng</a:t>
            </a:r>
            <a:r>
              <a:rPr lang="en-US" dirty="0"/>
              <a:t> your files</a:t>
            </a:r>
            <a:endParaRPr lang="en-GB" dirty="0"/>
          </a:p>
        </p:txBody>
      </p:sp>
      <p:pic>
        <p:nvPicPr>
          <p:cNvPr id="5" name="Picture 4" descr="Screenshot of a cluttered computer desktop filled with numerous overlapping file icons, mostly documents and images, against a blue background. ">
            <a:extLst>
              <a:ext uri="{FF2B5EF4-FFF2-40B4-BE49-F238E27FC236}">
                <a16:creationId xmlns:a16="http://schemas.microsoft.com/office/drawing/2014/main" id="{8DDE910A-53F7-BA3C-74CB-5D8498300C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4347" y="1442278"/>
            <a:ext cx="6727634" cy="5045726"/>
          </a:xfrm>
          <a:prstGeom prst="rect">
            <a:avLst/>
          </a:prstGeom>
        </p:spPr>
      </p:pic>
      <p:pic>
        <p:nvPicPr>
          <p:cNvPr id="7" name="Picture 6" descr="Cartoon showing a person sitting at a computer with a speech bubble displaying a list of untitled files, including documents with sensitive names like &quot;MOM ADDRESS&quot; and &quot;IMPORTANT.&quot; Another person standing behind exclaims &quot;OH MY GOD,&quot; illustrating the humorous warning to never look in someone else's documents folder.&#10;&#10;AI-generated content may be incorrect.">
            <a:extLst>
              <a:ext uri="{FF2B5EF4-FFF2-40B4-BE49-F238E27FC236}">
                <a16:creationId xmlns:a16="http://schemas.microsoft.com/office/drawing/2014/main" id="{E5290260-0D52-80AA-0588-586434570A7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79446" y="1494608"/>
            <a:ext cx="3040000" cy="5051428"/>
          </a:xfrm>
          <a:prstGeom prst="rect">
            <a:avLst/>
          </a:prstGeom>
        </p:spPr>
      </p:pic>
    </p:spTree>
    <p:extLst>
      <p:ext uri="{BB962C8B-B14F-4D97-AF65-F5344CB8AC3E}">
        <p14:creationId xmlns:p14="http://schemas.microsoft.com/office/powerpoint/2010/main" val="17979632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AF21B1-7234-0092-356F-3553E86A6F36}"/>
              </a:ext>
            </a:extLst>
          </p:cNvPr>
          <p:cNvSpPr>
            <a:spLocks noGrp="1"/>
          </p:cNvSpPr>
          <p:nvPr>
            <p:ph type="title"/>
          </p:nvPr>
        </p:nvSpPr>
        <p:spPr/>
        <p:txBody>
          <a:bodyPr/>
          <a:lstStyle/>
          <a:p>
            <a:r>
              <a:rPr lang="en-US" dirty="0"/>
              <a:t>File Structure</a:t>
            </a:r>
            <a:endParaRPr lang="en-GB" dirty="0"/>
          </a:p>
        </p:txBody>
      </p:sp>
      <p:sp>
        <p:nvSpPr>
          <p:cNvPr id="4" name="Slide Number Placeholder 3">
            <a:extLst>
              <a:ext uri="{FF2B5EF4-FFF2-40B4-BE49-F238E27FC236}">
                <a16:creationId xmlns:a16="http://schemas.microsoft.com/office/drawing/2014/main" id="{31C2EF2E-F92D-8D01-0F7C-6B81AD17D6F7}"/>
              </a:ext>
            </a:extLst>
          </p:cNvPr>
          <p:cNvSpPr>
            <a:spLocks noGrp="1"/>
          </p:cNvSpPr>
          <p:nvPr>
            <p:ph type="sldNum" sz="quarter" idx="12"/>
          </p:nvPr>
        </p:nvSpPr>
        <p:spPr/>
        <p:txBody>
          <a:bodyPr/>
          <a:lstStyle/>
          <a:p>
            <a:fld id="{372769DB-CAE7-4C85-A9AF-7D4D8DE4CA22}" type="slidenum">
              <a:rPr lang="en-GB" smtClean="0"/>
              <a:t>14</a:t>
            </a:fld>
            <a:endParaRPr lang="en-GB" dirty="0"/>
          </a:p>
        </p:txBody>
      </p:sp>
      <p:sp>
        <p:nvSpPr>
          <p:cNvPr id="5" name="TextBox 4">
            <a:extLst>
              <a:ext uri="{FF2B5EF4-FFF2-40B4-BE49-F238E27FC236}">
                <a16:creationId xmlns:a16="http://schemas.microsoft.com/office/drawing/2014/main" id="{8C40B751-56F9-B521-D92D-40CC86086A83}"/>
              </a:ext>
            </a:extLst>
          </p:cNvPr>
          <p:cNvSpPr txBox="1"/>
          <p:nvPr/>
        </p:nvSpPr>
        <p:spPr>
          <a:xfrm>
            <a:off x="1911035" y="2873650"/>
            <a:ext cx="3075629" cy="584775"/>
          </a:xfrm>
          <a:prstGeom prst="rect">
            <a:avLst/>
          </a:prstGeom>
          <a:noFill/>
        </p:spPr>
        <p:txBody>
          <a:bodyPr wrap="square" rtlCol="0">
            <a:spAutoFit/>
          </a:bodyPr>
          <a:lstStyle/>
          <a:p>
            <a:r>
              <a:rPr lang="en-US" sz="3200" dirty="0">
                <a:latin typeface="Gill Sans MT" panose="020B0502020104020203" pitchFamily="34" charset="0"/>
              </a:rPr>
              <a:t>codebook.xlsx</a:t>
            </a:r>
            <a:endParaRPr lang="en-GB" sz="3200" dirty="0">
              <a:latin typeface="Gill Sans MT" panose="020B0502020104020203" pitchFamily="34" charset="0"/>
            </a:endParaRPr>
          </a:p>
        </p:txBody>
      </p:sp>
      <p:sp>
        <p:nvSpPr>
          <p:cNvPr id="6" name="TextBox 5">
            <a:extLst>
              <a:ext uri="{FF2B5EF4-FFF2-40B4-BE49-F238E27FC236}">
                <a16:creationId xmlns:a16="http://schemas.microsoft.com/office/drawing/2014/main" id="{90794A86-3C76-72F4-C264-1908D27F7C8E}"/>
              </a:ext>
            </a:extLst>
          </p:cNvPr>
          <p:cNvSpPr txBox="1"/>
          <p:nvPr/>
        </p:nvSpPr>
        <p:spPr>
          <a:xfrm>
            <a:off x="438385" y="1557842"/>
            <a:ext cx="3294043" cy="584775"/>
          </a:xfrm>
          <a:prstGeom prst="rect">
            <a:avLst/>
          </a:prstGeom>
          <a:solidFill>
            <a:schemeClr val="accent1">
              <a:alpha val="40000"/>
            </a:schemeClr>
          </a:solidFill>
        </p:spPr>
        <p:txBody>
          <a:bodyPr wrap="square" rtlCol="0">
            <a:spAutoFit/>
          </a:bodyPr>
          <a:lstStyle/>
          <a:p>
            <a:pPr algn="ctr"/>
            <a:r>
              <a:rPr lang="en-US" sz="3200" dirty="0">
                <a:latin typeface="Gill Sans MT" panose="020B0502020104020203" pitchFamily="34" charset="0"/>
              </a:rPr>
              <a:t>Project Folder</a:t>
            </a:r>
            <a:endParaRPr lang="en-GB" sz="3200" dirty="0">
              <a:latin typeface="Gill Sans MT" panose="020B0502020104020203" pitchFamily="34" charset="0"/>
            </a:endParaRPr>
          </a:p>
        </p:txBody>
      </p:sp>
      <p:sp>
        <p:nvSpPr>
          <p:cNvPr id="8" name="TextBox 7">
            <a:extLst>
              <a:ext uri="{FF2B5EF4-FFF2-40B4-BE49-F238E27FC236}">
                <a16:creationId xmlns:a16="http://schemas.microsoft.com/office/drawing/2014/main" id="{9B139BC6-D208-4FFF-2BC6-7395F2A26186}"/>
              </a:ext>
            </a:extLst>
          </p:cNvPr>
          <p:cNvSpPr txBox="1"/>
          <p:nvPr/>
        </p:nvSpPr>
        <p:spPr>
          <a:xfrm>
            <a:off x="1911035" y="2288875"/>
            <a:ext cx="3075629" cy="584775"/>
          </a:xfrm>
          <a:prstGeom prst="rect">
            <a:avLst/>
          </a:prstGeom>
          <a:noFill/>
        </p:spPr>
        <p:txBody>
          <a:bodyPr wrap="square" rtlCol="0">
            <a:spAutoFit/>
          </a:bodyPr>
          <a:lstStyle/>
          <a:p>
            <a:r>
              <a:rPr lang="en-US" sz="3200" dirty="0">
                <a:latin typeface="Gill Sans MT" panose="020B0502020104020203" pitchFamily="34" charset="0"/>
              </a:rPr>
              <a:t>codesheet.docx</a:t>
            </a:r>
            <a:endParaRPr lang="en-GB" sz="3200" dirty="0">
              <a:latin typeface="Gill Sans MT" panose="020B0502020104020203" pitchFamily="34" charset="0"/>
            </a:endParaRPr>
          </a:p>
        </p:txBody>
      </p:sp>
      <p:sp>
        <p:nvSpPr>
          <p:cNvPr id="10" name="TextBox 9">
            <a:extLst>
              <a:ext uri="{FF2B5EF4-FFF2-40B4-BE49-F238E27FC236}">
                <a16:creationId xmlns:a16="http://schemas.microsoft.com/office/drawing/2014/main" id="{94E26D60-F498-5D27-DB3D-39ED502F5368}"/>
              </a:ext>
            </a:extLst>
          </p:cNvPr>
          <p:cNvSpPr txBox="1"/>
          <p:nvPr/>
        </p:nvSpPr>
        <p:spPr>
          <a:xfrm>
            <a:off x="2884081" y="4371660"/>
            <a:ext cx="3647853" cy="2554545"/>
          </a:xfrm>
          <a:prstGeom prst="rect">
            <a:avLst/>
          </a:prstGeom>
          <a:noFill/>
        </p:spPr>
        <p:txBody>
          <a:bodyPr wrap="square">
            <a:spAutoFit/>
          </a:bodyPr>
          <a:lstStyle/>
          <a:p>
            <a:r>
              <a:rPr lang="en-US" sz="3200" dirty="0">
                <a:latin typeface="Gill Sans MT" panose="020B0502020104020203" pitchFamily="34" charset="0"/>
              </a:rPr>
              <a:t>document_001.txt</a:t>
            </a:r>
          </a:p>
          <a:p>
            <a:r>
              <a:rPr lang="en-US" sz="3200" dirty="0">
                <a:latin typeface="Gill Sans MT" panose="020B0502020104020203" pitchFamily="34" charset="0"/>
              </a:rPr>
              <a:t>document_002.txt</a:t>
            </a:r>
            <a:endParaRPr lang="en-GB" sz="3200" dirty="0">
              <a:latin typeface="Gill Sans MT" panose="020B0502020104020203" pitchFamily="34" charset="0"/>
            </a:endParaRPr>
          </a:p>
          <a:p>
            <a:r>
              <a:rPr lang="en-US" sz="3200" dirty="0">
                <a:latin typeface="Gill Sans MT" panose="020B0502020104020203" pitchFamily="34" charset="0"/>
              </a:rPr>
              <a:t>document_003.txt</a:t>
            </a:r>
          </a:p>
          <a:p>
            <a:r>
              <a:rPr lang="en-US" sz="3200" dirty="0">
                <a:latin typeface="Gill Sans MT" panose="020B0502020104020203" pitchFamily="34" charset="0"/>
              </a:rPr>
              <a:t>…</a:t>
            </a:r>
            <a:endParaRPr lang="en-GB" sz="3200" dirty="0">
              <a:latin typeface="Gill Sans MT" panose="020B0502020104020203" pitchFamily="34" charset="0"/>
            </a:endParaRPr>
          </a:p>
          <a:p>
            <a:endParaRPr lang="en-GB" sz="3200" dirty="0">
              <a:latin typeface="Gill Sans MT" panose="020B0502020104020203" pitchFamily="34" charset="0"/>
            </a:endParaRPr>
          </a:p>
        </p:txBody>
      </p:sp>
      <p:cxnSp>
        <p:nvCxnSpPr>
          <p:cNvPr id="12" name="Straight Connector 11">
            <a:extLst>
              <a:ext uri="{FF2B5EF4-FFF2-40B4-BE49-F238E27FC236}">
                <a16:creationId xmlns:a16="http://schemas.microsoft.com/office/drawing/2014/main" id="{6DEFFD40-FAAE-3752-73A2-28B535807C49}"/>
              </a:ext>
            </a:extLst>
          </p:cNvPr>
          <p:cNvCxnSpPr>
            <a:cxnSpLocks/>
          </p:cNvCxnSpPr>
          <p:nvPr/>
        </p:nvCxnSpPr>
        <p:spPr>
          <a:xfrm>
            <a:off x="1233377" y="2142617"/>
            <a:ext cx="0" cy="1780797"/>
          </a:xfrm>
          <a:prstGeom prst="line">
            <a:avLst/>
          </a:prstGeom>
          <a:ln w="76200">
            <a:solidFill>
              <a:schemeClr val="tx2"/>
            </a:solidFill>
          </a:ln>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547075AB-070B-6B9C-106E-C6CB7527B778}"/>
              </a:ext>
            </a:extLst>
          </p:cNvPr>
          <p:cNvCxnSpPr>
            <a:cxnSpLocks/>
          </p:cNvCxnSpPr>
          <p:nvPr/>
        </p:nvCxnSpPr>
        <p:spPr>
          <a:xfrm>
            <a:off x="1233377" y="3923414"/>
            <a:ext cx="568452" cy="0"/>
          </a:xfrm>
          <a:prstGeom prst="line">
            <a:avLst/>
          </a:prstGeom>
          <a:ln w="76200" cap="rnd">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5CE632AA-4F80-46FE-931B-058FFD8499A6}"/>
              </a:ext>
            </a:extLst>
          </p:cNvPr>
          <p:cNvCxnSpPr>
            <a:cxnSpLocks/>
          </p:cNvCxnSpPr>
          <p:nvPr/>
        </p:nvCxnSpPr>
        <p:spPr>
          <a:xfrm>
            <a:off x="2130056" y="4207430"/>
            <a:ext cx="0" cy="1780797"/>
          </a:xfrm>
          <a:prstGeom prst="line">
            <a:avLst/>
          </a:prstGeom>
          <a:ln w="76200">
            <a:solidFill>
              <a:schemeClr val="tx2"/>
            </a:solidFill>
          </a:ln>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718F9620-9DA5-26B2-249C-8FB3D11C8D03}"/>
              </a:ext>
            </a:extLst>
          </p:cNvPr>
          <p:cNvCxnSpPr>
            <a:cxnSpLocks/>
          </p:cNvCxnSpPr>
          <p:nvPr/>
        </p:nvCxnSpPr>
        <p:spPr>
          <a:xfrm>
            <a:off x="1233377" y="3215773"/>
            <a:ext cx="568452" cy="0"/>
          </a:xfrm>
          <a:prstGeom prst="line">
            <a:avLst/>
          </a:prstGeom>
          <a:ln w="76200" cap="rnd">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5F0E9FE-0D00-3A34-1459-813C70E4C509}"/>
              </a:ext>
            </a:extLst>
          </p:cNvPr>
          <p:cNvCxnSpPr>
            <a:cxnSpLocks/>
          </p:cNvCxnSpPr>
          <p:nvPr/>
        </p:nvCxnSpPr>
        <p:spPr>
          <a:xfrm>
            <a:off x="1235543" y="2635183"/>
            <a:ext cx="566286" cy="0"/>
          </a:xfrm>
          <a:prstGeom prst="line">
            <a:avLst/>
          </a:prstGeom>
          <a:ln w="76200" cap="rnd">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57FFE9C-6CE0-4BB6-CDCF-E0F672B0B79A}"/>
              </a:ext>
            </a:extLst>
          </p:cNvPr>
          <p:cNvCxnSpPr>
            <a:cxnSpLocks/>
          </p:cNvCxnSpPr>
          <p:nvPr/>
        </p:nvCxnSpPr>
        <p:spPr>
          <a:xfrm>
            <a:off x="2130056" y="4710232"/>
            <a:ext cx="568452" cy="0"/>
          </a:xfrm>
          <a:prstGeom prst="line">
            <a:avLst/>
          </a:prstGeom>
          <a:ln w="76200" cap="rnd">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500E1D29-C8D5-3AAA-795C-14D6F0773509}"/>
              </a:ext>
            </a:extLst>
          </p:cNvPr>
          <p:cNvCxnSpPr>
            <a:cxnSpLocks/>
          </p:cNvCxnSpPr>
          <p:nvPr/>
        </p:nvCxnSpPr>
        <p:spPr>
          <a:xfrm>
            <a:off x="2174058" y="5194902"/>
            <a:ext cx="568452" cy="0"/>
          </a:xfrm>
          <a:prstGeom prst="line">
            <a:avLst/>
          </a:prstGeom>
          <a:ln w="76200" cap="rnd">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9E1410DC-2B88-F595-F34A-E02FD10025AB}"/>
              </a:ext>
            </a:extLst>
          </p:cNvPr>
          <p:cNvCxnSpPr>
            <a:cxnSpLocks/>
          </p:cNvCxnSpPr>
          <p:nvPr/>
        </p:nvCxnSpPr>
        <p:spPr>
          <a:xfrm>
            <a:off x="2174058" y="5671201"/>
            <a:ext cx="568452" cy="0"/>
          </a:xfrm>
          <a:prstGeom prst="line">
            <a:avLst/>
          </a:prstGeom>
          <a:ln w="76200" cap="rnd">
            <a:solidFill>
              <a:schemeClr val="tx2"/>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FA4D9061-48C5-E0EF-4BE4-F31B0F864456}"/>
              </a:ext>
            </a:extLst>
          </p:cNvPr>
          <p:cNvSpPr txBox="1"/>
          <p:nvPr/>
        </p:nvSpPr>
        <p:spPr>
          <a:xfrm>
            <a:off x="1801829" y="3622655"/>
            <a:ext cx="3294043" cy="584775"/>
          </a:xfrm>
          <a:prstGeom prst="rect">
            <a:avLst/>
          </a:prstGeom>
          <a:solidFill>
            <a:srgbClr val="F4B5AE"/>
          </a:solidFill>
        </p:spPr>
        <p:txBody>
          <a:bodyPr wrap="square" rtlCol="0">
            <a:spAutoFit/>
          </a:bodyPr>
          <a:lstStyle/>
          <a:p>
            <a:pPr algn="ctr"/>
            <a:r>
              <a:rPr lang="en-US" sz="3200">
                <a:latin typeface="Gill Sans MT" panose="020B0502020104020203" pitchFamily="34" charset="0"/>
              </a:rPr>
              <a:t>Data Folder</a:t>
            </a:r>
            <a:endParaRPr lang="en-GB" sz="3200" dirty="0">
              <a:latin typeface="Gill Sans MT" panose="020B0502020104020203" pitchFamily="34" charset="0"/>
            </a:endParaRPr>
          </a:p>
        </p:txBody>
      </p:sp>
    </p:spTree>
    <p:extLst>
      <p:ext uri="{BB962C8B-B14F-4D97-AF65-F5344CB8AC3E}">
        <p14:creationId xmlns:p14="http://schemas.microsoft.com/office/powerpoint/2010/main" val="10783283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E1F821-08CA-71DA-D82D-C6FB91D761AB}"/>
              </a:ext>
            </a:extLst>
          </p:cNvPr>
          <p:cNvSpPr>
            <a:spLocks noGrp="1"/>
          </p:cNvSpPr>
          <p:nvPr>
            <p:ph type="title"/>
          </p:nvPr>
        </p:nvSpPr>
        <p:spPr/>
        <p:txBody>
          <a:bodyPr/>
          <a:lstStyle/>
          <a:p>
            <a:r>
              <a:rPr lang="en-US" dirty="0"/>
              <a:t>Data storage tips</a:t>
            </a:r>
            <a:endParaRPr lang="en-GB" dirty="0"/>
          </a:p>
        </p:txBody>
      </p:sp>
      <p:sp>
        <p:nvSpPr>
          <p:cNvPr id="3" name="Content Placeholder 2">
            <a:extLst>
              <a:ext uri="{FF2B5EF4-FFF2-40B4-BE49-F238E27FC236}">
                <a16:creationId xmlns:a16="http://schemas.microsoft.com/office/drawing/2014/main" id="{79F10181-5A8E-07D2-6C15-472712032601}"/>
              </a:ext>
            </a:extLst>
          </p:cNvPr>
          <p:cNvSpPr>
            <a:spLocks noGrp="1"/>
          </p:cNvSpPr>
          <p:nvPr>
            <p:ph idx="1"/>
          </p:nvPr>
        </p:nvSpPr>
        <p:spPr>
          <a:xfrm>
            <a:off x="838199" y="1825625"/>
            <a:ext cx="11159169" cy="4351338"/>
          </a:xfrm>
        </p:spPr>
        <p:txBody>
          <a:bodyPr/>
          <a:lstStyle/>
          <a:p>
            <a:r>
              <a:rPr lang="en-GB" dirty="0"/>
              <a:t>If downloading a dataset ‘.csv’ files often best option</a:t>
            </a:r>
          </a:p>
          <a:p>
            <a:r>
              <a:rPr lang="en-GB" dirty="0"/>
              <a:t>If just interested in text content can save as ‘.txt’</a:t>
            </a:r>
          </a:p>
          <a:p>
            <a:r>
              <a:rPr lang="en-GB" dirty="0"/>
              <a:t>Create a folder to store all original files</a:t>
            </a:r>
          </a:p>
          <a:p>
            <a:r>
              <a:rPr lang="en-GB" dirty="0"/>
              <a:t>Give each document a unique identifier</a:t>
            </a:r>
          </a:p>
          <a:p>
            <a:r>
              <a:rPr lang="en-GB" dirty="0"/>
              <a:t>File naming</a:t>
            </a:r>
          </a:p>
          <a:p>
            <a:pPr lvl="1"/>
            <a:r>
              <a:rPr lang="en-GB" dirty="0"/>
              <a:t>Leading zeros: class_essay_v01.docx</a:t>
            </a:r>
          </a:p>
          <a:p>
            <a:pPr lvl="1"/>
            <a:r>
              <a:rPr lang="en-GB" dirty="0"/>
              <a:t>ISO date format: ‘2023-03-19’</a:t>
            </a:r>
          </a:p>
          <a:p>
            <a:endParaRPr lang="en-GB" dirty="0"/>
          </a:p>
        </p:txBody>
      </p:sp>
      <p:sp>
        <p:nvSpPr>
          <p:cNvPr id="5" name="Slide Number Placeholder 4">
            <a:extLst>
              <a:ext uri="{FF2B5EF4-FFF2-40B4-BE49-F238E27FC236}">
                <a16:creationId xmlns:a16="http://schemas.microsoft.com/office/drawing/2014/main" id="{D0B42BEC-7A00-840E-4F11-0EB4E38BA158}"/>
              </a:ext>
            </a:extLst>
          </p:cNvPr>
          <p:cNvSpPr>
            <a:spLocks noGrp="1"/>
          </p:cNvSpPr>
          <p:nvPr>
            <p:ph type="sldNum" sz="quarter" idx="12"/>
          </p:nvPr>
        </p:nvSpPr>
        <p:spPr/>
        <p:txBody>
          <a:bodyPr/>
          <a:lstStyle/>
          <a:p>
            <a:fld id="{372769DB-CAE7-4C85-A9AF-7D4D8DE4CA22}" type="slidenum">
              <a:rPr lang="en-GB" smtClean="0"/>
              <a:t>15</a:t>
            </a:fld>
            <a:endParaRPr lang="en-GB" dirty="0"/>
          </a:p>
        </p:txBody>
      </p:sp>
    </p:spTree>
    <p:extLst>
      <p:ext uri="{BB962C8B-B14F-4D97-AF65-F5344CB8AC3E}">
        <p14:creationId xmlns:p14="http://schemas.microsoft.com/office/powerpoint/2010/main" val="14913322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093E9-D55F-4D9E-8269-A5F480A468B0}"/>
              </a:ext>
            </a:extLst>
          </p:cNvPr>
          <p:cNvSpPr>
            <a:spLocks noGrp="1"/>
          </p:cNvSpPr>
          <p:nvPr>
            <p:ph type="title"/>
          </p:nvPr>
        </p:nvSpPr>
        <p:spPr/>
        <p:txBody>
          <a:bodyPr/>
          <a:lstStyle/>
          <a:p>
            <a:r>
              <a:rPr lang="en-US" dirty="0"/>
              <a:t>Software and Data</a:t>
            </a:r>
            <a:endParaRPr lang="en-GB" dirty="0"/>
          </a:p>
        </p:txBody>
      </p:sp>
      <p:sp>
        <p:nvSpPr>
          <p:cNvPr id="3" name="Content Placeholder 2">
            <a:extLst>
              <a:ext uri="{FF2B5EF4-FFF2-40B4-BE49-F238E27FC236}">
                <a16:creationId xmlns:a16="http://schemas.microsoft.com/office/drawing/2014/main" id="{412172DD-CD85-2F6A-2090-8192E0CDB9ED}"/>
              </a:ext>
            </a:extLst>
          </p:cNvPr>
          <p:cNvSpPr>
            <a:spLocks noGrp="1"/>
          </p:cNvSpPr>
          <p:nvPr>
            <p:ph idx="1"/>
          </p:nvPr>
        </p:nvSpPr>
        <p:spPr/>
        <p:txBody>
          <a:bodyPr>
            <a:normAutofit/>
          </a:bodyPr>
          <a:lstStyle/>
          <a:p>
            <a:pPr marL="0" indent="0">
              <a:buNone/>
            </a:pPr>
            <a:r>
              <a:rPr lang="en-US" dirty="0"/>
              <a:t>Custom content analysis software is available</a:t>
            </a:r>
          </a:p>
          <a:p>
            <a:r>
              <a:rPr lang="en-US" dirty="0" err="1"/>
              <a:t>Nvivo</a:t>
            </a:r>
            <a:r>
              <a:rPr lang="en-US" dirty="0"/>
              <a:t>, </a:t>
            </a:r>
            <a:r>
              <a:rPr lang="en-US" dirty="0" err="1"/>
              <a:t>Textstat</a:t>
            </a:r>
            <a:endParaRPr lang="en-US" dirty="0"/>
          </a:p>
          <a:p>
            <a:endParaRPr lang="en-US" dirty="0"/>
          </a:p>
          <a:p>
            <a:pPr marL="0" indent="0">
              <a:buNone/>
            </a:pPr>
            <a:r>
              <a:rPr lang="en-US" dirty="0"/>
              <a:t>But can also use Excel or Google sheets</a:t>
            </a:r>
          </a:p>
          <a:p>
            <a:endParaRPr lang="en-US" dirty="0"/>
          </a:p>
          <a:p>
            <a:endParaRPr lang="en-US" dirty="0"/>
          </a:p>
          <a:p>
            <a:endParaRPr lang="en-GB" dirty="0"/>
          </a:p>
        </p:txBody>
      </p:sp>
      <p:sp>
        <p:nvSpPr>
          <p:cNvPr id="5" name="Slide Number Placeholder 4">
            <a:extLst>
              <a:ext uri="{FF2B5EF4-FFF2-40B4-BE49-F238E27FC236}">
                <a16:creationId xmlns:a16="http://schemas.microsoft.com/office/drawing/2014/main" id="{9687A16D-F678-9845-09E8-967C93425559}"/>
              </a:ext>
            </a:extLst>
          </p:cNvPr>
          <p:cNvSpPr>
            <a:spLocks noGrp="1"/>
          </p:cNvSpPr>
          <p:nvPr>
            <p:ph type="sldNum" sz="quarter" idx="12"/>
          </p:nvPr>
        </p:nvSpPr>
        <p:spPr/>
        <p:txBody>
          <a:bodyPr/>
          <a:lstStyle/>
          <a:p>
            <a:fld id="{372769DB-CAE7-4C85-A9AF-7D4D8DE4CA22}" type="slidenum">
              <a:rPr lang="en-GB" smtClean="0"/>
              <a:t>16</a:t>
            </a:fld>
            <a:endParaRPr lang="en-GB" dirty="0"/>
          </a:p>
        </p:txBody>
      </p:sp>
    </p:spTree>
    <p:extLst>
      <p:ext uri="{BB962C8B-B14F-4D97-AF65-F5344CB8AC3E}">
        <p14:creationId xmlns:p14="http://schemas.microsoft.com/office/powerpoint/2010/main" val="16104620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E1F821-08CA-71DA-D82D-C6FB91D761AB}"/>
              </a:ext>
            </a:extLst>
          </p:cNvPr>
          <p:cNvSpPr>
            <a:spLocks noGrp="1"/>
          </p:cNvSpPr>
          <p:nvPr>
            <p:ph type="title"/>
          </p:nvPr>
        </p:nvSpPr>
        <p:spPr/>
        <p:txBody>
          <a:bodyPr/>
          <a:lstStyle/>
          <a:p>
            <a:r>
              <a:rPr lang="en-US" dirty="0"/>
              <a:t>Content analysis in practice</a:t>
            </a:r>
            <a:endParaRPr lang="en-GB" dirty="0"/>
          </a:p>
        </p:txBody>
      </p:sp>
      <p:sp>
        <p:nvSpPr>
          <p:cNvPr id="3" name="Content Placeholder 2">
            <a:extLst>
              <a:ext uri="{FF2B5EF4-FFF2-40B4-BE49-F238E27FC236}">
                <a16:creationId xmlns:a16="http://schemas.microsoft.com/office/drawing/2014/main" id="{79F10181-5A8E-07D2-6C15-472712032601}"/>
              </a:ext>
            </a:extLst>
          </p:cNvPr>
          <p:cNvSpPr>
            <a:spLocks noGrp="1"/>
          </p:cNvSpPr>
          <p:nvPr>
            <p:ph idx="1"/>
          </p:nvPr>
        </p:nvSpPr>
        <p:spPr>
          <a:xfrm>
            <a:off x="386136" y="1465357"/>
            <a:ext cx="11685973" cy="4575847"/>
          </a:xfrm>
        </p:spPr>
        <p:txBody>
          <a:bodyPr>
            <a:normAutofit/>
          </a:bodyPr>
          <a:lstStyle/>
          <a:p>
            <a:pPr marL="0" indent="0">
              <a:buNone/>
            </a:pPr>
            <a:r>
              <a:rPr lang="en-GB" sz="3600" b="1" dirty="0"/>
              <a:t>Media bias on BBC Question Time</a:t>
            </a:r>
          </a:p>
          <a:p>
            <a:pPr marL="0" indent="0">
              <a:buNone/>
            </a:pPr>
            <a:endParaRPr lang="en-GB" sz="3600" dirty="0"/>
          </a:p>
          <a:p>
            <a:r>
              <a:rPr lang="en-GB" sz="3600" dirty="0"/>
              <a:t>What forms of political bias is the show accused of?</a:t>
            </a:r>
          </a:p>
          <a:p>
            <a:pPr marL="0" indent="0">
              <a:buNone/>
            </a:pPr>
            <a:endParaRPr lang="en-GB" sz="3600" b="1" dirty="0"/>
          </a:p>
          <a:p>
            <a:pPr marL="0" indent="0">
              <a:buNone/>
            </a:pPr>
            <a:r>
              <a:rPr lang="en-GB" sz="3600" b="1" dirty="0"/>
              <a:t>Dependent variables</a:t>
            </a:r>
          </a:p>
          <a:p>
            <a:r>
              <a:rPr lang="en-GB" sz="3600" dirty="0"/>
              <a:t>Who is accused of bias?</a:t>
            </a:r>
          </a:p>
          <a:p>
            <a:r>
              <a:rPr lang="en-GB" sz="3600" dirty="0"/>
              <a:t>Biased for/against which group? </a:t>
            </a:r>
          </a:p>
        </p:txBody>
      </p:sp>
      <p:sp>
        <p:nvSpPr>
          <p:cNvPr id="5" name="Slide Number Placeholder 4">
            <a:extLst>
              <a:ext uri="{FF2B5EF4-FFF2-40B4-BE49-F238E27FC236}">
                <a16:creationId xmlns:a16="http://schemas.microsoft.com/office/drawing/2014/main" id="{D0B42BEC-7A00-840E-4F11-0EB4E38BA158}"/>
              </a:ext>
            </a:extLst>
          </p:cNvPr>
          <p:cNvSpPr>
            <a:spLocks noGrp="1"/>
          </p:cNvSpPr>
          <p:nvPr>
            <p:ph type="sldNum" sz="quarter" idx="12"/>
          </p:nvPr>
        </p:nvSpPr>
        <p:spPr/>
        <p:txBody>
          <a:bodyPr/>
          <a:lstStyle/>
          <a:p>
            <a:fld id="{372769DB-CAE7-4C85-A9AF-7D4D8DE4CA22}" type="slidenum">
              <a:rPr lang="en-GB" smtClean="0"/>
              <a:t>17</a:t>
            </a:fld>
            <a:endParaRPr lang="en-GB" dirty="0"/>
          </a:p>
        </p:txBody>
      </p:sp>
    </p:spTree>
    <p:extLst>
      <p:ext uri="{BB962C8B-B14F-4D97-AF65-F5344CB8AC3E}">
        <p14:creationId xmlns:p14="http://schemas.microsoft.com/office/powerpoint/2010/main" val="31294205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FF242-9172-165A-2AD8-6CC6437642CC}"/>
              </a:ext>
            </a:extLst>
          </p:cNvPr>
          <p:cNvSpPr>
            <a:spLocks noGrp="1"/>
          </p:cNvSpPr>
          <p:nvPr>
            <p:ph type="title"/>
          </p:nvPr>
        </p:nvSpPr>
        <p:spPr>
          <a:xfrm>
            <a:off x="1149484" y="1876839"/>
            <a:ext cx="9893031" cy="2626469"/>
          </a:xfrm>
        </p:spPr>
        <p:txBody>
          <a:bodyPr/>
          <a:lstStyle/>
          <a:p>
            <a:r>
              <a:rPr lang="en-GB" dirty="0"/>
              <a:t>Evaluating content analysis</a:t>
            </a:r>
          </a:p>
        </p:txBody>
      </p:sp>
    </p:spTree>
    <p:extLst>
      <p:ext uri="{BB962C8B-B14F-4D97-AF65-F5344CB8AC3E}">
        <p14:creationId xmlns:p14="http://schemas.microsoft.com/office/powerpoint/2010/main" val="27080830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829ED-A900-4F1F-CE76-D4CD7E8B9016}"/>
              </a:ext>
            </a:extLst>
          </p:cNvPr>
          <p:cNvSpPr>
            <a:spLocks noGrp="1"/>
          </p:cNvSpPr>
          <p:nvPr>
            <p:ph type="title"/>
          </p:nvPr>
        </p:nvSpPr>
        <p:spPr/>
        <p:txBody>
          <a:bodyPr/>
          <a:lstStyle/>
          <a:p>
            <a:r>
              <a:rPr lang="en-GB" dirty="0"/>
              <a:t>Evaluating content analysis</a:t>
            </a:r>
          </a:p>
        </p:txBody>
      </p:sp>
      <p:sp>
        <p:nvSpPr>
          <p:cNvPr id="5" name="Slide Number Placeholder 4">
            <a:extLst>
              <a:ext uri="{FF2B5EF4-FFF2-40B4-BE49-F238E27FC236}">
                <a16:creationId xmlns:a16="http://schemas.microsoft.com/office/drawing/2014/main" id="{A633363A-9297-622C-BDB2-C0D07106F406}"/>
              </a:ext>
            </a:extLst>
          </p:cNvPr>
          <p:cNvSpPr>
            <a:spLocks noGrp="1"/>
          </p:cNvSpPr>
          <p:nvPr>
            <p:ph type="sldNum" sz="quarter" idx="12"/>
          </p:nvPr>
        </p:nvSpPr>
        <p:spPr/>
        <p:txBody>
          <a:bodyPr/>
          <a:lstStyle/>
          <a:p>
            <a:fld id="{372769DB-CAE7-4C85-A9AF-7D4D8DE4CA22}" type="slidenum">
              <a:rPr lang="en-GB" smtClean="0"/>
              <a:t>19</a:t>
            </a:fld>
            <a:endParaRPr lang="en-GB" dirty="0"/>
          </a:p>
        </p:txBody>
      </p:sp>
      <p:sp>
        <p:nvSpPr>
          <p:cNvPr id="7" name="Content Placeholder 2">
            <a:extLst>
              <a:ext uri="{FF2B5EF4-FFF2-40B4-BE49-F238E27FC236}">
                <a16:creationId xmlns:a16="http://schemas.microsoft.com/office/drawing/2014/main" id="{56EBD5C7-1FBA-368E-8D31-6FCE5259ED51}"/>
              </a:ext>
            </a:extLst>
          </p:cNvPr>
          <p:cNvSpPr txBox="1">
            <a:spLocks/>
          </p:cNvSpPr>
          <p:nvPr/>
        </p:nvSpPr>
        <p:spPr>
          <a:xfrm>
            <a:off x="753912" y="1456985"/>
            <a:ext cx="10876433" cy="4351338"/>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40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GB" sz="4400" b="1" dirty="0"/>
          </a:p>
          <a:p>
            <a:pPr marL="0" indent="0">
              <a:buFont typeface="Arial" panose="020B0604020202020204" pitchFamily="34" charset="0"/>
              <a:buNone/>
            </a:pPr>
            <a:r>
              <a:rPr lang="en-GB" sz="4400" b="1" dirty="0"/>
              <a:t>Qualitative content analysis</a:t>
            </a:r>
          </a:p>
          <a:p>
            <a:r>
              <a:rPr lang="en-GB" dirty="0"/>
              <a:t>Plausible categories</a:t>
            </a:r>
          </a:p>
          <a:p>
            <a:r>
              <a:rPr lang="en-GB" dirty="0"/>
              <a:t>Explanation of coding decisions</a:t>
            </a:r>
          </a:p>
          <a:p>
            <a:endParaRPr lang="en-GB" dirty="0"/>
          </a:p>
          <a:p>
            <a:pPr marL="0" indent="0">
              <a:buNone/>
            </a:pPr>
            <a:r>
              <a:rPr lang="en-GB" b="1" dirty="0"/>
              <a:t>For all types of content analysis</a:t>
            </a:r>
          </a:p>
          <a:p>
            <a:r>
              <a:rPr lang="en-GB" sz="4000" dirty="0"/>
              <a:t>We can make our raw data and coding scheme publicly available</a:t>
            </a:r>
          </a:p>
          <a:p>
            <a:endParaRPr lang="en-GB" dirty="0"/>
          </a:p>
        </p:txBody>
      </p:sp>
    </p:spTree>
    <p:extLst>
      <p:ext uri="{BB962C8B-B14F-4D97-AF65-F5344CB8AC3E}">
        <p14:creationId xmlns:p14="http://schemas.microsoft.com/office/powerpoint/2010/main" val="10292950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829ED-A900-4F1F-CE76-D4CD7E8B9016}"/>
              </a:ext>
            </a:extLst>
          </p:cNvPr>
          <p:cNvSpPr>
            <a:spLocks noGrp="1"/>
          </p:cNvSpPr>
          <p:nvPr>
            <p:ph type="title"/>
          </p:nvPr>
        </p:nvSpPr>
        <p:spPr/>
        <p:txBody>
          <a:bodyPr/>
          <a:lstStyle/>
          <a:p>
            <a:r>
              <a:rPr lang="en-GB" dirty="0"/>
              <a:t>Evaluating content analysis</a:t>
            </a:r>
          </a:p>
        </p:txBody>
      </p:sp>
      <p:sp>
        <p:nvSpPr>
          <p:cNvPr id="3" name="Content Placeholder 2">
            <a:extLst>
              <a:ext uri="{FF2B5EF4-FFF2-40B4-BE49-F238E27FC236}">
                <a16:creationId xmlns:a16="http://schemas.microsoft.com/office/drawing/2014/main" id="{2474AEB9-DDBA-50B4-DF19-D66664425378}"/>
              </a:ext>
            </a:extLst>
          </p:cNvPr>
          <p:cNvSpPr>
            <a:spLocks noGrp="1"/>
          </p:cNvSpPr>
          <p:nvPr>
            <p:ph idx="1"/>
          </p:nvPr>
        </p:nvSpPr>
        <p:spPr>
          <a:xfrm>
            <a:off x="806566" y="3243832"/>
            <a:ext cx="4626166" cy="4351338"/>
          </a:xfrm>
        </p:spPr>
        <p:txBody>
          <a:bodyPr>
            <a:normAutofit/>
          </a:bodyPr>
          <a:lstStyle/>
          <a:p>
            <a:pPr marL="0" indent="0">
              <a:buNone/>
            </a:pPr>
            <a:r>
              <a:rPr lang="en-GB" sz="4400" b="1" dirty="0"/>
              <a:t>Validity</a:t>
            </a:r>
          </a:p>
          <a:p>
            <a:r>
              <a:rPr lang="en-GB" dirty="0"/>
              <a:t> internal validity</a:t>
            </a:r>
          </a:p>
          <a:p>
            <a:r>
              <a:rPr lang="en-GB" dirty="0"/>
              <a:t> external validity</a:t>
            </a:r>
          </a:p>
        </p:txBody>
      </p:sp>
      <p:sp>
        <p:nvSpPr>
          <p:cNvPr id="5" name="Slide Number Placeholder 4">
            <a:extLst>
              <a:ext uri="{FF2B5EF4-FFF2-40B4-BE49-F238E27FC236}">
                <a16:creationId xmlns:a16="http://schemas.microsoft.com/office/drawing/2014/main" id="{A633363A-9297-622C-BDB2-C0D07106F406}"/>
              </a:ext>
            </a:extLst>
          </p:cNvPr>
          <p:cNvSpPr>
            <a:spLocks noGrp="1"/>
          </p:cNvSpPr>
          <p:nvPr>
            <p:ph type="sldNum" sz="quarter" idx="12"/>
          </p:nvPr>
        </p:nvSpPr>
        <p:spPr/>
        <p:txBody>
          <a:bodyPr/>
          <a:lstStyle/>
          <a:p>
            <a:fld id="{372769DB-CAE7-4C85-A9AF-7D4D8DE4CA22}" type="slidenum">
              <a:rPr lang="en-GB" smtClean="0"/>
              <a:t>20</a:t>
            </a:fld>
            <a:endParaRPr lang="en-GB" dirty="0"/>
          </a:p>
        </p:txBody>
      </p:sp>
      <p:sp>
        <p:nvSpPr>
          <p:cNvPr id="6" name="Content Placeholder 2">
            <a:extLst>
              <a:ext uri="{FF2B5EF4-FFF2-40B4-BE49-F238E27FC236}">
                <a16:creationId xmlns:a16="http://schemas.microsoft.com/office/drawing/2014/main" id="{4B7BDE1C-5CCB-5F60-CD29-2D03887F51FC}"/>
              </a:ext>
            </a:extLst>
          </p:cNvPr>
          <p:cNvSpPr txBox="1">
            <a:spLocks/>
          </p:cNvSpPr>
          <p:nvPr/>
        </p:nvSpPr>
        <p:spPr>
          <a:xfrm>
            <a:off x="5692552" y="3292634"/>
            <a:ext cx="5258542"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40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4400" b="1" dirty="0"/>
              <a:t>Reliability</a:t>
            </a:r>
          </a:p>
          <a:p>
            <a:r>
              <a:rPr lang="en-GB" dirty="0"/>
              <a:t> intra-coder reliability</a:t>
            </a:r>
          </a:p>
          <a:p>
            <a:r>
              <a:rPr lang="en-GB" dirty="0"/>
              <a:t> inter-coder reliability</a:t>
            </a:r>
          </a:p>
        </p:txBody>
      </p:sp>
      <p:sp>
        <p:nvSpPr>
          <p:cNvPr id="7" name="Content Placeholder 2">
            <a:extLst>
              <a:ext uri="{FF2B5EF4-FFF2-40B4-BE49-F238E27FC236}">
                <a16:creationId xmlns:a16="http://schemas.microsoft.com/office/drawing/2014/main" id="{BF78F3D9-2005-AEA1-4297-23A32C400223}"/>
              </a:ext>
            </a:extLst>
          </p:cNvPr>
          <p:cNvSpPr txBox="1">
            <a:spLocks/>
          </p:cNvSpPr>
          <p:nvPr/>
        </p:nvSpPr>
        <p:spPr>
          <a:xfrm>
            <a:off x="712815" y="1931309"/>
            <a:ext cx="9684631"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40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4400" b="1" dirty="0"/>
              <a:t>Quantitative content analysis</a:t>
            </a:r>
            <a:endParaRPr lang="en-GB" dirty="0"/>
          </a:p>
        </p:txBody>
      </p:sp>
    </p:spTree>
    <p:extLst>
      <p:ext uri="{BB962C8B-B14F-4D97-AF65-F5344CB8AC3E}">
        <p14:creationId xmlns:p14="http://schemas.microsoft.com/office/powerpoint/2010/main" val="4455217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829ED-A900-4F1F-CE76-D4CD7E8B9016}"/>
              </a:ext>
            </a:extLst>
          </p:cNvPr>
          <p:cNvSpPr>
            <a:spLocks noGrp="1"/>
          </p:cNvSpPr>
          <p:nvPr>
            <p:ph type="title"/>
          </p:nvPr>
        </p:nvSpPr>
        <p:spPr/>
        <p:txBody>
          <a:bodyPr/>
          <a:lstStyle/>
          <a:p>
            <a:r>
              <a:rPr lang="en-GB" dirty="0"/>
              <a:t>Validity</a:t>
            </a:r>
          </a:p>
        </p:txBody>
      </p:sp>
      <p:sp>
        <p:nvSpPr>
          <p:cNvPr id="3" name="Content Placeholder 2">
            <a:extLst>
              <a:ext uri="{FF2B5EF4-FFF2-40B4-BE49-F238E27FC236}">
                <a16:creationId xmlns:a16="http://schemas.microsoft.com/office/drawing/2014/main" id="{2474AEB9-DDBA-50B4-DF19-D66664425378}"/>
              </a:ext>
            </a:extLst>
          </p:cNvPr>
          <p:cNvSpPr>
            <a:spLocks noGrp="1"/>
          </p:cNvSpPr>
          <p:nvPr>
            <p:ph idx="1"/>
          </p:nvPr>
        </p:nvSpPr>
        <p:spPr>
          <a:xfrm>
            <a:off x="252917" y="1338874"/>
            <a:ext cx="12074957" cy="4351338"/>
          </a:xfrm>
        </p:spPr>
        <p:txBody>
          <a:bodyPr>
            <a:normAutofit lnSpcReduction="10000"/>
          </a:bodyPr>
          <a:lstStyle/>
          <a:p>
            <a:pPr marL="0" indent="0">
              <a:buNone/>
            </a:pPr>
            <a:endParaRPr lang="en-GB" dirty="0"/>
          </a:p>
          <a:p>
            <a:pPr marL="0" indent="0">
              <a:buNone/>
            </a:pPr>
            <a:r>
              <a:rPr lang="en-GB" b="1" dirty="0">
                <a:solidFill>
                  <a:srgbClr val="E87E0A"/>
                </a:solidFill>
              </a:rPr>
              <a:t>Internal validity</a:t>
            </a:r>
          </a:p>
          <a:p>
            <a:r>
              <a:rPr lang="en-GB" dirty="0"/>
              <a:t>Does our coding capture the concepts we are interested in?</a:t>
            </a:r>
          </a:p>
          <a:p>
            <a:endParaRPr lang="en-GB" dirty="0"/>
          </a:p>
          <a:p>
            <a:pPr marL="0" indent="0">
              <a:buNone/>
            </a:pPr>
            <a:r>
              <a:rPr lang="en-GB" b="1" dirty="0">
                <a:solidFill>
                  <a:srgbClr val="E87E0A"/>
                </a:solidFill>
              </a:rPr>
              <a:t>External validity</a:t>
            </a:r>
          </a:p>
          <a:p>
            <a:r>
              <a:rPr lang="en-GB" dirty="0"/>
              <a:t>How generalisable are our findings to other contexts?</a:t>
            </a:r>
          </a:p>
        </p:txBody>
      </p:sp>
      <p:sp>
        <p:nvSpPr>
          <p:cNvPr id="5" name="Slide Number Placeholder 4">
            <a:extLst>
              <a:ext uri="{FF2B5EF4-FFF2-40B4-BE49-F238E27FC236}">
                <a16:creationId xmlns:a16="http://schemas.microsoft.com/office/drawing/2014/main" id="{A633363A-9297-622C-BDB2-C0D07106F406}"/>
              </a:ext>
            </a:extLst>
          </p:cNvPr>
          <p:cNvSpPr>
            <a:spLocks noGrp="1"/>
          </p:cNvSpPr>
          <p:nvPr>
            <p:ph type="sldNum" sz="quarter" idx="12"/>
          </p:nvPr>
        </p:nvSpPr>
        <p:spPr/>
        <p:txBody>
          <a:bodyPr/>
          <a:lstStyle/>
          <a:p>
            <a:fld id="{372769DB-CAE7-4C85-A9AF-7D4D8DE4CA22}" type="slidenum">
              <a:rPr lang="en-GB" smtClean="0"/>
              <a:t>21</a:t>
            </a:fld>
            <a:endParaRPr lang="en-GB" dirty="0"/>
          </a:p>
        </p:txBody>
      </p:sp>
    </p:spTree>
    <p:extLst>
      <p:ext uri="{BB962C8B-B14F-4D97-AF65-F5344CB8AC3E}">
        <p14:creationId xmlns:p14="http://schemas.microsoft.com/office/powerpoint/2010/main" val="21448326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829ED-A900-4F1F-CE76-D4CD7E8B9016}"/>
              </a:ext>
            </a:extLst>
          </p:cNvPr>
          <p:cNvSpPr>
            <a:spLocks noGrp="1"/>
          </p:cNvSpPr>
          <p:nvPr>
            <p:ph type="title"/>
          </p:nvPr>
        </p:nvSpPr>
        <p:spPr/>
        <p:txBody>
          <a:bodyPr/>
          <a:lstStyle/>
          <a:p>
            <a:r>
              <a:rPr lang="en-GB" dirty="0"/>
              <a:t>Reliability</a:t>
            </a:r>
          </a:p>
        </p:txBody>
      </p:sp>
      <p:sp>
        <p:nvSpPr>
          <p:cNvPr id="3" name="Content Placeholder 2">
            <a:extLst>
              <a:ext uri="{FF2B5EF4-FFF2-40B4-BE49-F238E27FC236}">
                <a16:creationId xmlns:a16="http://schemas.microsoft.com/office/drawing/2014/main" id="{2474AEB9-DDBA-50B4-DF19-D66664425378}"/>
              </a:ext>
            </a:extLst>
          </p:cNvPr>
          <p:cNvSpPr>
            <a:spLocks noGrp="1"/>
          </p:cNvSpPr>
          <p:nvPr>
            <p:ph idx="1"/>
          </p:nvPr>
        </p:nvSpPr>
        <p:spPr>
          <a:xfrm>
            <a:off x="252918" y="1338874"/>
            <a:ext cx="7083547" cy="4351338"/>
          </a:xfrm>
        </p:spPr>
        <p:txBody>
          <a:bodyPr>
            <a:normAutofit fontScale="92500" lnSpcReduction="10000"/>
          </a:bodyPr>
          <a:lstStyle/>
          <a:p>
            <a:pPr marL="0" indent="0">
              <a:buNone/>
            </a:pPr>
            <a:endParaRPr lang="en-GB" dirty="0"/>
          </a:p>
          <a:p>
            <a:pPr marL="0" indent="0">
              <a:buNone/>
            </a:pPr>
            <a:r>
              <a:rPr lang="en-GB" b="1" dirty="0">
                <a:solidFill>
                  <a:srgbClr val="E87E0A"/>
                </a:solidFill>
              </a:rPr>
              <a:t>Intra-coder reliability</a:t>
            </a:r>
          </a:p>
          <a:p>
            <a:r>
              <a:rPr lang="en-GB" dirty="0"/>
              <a:t>Does the same person code the same items consistently over time?</a:t>
            </a:r>
          </a:p>
          <a:p>
            <a:endParaRPr lang="en-GB" dirty="0"/>
          </a:p>
          <a:p>
            <a:pPr marL="0" indent="0">
              <a:buNone/>
            </a:pPr>
            <a:r>
              <a:rPr lang="en-GB" b="1" dirty="0">
                <a:solidFill>
                  <a:srgbClr val="E87E0A"/>
                </a:solidFill>
              </a:rPr>
              <a:t>Inter-coder reliability</a:t>
            </a:r>
          </a:p>
          <a:p>
            <a:r>
              <a:rPr lang="en-GB" dirty="0"/>
              <a:t>Do different people code the same items in a similar way?</a:t>
            </a:r>
          </a:p>
        </p:txBody>
      </p:sp>
      <p:sp>
        <p:nvSpPr>
          <p:cNvPr id="5" name="Slide Number Placeholder 4">
            <a:extLst>
              <a:ext uri="{FF2B5EF4-FFF2-40B4-BE49-F238E27FC236}">
                <a16:creationId xmlns:a16="http://schemas.microsoft.com/office/drawing/2014/main" id="{A633363A-9297-622C-BDB2-C0D07106F406}"/>
              </a:ext>
            </a:extLst>
          </p:cNvPr>
          <p:cNvSpPr>
            <a:spLocks noGrp="1"/>
          </p:cNvSpPr>
          <p:nvPr>
            <p:ph type="sldNum" sz="quarter" idx="12"/>
          </p:nvPr>
        </p:nvSpPr>
        <p:spPr/>
        <p:txBody>
          <a:bodyPr/>
          <a:lstStyle/>
          <a:p>
            <a:fld id="{372769DB-CAE7-4C85-A9AF-7D4D8DE4CA22}" type="slidenum">
              <a:rPr lang="en-GB" smtClean="0"/>
              <a:t>22</a:t>
            </a:fld>
            <a:endParaRPr lang="en-GB" dirty="0"/>
          </a:p>
        </p:txBody>
      </p:sp>
      <p:pic>
        <p:nvPicPr>
          <p:cNvPr id="7" name="Picture 6" descr="A group of hands holding pens and writing on a piece of paper&#10;&#10;Description automatically generated">
            <a:extLst>
              <a:ext uri="{FF2B5EF4-FFF2-40B4-BE49-F238E27FC236}">
                <a16:creationId xmlns:a16="http://schemas.microsoft.com/office/drawing/2014/main" id="{23B6402B-7BC2-4F23-0588-3B866BFB8C6D}"/>
              </a:ext>
            </a:extLst>
          </p:cNvPr>
          <p:cNvPicPr>
            <a:picLocks noChangeAspect="1"/>
          </p:cNvPicPr>
          <p:nvPr/>
        </p:nvPicPr>
        <p:blipFill rotWithShape="1">
          <a:blip r:embed="rId2">
            <a:extLst>
              <a:ext uri="{28A0092B-C50C-407E-A947-70E740481C1C}">
                <a14:useLocalDpi xmlns:a14="http://schemas.microsoft.com/office/drawing/2010/main" val="0"/>
              </a:ext>
            </a:extLst>
          </a:blip>
          <a:srcRect l="12781" r="12968"/>
          <a:stretch/>
        </p:blipFill>
        <p:spPr>
          <a:xfrm>
            <a:off x="7728000" y="2222369"/>
            <a:ext cx="4464000" cy="3381818"/>
          </a:xfrm>
          <a:prstGeom prst="rect">
            <a:avLst/>
          </a:prstGeom>
        </p:spPr>
      </p:pic>
    </p:spTree>
    <p:extLst>
      <p:ext uri="{BB962C8B-B14F-4D97-AF65-F5344CB8AC3E}">
        <p14:creationId xmlns:p14="http://schemas.microsoft.com/office/powerpoint/2010/main" val="34091941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829ED-A900-4F1F-CE76-D4CD7E8B9016}"/>
              </a:ext>
            </a:extLst>
          </p:cNvPr>
          <p:cNvSpPr>
            <a:spLocks noGrp="1"/>
          </p:cNvSpPr>
          <p:nvPr>
            <p:ph type="title"/>
          </p:nvPr>
        </p:nvSpPr>
        <p:spPr/>
        <p:txBody>
          <a:bodyPr/>
          <a:lstStyle/>
          <a:p>
            <a:r>
              <a:rPr lang="en-GB" dirty="0"/>
              <a:t>Reliability</a:t>
            </a:r>
          </a:p>
        </p:txBody>
      </p:sp>
      <p:sp>
        <p:nvSpPr>
          <p:cNvPr id="3" name="Content Placeholder 2">
            <a:extLst>
              <a:ext uri="{FF2B5EF4-FFF2-40B4-BE49-F238E27FC236}">
                <a16:creationId xmlns:a16="http://schemas.microsoft.com/office/drawing/2014/main" id="{2474AEB9-DDBA-50B4-DF19-D66664425378}"/>
              </a:ext>
            </a:extLst>
          </p:cNvPr>
          <p:cNvSpPr>
            <a:spLocks noGrp="1"/>
          </p:cNvSpPr>
          <p:nvPr>
            <p:ph idx="1"/>
          </p:nvPr>
        </p:nvSpPr>
        <p:spPr>
          <a:xfrm>
            <a:off x="252917" y="1338874"/>
            <a:ext cx="11614828" cy="5024600"/>
          </a:xfrm>
        </p:spPr>
        <p:txBody>
          <a:bodyPr>
            <a:normAutofit fontScale="85000" lnSpcReduction="20000"/>
          </a:bodyPr>
          <a:lstStyle/>
          <a:p>
            <a:pPr marL="0" indent="0">
              <a:buNone/>
            </a:pPr>
            <a:r>
              <a:rPr lang="en-GB" sz="3900" dirty="0"/>
              <a:t>Measures of inter-coder reliability</a:t>
            </a:r>
          </a:p>
          <a:p>
            <a:pPr marL="0" indent="0">
              <a:buNone/>
            </a:pPr>
            <a:endParaRPr lang="en-GB" sz="3900" dirty="0"/>
          </a:p>
          <a:p>
            <a:pPr marL="0" indent="0">
              <a:buNone/>
            </a:pPr>
            <a:r>
              <a:rPr lang="en-GB" sz="3900" b="1" dirty="0">
                <a:solidFill>
                  <a:srgbClr val="E87E0A"/>
                </a:solidFill>
              </a:rPr>
              <a:t>Percentage agreement</a:t>
            </a:r>
          </a:p>
          <a:p>
            <a:r>
              <a:rPr lang="en-GB" sz="3900" dirty="0"/>
              <a:t> </a:t>
            </a:r>
            <a:r>
              <a:rPr lang="en-GB" sz="3500" dirty="0"/>
              <a:t>What % of items were coded in the same way by both coders?</a:t>
            </a:r>
          </a:p>
          <a:p>
            <a:r>
              <a:rPr lang="en-GB" sz="3500" dirty="0"/>
              <a:t>Takes values between 0-100</a:t>
            </a:r>
          </a:p>
          <a:p>
            <a:pPr marL="0" indent="0">
              <a:buNone/>
            </a:pPr>
            <a:endParaRPr lang="en-GB" sz="3500" dirty="0"/>
          </a:p>
          <a:p>
            <a:pPr marL="0" indent="0">
              <a:buNone/>
            </a:pPr>
            <a:r>
              <a:rPr lang="en-GB" sz="3900" b="1" dirty="0">
                <a:solidFill>
                  <a:srgbClr val="E87E0A"/>
                </a:solidFill>
              </a:rPr>
              <a:t>Reliability coefficients</a:t>
            </a:r>
          </a:p>
          <a:p>
            <a:pPr marL="0" indent="0">
              <a:buNone/>
            </a:pPr>
            <a:r>
              <a:rPr lang="en-GB" sz="3500" b="1" dirty="0"/>
              <a:t>e.g. </a:t>
            </a:r>
            <a:r>
              <a:rPr lang="en-GB" sz="3500" b="1" dirty="0" err="1"/>
              <a:t>Krippendorf’s</a:t>
            </a:r>
            <a:r>
              <a:rPr lang="en-GB" sz="3500" b="1" dirty="0"/>
              <a:t> Alpha</a:t>
            </a:r>
          </a:p>
          <a:p>
            <a:r>
              <a:rPr lang="en-GB" sz="3500" dirty="0"/>
              <a:t>Measure of observed disagreement, corrected for level of disagreement expected by chance</a:t>
            </a:r>
          </a:p>
          <a:p>
            <a:r>
              <a:rPr lang="en-GB" sz="3500" dirty="0"/>
              <a:t>Takes values between -1 and 1</a:t>
            </a:r>
          </a:p>
          <a:p>
            <a:pPr marL="0" indent="0">
              <a:buNone/>
            </a:pPr>
            <a:endParaRPr lang="en-GB" dirty="0"/>
          </a:p>
        </p:txBody>
      </p:sp>
      <p:sp>
        <p:nvSpPr>
          <p:cNvPr id="5" name="Slide Number Placeholder 4">
            <a:extLst>
              <a:ext uri="{FF2B5EF4-FFF2-40B4-BE49-F238E27FC236}">
                <a16:creationId xmlns:a16="http://schemas.microsoft.com/office/drawing/2014/main" id="{A633363A-9297-622C-BDB2-C0D07106F406}"/>
              </a:ext>
            </a:extLst>
          </p:cNvPr>
          <p:cNvSpPr>
            <a:spLocks noGrp="1"/>
          </p:cNvSpPr>
          <p:nvPr>
            <p:ph type="sldNum" sz="quarter" idx="12"/>
          </p:nvPr>
        </p:nvSpPr>
        <p:spPr/>
        <p:txBody>
          <a:bodyPr/>
          <a:lstStyle/>
          <a:p>
            <a:fld id="{372769DB-CAE7-4C85-A9AF-7D4D8DE4CA22}" type="slidenum">
              <a:rPr lang="en-GB" smtClean="0"/>
              <a:t>23</a:t>
            </a:fld>
            <a:endParaRPr lang="en-GB" dirty="0"/>
          </a:p>
        </p:txBody>
      </p:sp>
    </p:spTree>
    <p:extLst>
      <p:ext uri="{BB962C8B-B14F-4D97-AF65-F5344CB8AC3E}">
        <p14:creationId xmlns:p14="http://schemas.microsoft.com/office/powerpoint/2010/main" val="12540636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829ED-A900-4F1F-CE76-D4CD7E8B9016}"/>
              </a:ext>
            </a:extLst>
          </p:cNvPr>
          <p:cNvSpPr>
            <a:spLocks noGrp="1"/>
          </p:cNvSpPr>
          <p:nvPr>
            <p:ph type="title"/>
          </p:nvPr>
        </p:nvSpPr>
        <p:spPr/>
        <p:txBody>
          <a:bodyPr/>
          <a:lstStyle/>
          <a:p>
            <a:r>
              <a:rPr lang="en-GB" dirty="0"/>
              <a:t>Reliability</a:t>
            </a:r>
          </a:p>
        </p:txBody>
      </p:sp>
      <p:sp>
        <p:nvSpPr>
          <p:cNvPr id="3" name="Content Placeholder 2">
            <a:extLst>
              <a:ext uri="{FF2B5EF4-FFF2-40B4-BE49-F238E27FC236}">
                <a16:creationId xmlns:a16="http://schemas.microsoft.com/office/drawing/2014/main" id="{2474AEB9-DDBA-50B4-DF19-D66664425378}"/>
              </a:ext>
            </a:extLst>
          </p:cNvPr>
          <p:cNvSpPr>
            <a:spLocks noGrp="1"/>
          </p:cNvSpPr>
          <p:nvPr>
            <p:ph idx="1"/>
          </p:nvPr>
        </p:nvSpPr>
        <p:spPr>
          <a:xfrm>
            <a:off x="252917" y="1338874"/>
            <a:ext cx="12074957" cy="864499"/>
          </a:xfrm>
        </p:spPr>
        <p:txBody>
          <a:bodyPr>
            <a:normAutofit/>
          </a:bodyPr>
          <a:lstStyle/>
          <a:p>
            <a:pPr marL="0" indent="0">
              <a:buNone/>
            </a:pPr>
            <a:r>
              <a:rPr lang="en-GB" dirty="0"/>
              <a:t>Measures of reliability</a:t>
            </a:r>
          </a:p>
          <a:p>
            <a:pPr marL="0" indent="0">
              <a:buNone/>
            </a:pPr>
            <a:endParaRPr lang="en-GB" dirty="0"/>
          </a:p>
          <a:p>
            <a:pPr marL="0" indent="0">
              <a:buNone/>
            </a:pPr>
            <a:endParaRPr lang="en-GB" dirty="0"/>
          </a:p>
        </p:txBody>
      </p:sp>
      <p:sp>
        <p:nvSpPr>
          <p:cNvPr id="5" name="Slide Number Placeholder 4">
            <a:extLst>
              <a:ext uri="{FF2B5EF4-FFF2-40B4-BE49-F238E27FC236}">
                <a16:creationId xmlns:a16="http://schemas.microsoft.com/office/drawing/2014/main" id="{A633363A-9297-622C-BDB2-C0D07106F406}"/>
              </a:ext>
            </a:extLst>
          </p:cNvPr>
          <p:cNvSpPr>
            <a:spLocks noGrp="1"/>
          </p:cNvSpPr>
          <p:nvPr>
            <p:ph type="sldNum" sz="quarter" idx="12"/>
          </p:nvPr>
        </p:nvSpPr>
        <p:spPr/>
        <p:txBody>
          <a:bodyPr/>
          <a:lstStyle/>
          <a:p>
            <a:fld id="{372769DB-CAE7-4C85-A9AF-7D4D8DE4CA22}" type="slidenum">
              <a:rPr lang="en-GB" smtClean="0"/>
              <a:t>24</a:t>
            </a:fld>
            <a:endParaRPr lang="en-GB" dirty="0"/>
          </a:p>
        </p:txBody>
      </p:sp>
      <p:graphicFrame>
        <p:nvGraphicFramePr>
          <p:cNvPr id="6" name="Table 5">
            <a:extLst>
              <a:ext uri="{FF2B5EF4-FFF2-40B4-BE49-F238E27FC236}">
                <a16:creationId xmlns:a16="http://schemas.microsoft.com/office/drawing/2014/main" id="{EFE6CDD2-CA96-8D4E-A827-292BCDF8232E}"/>
              </a:ext>
            </a:extLst>
          </p:cNvPr>
          <p:cNvGraphicFramePr>
            <a:graphicFrameLocks noGrp="1"/>
          </p:cNvGraphicFramePr>
          <p:nvPr/>
        </p:nvGraphicFramePr>
        <p:xfrm>
          <a:off x="225172" y="2054306"/>
          <a:ext cx="11642573" cy="2749388"/>
        </p:xfrm>
        <a:graphic>
          <a:graphicData uri="http://schemas.openxmlformats.org/drawingml/2006/table">
            <a:tbl>
              <a:tblPr firstRow="1" bandRow="1">
                <a:tableStyleId>{69012ECD-51FC-41F1-AA8D-1B2483CD663E}</a:tableStyleId>
              </a:tblPr>
              <a:tblGrid>
                <a:gridCol w="1311756">
                  <a:extLst>
                    <a:ext uri="{9D8B030D-6E8A-4147-A177-3AD203B41FA5}">
                      <a16:colId xmlns:a16="http://schemas.microsoft.com/office/drawing/2014/main" val="4142616856"/>
                    </a:ext>
                  </a:extLst>
                </a:gridCol>
                <a:gridCol w="1079653">
                  <a:extLst>
                    <a:ext uri="{9D8B030D-6E8A-4147-A177-3AD203B41FA5}">
                      <a16:colId xmlns:a16="http://schemas.microsoft.com/office/drawing/2014/main" val="384114073"/>
                    </a:ext>
                  </a:extLst>
                </a:gridCol>
                <a:gridCol w="1054068">
                  <a:extLst>
                    <a:ext uri="{9D8B030D-6E8A-4147-A177-3AD203B41FA5}">
                      <a16:colId xmlns:a16="http://schemas.microsoft.com/office/drawing/2014/main" val="1271380689"/>
                    </a:ext>
                  </a:extLst>
                </a:gridCol>
                <a:gridCol w="1024637">
                  <a:extLst>
                    <a:ext uri="{9D8B030D-6E8A-4147-A177-3AD203B41FA5}">
                      <a16:colId xmlns:a16="http://schemas.microsoft.com/office/drawing/2014/main" val="1455020364"/>
                    </a:ext>
                  </a:extLst>
                </a:gridCol>
                <a:gridCol w="1024637">
                  <a:extLst>
                    <a:ext uri="{9D8B030D-6E8A-4147-A177-3AD203B41FA5}">
                      <a16:colId xmlns:a16="http://schemas.microsoft.com/office/drawing/2014/main" val="652206220"/>
                    </a:ext>
                  </a:extLst>
                </a:gridCol>
                <a:gridCol w="1024637">
                  <a:extLst>
                    <a:ext uri="{9D8B030D-6E8A-4147-A177-3AD203B41FA5}">
                      <a16:colId xmlns:a16="http://schemas.microsoft.com/office/drawing/2014/main" val="1538217645"/>
                    </a:ext>
                  </a:extLst>
                </a:gridCol>
                <a:gridCol w="1024637">
                  <a:extLst>
                    <a:ext uri="{9D8B030D-6E8A-4147-A177-3AD203B41FA5}">
                      <a16:colId xmlns:a16="http://schemas.microsoft.com/office/drawing/2014/main" val="4004902531"/>
                    </a:ext>
                  </a:extLst>
                </a:gridCol>
                <a:gridCol w="1024637">
                  <a:extLst>
                    <a:ext uri="{9D8B030D-6E8A-4147-A177-3AD203B41FA5}">
                      <a16:colId xmlns:a16="http://schemas.microsoft.com/office/drawing/2014/main" val="2207854395"/>
                    </a:ext>
                  </a:extLst>
                </a:gridCol>
                <a:gridCol w="1024637">
                  <a:extLst>
                    <a:ext uri="{9D8B030D-6E8A-4147-A177-3AD203B41FA5}">
                      <a16:colId xmlns:a16="http://schemas.microsoft.com/office/drawing/2014/main" val="3647920501"/>
                    </a:ext>
                  </a:extLst>
                </a:gridCol>
                <a:gridCol w="1024637">
                  <a:extLst>
                    <a:ext uri="{9D8B030D-6E8A-4147-A177-3AD203B41FA5}">
                      <a16:colId xmlns:a16="http://schemas.microsoft.com/office/drawing/2014/main" val="1056190007"/>
                    </a:ext>
                  </a:extLst>
                </a:gridCol>
                <a:gridCol w="1024637">
                  <a:extLst>
                    <a:ext uri="{9D8B030D-6E8A-4147-A177-3AD203B41FA5}">
                      <a16:colId xmlns:a16="http://schemas.microsoft.com/office/drawing/2014/main" val="817032779"/>
                    </a:ext>
                  </a:extLst>
                </a:gridCol>
              </a:tblGrid>
              <a:tr h="902254">
                <a:tc>
                  <a:txBody>
                    <a:bodyPr/>
                    <a:lstStyle/>
                    <a:p>
                      <a:endParaRPr lang="en-GB" sz="2800" dirty="0"/>
                    </a:p>
                  </a:txBody>
                  <a:tcPr/>
                </a:tc>
                <a:tc>
                  <a:txBody>
                    <a:bodyPr/>
                    <a:lstStyle/>
                    <a:p>
                      <a:pPr algn="ctr"/>
                      <a:r>
                        <a:rPr lang="en-US" sz="2800" dirty="0"/>
                        <a:t>Item 1</a:t>
                      </a:r>
                      <a:endParaRPr lang="en-GB" sz="2800" dirty="0"/>
                    </a:p>
                  </a:txBody>
                  <a:tcPr/>
                </a:tc>
                <a:tc>
                  <a:txBody>
                    <a:bodyPr/>
                    <a:lstStyle/>
                    <a:p>
                      <a:pPr algn="ctr"/>
                      <a:r>
                        <a:rPr lang="en-US" sz="2800" dirty="0"/>
                        <a:t>Item 2</a:t>
                      </a:r>
                      <a:endParaRPr lang="en-GB" sz="2800" dirty="0"/>
                    </a:p>
                  </a:txBody>
                  <a:tcPr/>
                </a:tc>
                <a:tc>
                  <a:txBody>
                    <a:bodyPr/>
                    <a:lstStyle/>
                    <a:p>
                      <a:pPr algn="ctr"/>
                      <a:r>
                        <a:rPr lang="en-US" sz="2800" dirty="0"/>
                        <a:t>Item 3</a:t>
                      </a:r>
                      <a:endParaRPr lang="en-GB" sz="2800" dirty="0"/>
                    </a:p>
                  </a:txBody>
                  <a:tcPr/>
                </a:tc>
                <a:tc>
                  <a:txBody>
                    <a:bodyPr/>
                    <a:lstStyle/>
                    <a:p>
                      <a:pPr algn="ctr"/>
                      <a:r>
                        <a:rPr lang="en-US" sz="2800" dirty="0"/>
                        <a:t>Item 4</a:t>
                      </a:r>
                      <a:endParaRPr lang="en-GB" sz="2800" dirty="0"/>
                    </a:p>
                  </a:txBody>
                  <a:tcPr/>
                </a:tc>
                <a:tc>
                  <a:txBody>
                    <a:bodyPr/>
                    <a:lstStyle/>
                    <a:p>
                      <a:pPr algn="ctr"/>
                      <a:r>
                        <a:rPr lang="en-US" sz="2800" dirty="0"/>
                        <a:t>Item 5</a:t>
                      </a:r>
                      <a:endParaRPr lang="en-GB" sz="2800" dirty="0"/>
                    </a:p>
                  </a:txBody>
                  <a:tcPr/>
                </a:tc>
                <a:tc>
                  <a:txBody>
                    <a:bodyPr/>
                    <a:lstStyle/>
                    <a:p>
                      <a:pPr algn="ctr"/>
                      <a:r>
                        <a:rPr lang="en-US" sz="2800" dirty="0"/>
                        <a:t>Item 6</a:t>
                      </a:r>
                      <a:endParaRPr lang="en-GB" sz="2800" dirty="0"/>
                    </a:p>
                  </a:txBody>
                  <a:tcPr/>
                </a:tc>
                <a:tc>
                  <a:txBody>
                    <a:bodyPr/>
                    <a:lstStyle/>
                    <a:p>
                      <a:pPr algn="ctr"/>
                      <a:r>
                        <a:rPr lang="en-US" sz="2800" dirty="0"/>
                        <a:t>Item 7</a:t>
                      </a:r>
                      <a:endParaRPr lang="en-GB" sz="2800" dirty="0"/>
                    </a:p>
                  </a:txBody>
                  <a:tcPr/>
                </a:tc>
                <a:tc>
                  <a:txBody>
                    <a:bodyPr/>
                    <a:lstStyle/>
                    <a:p>
                      <a:pPr algn="ctr"/>
                      <a:r>
                        <a:rPr lang="en-US" sz="2800" dirty="0"/>
                        <a:t>Item 8 </a:t>
                      </a:r>
                      <a:endParaRPr lang="en-GB" sz="2800" dirty="0"/>
                    </a:p>
                  </a:txBody>
                  <a:tcPr/>
                </a:tc>
                <a:tc>
                  <a:txBody>
                    <a:bodyPr/>
                    <a:lstStyle/>
                    <a:p>
                      <a:pPr algn="ctr"/>
                      <a:r>
                        <a:rPr lang="en-US" sz="2800" dirty="0"/>
                        <a:t>Item 9</a:t>
                      </a:r>
                      <a:endParaRPr lang="en-GB" sz="2800" dirty="0"/>
                    </a:p>
                  </a:txBody>
                  <a:tcPr/>
                </a:tc>
                <a:tc>
                  <a:txBody>
                    <a:bodyPr/>
                    <a:lstStyle/>
                    <a:p>
                      <a:pPr algn="ctr"/>
                      <a:r>
                        <a:rPr lang="en-US" sz="2800" dirty="0"/>
                        <a:t>Item 10</a:t>
                      </a:r>
                      <a:endParaRPr lang="en-GB" sz="2800" dirty="0"/>
                    </a:p>
                  </a:txBody>
                  <a:tcPr/>
                </a:tc>
                <a:extLst>
                  <a:ext uri="{0D108BD9-81ED-4DB2-BD59-A6C34878D82A}">
                    <a16:rowId xmlns:a16="http://schemas.microsoft.com/office/drawing/2014/main" val="944624969"/>
                  </a:ext>
                </a:extLst>
              </a:tr>
              <a:tr h="902254">
                <a:tc>
                  <a:txBody>
                    <a:bodyPr/>
                    <a:lstStyle/>
                    <a:p>
                      <a:r>
                        <a:rPr lang="en-US" sz="2800" dirty="0"/>
                        <a:t>Coder 1</a:t>
                      </a:r>
                      <a:endParaRPr lang="en-GB" sz="2800" dirty="0"/>
                    </a:p>
                  </a:txBody>
                  <a:tcPr/>
                </a:tc>
                <a:tc>
                  <a:txBody>
                    <a:bodyPr/>
                    <a:lstStyle/>
                    <a:p>
                      <a:pPr algn="ctr"/>
                      <a:r>
                        <a:rPr lang="en-US" sz="3600" b="1" dirty="0">
                          <a:solidFill>
                            <a:srgbClr val="E76254"/>
                          </a:solidFill>
                        </a:rPr>
                        <a:t>0</a:t>
                      </a:r>
                      <a:endParaRPr lang="en-GB" sz="3600" b="1" dirty="0">
                        <a:solidFill>
                          <a:srgbClr val="E76254"/>
                        </a:solidFill>
                      </a:endParaRPr>
                    </a:p>
                  </a:txBody>
                  <a:tcPr/>
                </a:tc>
                <a:tc>
                  <a:txBody>
                    <a:bodyPr/>
                    <a:lstStyle/>
                    <a:p>
                      <a:pPr algn="ctr"/>
                      <a:r>
                        <a:rPr lang="en-US" sz="3600" b="1" dirty="0">
                          <a:solidFill>
                            <a:srgbClr val="00B050"/>
                          </a:solidFill>
                        </a:rPr>
                        <a:t>1</a:t>
                      </a:r>
                      <a:endParaRPr lang="en-GB" sz="3600" b="1" dirty="0">
                        <a:solidFill>
                          <a:srgbClr val="E76254"/>
                        </a:solidFill>
                      </a:endParaRPr>
                    </a:p>
                  </a:txBody>
                  <a:tcPr/>
                </a:tc>
                <a:tc>
                  <a:txBody>
                    <a:bodyPr/>
                    <a:lstStyle/>
                    <a:p>
                      <a:pPr algn="ctr"/>
                      <a:r>
                        <a:rPr lang="en-US" sz="3600" b="1" dirty="0">
                          <a:solidFill>
                            <a:srgbClr val="E76254"/>
                          </a:solidFill>
                        </a:rPr>
                        <a:t>0</a:t>
                      </a:r>
                      <a:endParaRPr lang="en-GB" sz="3600" b="1" dirty="0">
                        <a:solidFill>
                          <a:srgbClr val="E76254"/>
                        </a:solidFill>
                      </a:endParaRPr>
                    </a:p>
                  </a:txBody>
                  <a:tcPr/>
                </a:tc>
                <a:tc>
                  <a:txBody>
                    <a:bodyPr/>
                    <a:lstStyle/>
                    <a:p>
                      <a:pPr algn="ctr"/>
                      <a:r>
                        <a:rPr lang="en-US" sz="3600" b="1" dirty="0">
                          <a:solidFill>
                            <a:srgbClr val="E76254"/>
                          </a:solidFill>
                        </a:rPr>
                        <a:t>0</a:t>
                      </a:r>
                      <a:endParaRPr lang="en-GB" sz="3600" b="1" dirty="0">
                        <a:solidFill>
                          <a:srgbClr val="E76254"/>
                        </a:solidFill>
                      </a:endParaRPr>
                    </a:p>
                  </a:txBody>
                  <a:tcPr/>
                </a:tc>
                <a:tc>
                  <a:txBody>
                    <a:bodyPr/>
                    <a:lstStyle/>
                    <a:p>
                      <a:pPr algn="ctr"/>
                      <a:r>
                        <a:rPr lang="en-US" sz="3600" b="1" dirty="0">
                          <a:solidFill>
                            <a:srgbClr val="E76254"/>
                          </a:solidFill>
                        </a:rPr>
                        <a:t>0</a:t>
                      </a:r>
                      <a:endParaRPr lang="en-GB" sz="3600" b="1" dirty="0">
                        <a:solidFill>
                          <a:srgbClr val="E76254"/>
                        </a:solidFill>
                      </a:endParaRPr>
                    </a:p>
                  </a:txBody>
                  <a:tcPr/>
                </a:tc>
                <a:tc>
                  <a:txBody>
                    <a:bodyPr/>
                    <a:lstStyle/>
                    <a:p>
                      <a:pPr algn="ctr"/>
                      <a:r>
                        <a:rPr lang="en-US" sz="3600" b="1" dirty="0">
                          <a:solidFill>
                            <a:srgbClr val="00B050"/>
                          </a:solidFill>
                        </a:rPr>
                        <a:t>1</a:t>
                      </a:r>
                      <a:endParaRPr lang="en-GB" sz="3600" b="1" dirty="0">
                        <a:solidFill>
                          <a:srgbClr val="00B050"/>
                        </a:solidFill>
                      </a:endParaRPr>
                    </a:p>
                  </a:txBody>
                  <a:tcPr/>
                </a:tc>
                <a:tc>
                  <a:txBody>
                    <a:bodyPr/>
                    <a:lstStyle/>
                    <a:p>
                      <a:pPr algn="ctr"/>
                      <a:r>
                        <a:rPr lang="en-US" sz="3600" b="1" dirty="0">
                          <a:solidFill>
                            <a:srgbClr val="E76254"/>
                          </a:solidFill>
                        </a:rPr>
                        <a:t>0</a:t>
                      </a:r>
                      <a:endParaRPr lang="en-GB" sz="3600" b="1" dirty="0">
                        <a:solidFill>
                          <a:srgbClr val="E76254"/>
                        </a:solidFill>
                      </a:endParaRPr>
                    </a:p>
                  </a:txBody>
                  <a:tcPr/>
                </a:tc>
                <a:tc>
                  <a:txBody>
                    <a:bodyPr/>
                    <a:lstStyle/>
                    <a:p>
                      <a:pPr algn="ctr"/>
                      <a:r>
                        <a:rPr lang="en-US" sz="3600" b="1" dirty="0">
                          <a:solidFill>
                            <a:srgbClr val="E76254"/>
                          </a:solidFill>
                        </a:rPr>
                        <a:t>0</a:t>
                      </a:r>
                      <a:endParaRPr lang="en-GB" sz="3600" b="1" dirty="0">
                        <a:solidFill>
                          <a:srgbClr val="E76254"/>
                        </a:solidFill>
                      </a:endParaRPr>
                    </a:p>
                  </a:txBody>
                  <a:tcPr/>
                </a:tc>
                <a:tc>
                  <a:txBody>
                    <a:bodyPr/>
                    <a:lstStyle/>
                    <a:p>
                      <a:pPr algn="ctr"/>
                      <a:r>
                        <a:rPr lang="en-US" sz="3600" b="1" dirty="0">
                          <a:solidFill>
                            <a:srgbClr val="E76254"/>
                          </a:solidFill>
                        </a:rPr>
                        <a:t>0</a:t>
                      </a:r>
                      <a:endParaRPr lang="en-GB" sz="3600" b="1" dirty="0">
                        <a:solidFill>
                          <a:srgbClr val="E76254"/>
                        </a:solidFill>
                      </a:endParaRPr>
                    </a:p>
                  </a:txBody>
                  <a:tcPr/>
                </a:tc>
                <a:tc>
                  <a:txBody>
                    <a:bodyPr/>
                    <a:lstStyle/>
                    <a:p>
                      <a:pPr algn="ctr"/>
                      <a:r>
                        <a:rPr lang="en-US" sz="3600" b="1" dirty="0">
                          <a:solidFill>
                            <a:srgbClr val="00B050"/>
                          </a:solidFill>
                        </a:rPr>
                        <a:t>1</a:t>
                      </a:r>
                      <a:endParaRPr lang="en-GB" sz="3600" b="1" dirty="0">
                        <a:solidFill>
                          <a:srgbClr val="00B050"/>
                        </a:solidFill>
                      </a:endParaRPr>
                    </a:p>
                  </a:txBody>
                  <a:tcPr/>
                </a:tc>
                <a:extLst>
                  <a:ext uri="{0D108BD9-81ED-4DB2-BD59-A6C34878D82A}">
                    <a16:rowId xmlns:a16="http://schemas.microsoft.com/office/drawing/2014/main" val="1226394790"/>
                  </a:ext>
                </a:extLst>
              </a:tr>
              <a:tr h="902254">
                <a:tc>
                  <a:txBody>
                    <a:bodyPr/>
                    <a:lstStyle/>
                    <a:p>
                      <a:r>
                        <a:rPr lang="en-US" sz="2800" dirty="0"/>
                        <a:t>Coder 2</a:t>
                      </a:r>
                      <a:endParaRPr lang="en-GB" sz="2800" dirty="0"/>
                    </a:p>
                  </a:txBody>
                  <a:tcPr/>
                </a:tc>
                <a:tc>
                  <a:txBody>
                    <a:bodyPr/>
                    <a:lstStyle/>
                    <a:p>
                      <a:pPr algn="ctr"/>
                      <a:r>
                        <a:rPr lang="en-US" sz="3600" b="1" dirty="0">
                          <a:solidFill>
                            <a:srgbClr val="E76254"/>
                          </a:solidFill>
                        </a:rPr>
                        <a:t>0</a:t>
                      </a:r>
                      <a:endParaRPr lang="en-GB" sz="3600" b="1" dirty="0">
                        <a:solidFill>
                          <a:srgbClr val="E76254"/>
                        </a:solidFill>
                      </a:endParaRPr>
                    </a:p>
                  </a:txBody>
                  <a:tcPr/>
                </a:tc>
                <a:tc>
                  <a:txBody>
                    <a:bodyPr/>
                    <a:lstStyle/>
                    <a:p>
                      <a:pPr algn="ctr"/>
                      <a:r>
                        <a:rPr lang="en-US" sz="3600" b="1" dirty="0">
                          <a:solidFill>
                            <a:srgbClr val="00B050"/>
                          </a:solidFill>
                        </a:rPr>
                        <a:t>1</a:t>
                      </a:r>
                      <a:r>
                        <a:rPr lang="en-US" sz="3600" b="1" dirty="0"/>
                        <a:t> </a:t>
                      </a:r>
                      <a:endParaRPr lang="en-GB" sz="3600" b="1" dirty="0"/>
                    </a:p>
                  </a:txBody>
                  <a:tcPr/>
                </a:tc>
                <a:tc>
                  <a:txBody>
                    <a:bodyPr/>
                    <a:lstStyle/>
                    <a:p>
                      <a:pPr algn="ctr"/>
                      <a:r>
                        <a:rPr lang="en-US" sz="3600" b="1" dirty="0">
                          <a:solidFill>
                            <a:srgbClr val="E76254"/>
                          </a:solidFill>
                        </a:rPr>
                        <a:t>0</a:t>
                      </a:r>
                      <a:endParaRPr lang="en-GB" sz="3600" b="1" dirty="0">
                        <a:solidFill>
                          <a:srgbClr val="E76254"/>
                        </a:solidFill>
                      </a:endParaRPr>
                    </a:p>
                  </a:txBody>
                  <a:tcPr/>
                </a:tc>
                <a:tc>
                  <a:txBody>
                    <a:bodyPr/>
                    <a:lstStyle/>
                    <a:p>
                      <a:pPr algn="ctr"/>
                      <a:r>
                        <a:rPr lang="en-US" sz="3600" b="1" dirty="0">
                          <a:solidFill>
                            <a:srgbClr val="E76254"/>
                          </a:solidFill>
                        </a:rPr>
                        <a:t>0</a:t>
                      </a:r>
                      <a:endParaRPr lang="en-GB" sz="3600" b="1" dirty="0">
                        <a:solidFill>
                          <a:srgbClr val="E76254"/>
                        </a:solidFill>
                      </a:endParaRPr>
                    </a:p>
                  </a:txBody>
                  <a:tcPr/>
                </a:tc>
                <a:tc>
                  <a:txBody>
                    <a:bodyPr/>
                    <a:lstStyle/>
                    <a:p>
                      <a:pPr algn="ctr"/>
                      <a:r>
                        <a:rPr lang="en-US" sz="3600" b="1" dirty="0">
                          <a:solidFill>
                            <a:srgbClr val="E76254"/>
                          </a:solidFill>
                        </a:rPr>
                        <a:t>0</a:t>
                      </a:r>
                      <a:endParaRPr lang="en-GB" sz="3600" b="1" dirty="0">
                        <a:solidFill>
                          <a:srgbClr val="E76254"/>
                        </a:solidFill>
                      </a:endParaRPr>
                    </a:p>
                  </a:txBody>
                  <a:tcPr/>
                </a:tc>
                <a:tc>
                  <a:txBody>
                    <a:bodyPr/>
                    <a:lstStyle/>
                    <a:p>
                      <a:pPr algn="ctr"/>
                      <a:r>
                        <a:rPr lang="en-US" sz="3600" b="1" dirty="0">
                          <a:solidFill>
                            <a:srgbClr val="00B050"/>
                          </a:solidFill>
                        </a:rPr>
                        <a:t>1</a:t>
                      </a:r>
                      <a:endParaRPr lang="en-GB" sz="3600" b="1" dirty="0">
                        <a:solidFill>
                          <a:srgbClr val="00B050"/>
                        </a:solidFill>
                      </a:endParaRPr>
                    </a:p>
                  </a:txBody>
                  <a:tcPr/>
                </a:tc>
                <a:tc>
                  <a:txBody>
                    <a:bodyPr/>
                    <a:lstStyle/>
                    <a:p>
                      <a:pPr algn="ctr"/>
                      <a:r>
                        <a:rPr lang="en-US" sz="3600" b="1" dirty="0">
                          <a:solidFill>
                            <a:srgbClr val="E76254"/>
                          </a:solidFill>
                        </a:rPr>
                        <a:t>0</a:t>
                      </a:r>
                      <a:endParaRPr lang="en-GB" sz="3600" b="1" dirty="0">
                        <a:solidFill>
                          <a:srgbClr val="E76254"/>
                        </a:solidFill>
                      </a:endParaRPr>
                    </a:p>
                  </a:txBody>
                  <a:tcPr/>
                </a:tc>
                <a:tc>
                  <a:txBody>
                    <a:bodyPr/>
                    <a:lstStyle/>
                    <a:p>
                      <a:pPr algn="ctr"/>
                      <a:r>
                        <a:rPr lang="en-US" sz="3600" b="1" dirty="0">
                          <a:solidFill>
                            <a:srgbClr val="E76254"/>
                          </a:solidFill>
                        </a:rPr>
                        <a:t>0</a:t>
                      </a:r>
                      <a:endParaRPr lang="en-GB" sz="3600" b="1" dirty="0">
                        <a:solidFill>
                          <a:srgbClr val="E76254"/>
                        </a:solidFill>
                      </a:endParaRPr>
                    </a:p>
                  </a:txBody>
                  <a:tcPr/>
                </a:tc>
                <a:tc>
                  <a:txBody>
                    <a:bodyPr/>
                    <a:lstStyle/>
                    <a:p>
                      <a:pPr algn="ctr"/>
                      <a:r>
                        <a:rPr lang="en-US" sz="3600" b="1" dirty="0">
                          <a:solidFill>
                            <a:srgbClr val="E76254"/>
                          </a:solidFill>
                        </a:rPr>
                        <a:t>0</a:t>
                      </a:r>
                      <a:endParaRPr lang="en-GB" sz="3600" b="1" dirty="0">
                        <a:solidFill>
                          <a:srgbClr val="E76254"/>
                        </a:solidFill>
                      </a:endParaRPr>
                    </a:p>
                  </a:txBody>
                  <a:tcPr/>
                </a:tc>
                <a:tc>
                  <a:txBody>
                    <a:bodyPr/>
                    <a:lstStyle/>
                    <a:p>
                      <a:pPr algn="ctr"/>
                      <a:r>
                        <a:rPr lang="en-US" sz="3600" b="1" dirty="0">
                          <a:solidFill>
                            <a:srgbClr val="00B050"/>
                          </a:solidFill>
                        </a:rPr>
                        <a:t>1</a:t>
                      </a:r>
                      <a:endParaRPr lang="en-GB" sz="3600" b="1" dirty="0">
                        <a:solidFill>
                          <a:srgbClr val="00B050"/>
                        </a:solidFill>
                      </a:endParaRPr>
                    </a:p>
                  </a:txBody>
                  <a:tcPr/>
                </a:tc>
                <a:extLst>
                  <a:ext uri="{0D108BD9-81ED-4DB2-BD59-A6C34878D82A}">
                    <a16:rowId xmlns:a16="http://schemas.microsoft.com/office/drawing/2014/main" val="811750742"/>
                  </a:ext>
                </a:extLst>
              </a:tr>
            </a:tbl>
          </a:graphicData>
        </a:graphic>
      </p:graphicFrame>
      <p:sp>
        <p:nvSpPr>
          <p:cNvPr id="7" name="TextBox 6">
            <a:extLst>
              <a:ext uri="{FF2B5EF4-FFF2-40B4-BE49-F238E27FC236}">
                <a16:creationId xmlns:a16="http://schemas.microsoft.com/office/drawing/2014/main" id="{5A6EDB58-06F8-7768-7184-BE0576C8BA98}"/>
              </a:ext>
            </a:extLst>
          </p:cNvPr>
          <p:cNvSpPr txBox="1"/>
          <p:nvPr/>
        </p:nvSpPr>
        <p:spPr>
          <a:xfrm>
            <a:off x="4252511" y="5286256"/>
            <a:ext cx="4627084" cy="1077218"/>
          </a:xfrm>
          <a:prstGeom prst="rect">
            <a:avLst/>
          </a:prstGeom>
          <a:noFill/>
        </p:spPr>
        <p:txBody>
          <a:bodyPr wrap="square" rtlCol="0">
            <a:spAutoFit/>
          </a:bodyPr>
          <a:lstStyle/>
          <a:p>
            <a:r>
              <a:rPr lang="en-US" sz="3200" dirty="0">
                <a:latin typeface="Gill Sans MT" panose="020B0502020104020203" pitchFamily="34" charset="0"/>
              </a:rPr>
              <a:t>Agreement = 100%</a:t>
            </a:r>
          </a:p>
          <a:p>
            <a:r>
              <a:rPr lang="en-US" sz="3200" dirty="0" err="1">
                <a:latin typeface="Gill Sans MT" panose="020B0502020104020203" pitchFamily="34" charset="0"/>
              </a:rPr>
              <a:t>Krippendorf’s</a:t>
            </a:r>
            <a:r>
              <a:rPr lang="en-US" sz="3200" dirty="0">
                <a:latin typeface="Gill Sans MT" panose="020B0502020104020203" pitchFamily="34" charset="0"/>
              </a:rPr>
              <a:t> Alpha = 1  </a:t>
            </a:r>
            <a:endParaRPr lang="en-GB" sz="3200" dirty="0">
              <a:latin typeface="Gill Sans MT" panose="020B0502020104020203" pitchFamily="34" charset="0"/>
            </a:endParaRPr>
          </a:p>
        </p:txBody>
      </p:sp>
    </p:spTree>
    <p:extLst>
      <p:ext uri="{BB962C8B-B14F-4D97-AF65-F5344CB8AC3E}">
        <p14:creationId xmlns:p14="http://schemas.microsoft.com/office/powerpoint/2010/main" val="4663576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829ED-A900-4F1F-CE76-D4CD7E8B9016}"/>
              </a:ext>
            </a:extLst>
          </p:cNvPr>
          <p:cNvSpPr>
            <a:spLocks noGrp="1"/>
          </p:cNvSpPr>
          <p:nvPr>
            <p:ph type="title"/>
          </p:nvPr>
        </p:nvSpPr>
        <p:spPr/>
        <p:txBody>
          <a:bodyPr/>
          <a:lstStyle/>
          <a:p>
            <a:r>
              <a:rPr lang="en-GB" dirty="0"/>
              <a:t>Reliability</a:t>
            </a:r>
          </a:p>
        </p:txBody>
      </p:sp>
      <p:sp>
        <p:nvSpPr>
          <p:cNvPr id="3" name="Content Placeholder 2">
            <a:extLst>
              <a:ext uri="{FF2B5EF4-FFF2-40B4-BE49-F238E27FC236}">
                <a16:creationId xmlns:a16="http://schemas.microsoft.com/office/drawing/2014/main" id="{2474AEB9-DDBA-50B4-DF19-D66664425378}"/>
              </a:ext>
            </a:extLst>
          </p:cNvPr>
          <p:cNvSpPr>
            <a:spLocks noGrp="1"/>
          </p:cNvSpPr>
          <p:nvPr>
            <p:ph idx="1"/>
          </p:nvPr>
        </p:nvSpPr>
        <p:spPr>
          <a:xfrm>
            <a:off x="252917" y="1338874"/>
            <a:ext cx="12074957" cy="864499"/>
          </a:xfrm>
        </p:spPr>
        <p:txBody>
          <a:bodyPr>
            <a:normAutofit/>
          </a:bodyPr>
          <a:lstStyle/>
          <a:p>
            <a:pPr marL="0" indent="0">
              <a:buNone/>
            </a:pPr>
            <a:r>
              <a:rPr lang="en-GB" dirty="0"/>
              <a:t>Measures of reliability</a:t>
            </a:r>
          </a:p>
          <a:p>
            <a:pPr marL="0" indent="0">
              <a:buNone/>
            </a:pPr>
            <a:endParaRPr lang="en-GB" dirty="0"/>
          </a:p>
          <a:p>
            <a:pPr marL="0" indent="0">
              <a:buNone/>
            </a:pPr>
            <a:endParaRPr lang="en-GB" dirty="0"/>
          </a:p>
        </p:txBody>
      </p:sp>
      <p:sp>
        <p:nvSpPr>
          <p:cNvPr id="5" name="Slide Number Placeholder 4">
            <a:extLst>
              <a:ext uri="{FF2B5EF4-FFF2-40B4-BE49-F238E27FC236}">
                <a16:creationId xmlns:a16="http://schemas.microsoft.com/office/drawing/2014/main" id="{A633363A-9297-622C-BDB2-C0D07106F406}"/>
              </a:ext>
            </a:extLst>
          </p:cNvPr>
          <p:cNvSpPr>
            <a:spLocks noGrp="1"/>
          </p:cNvSpPr>
          <p:nvPr>
            <p:ph type="sldNum" sz="quarter" idx="12"/>
          </p:nvPr>
        </p:nvSpPr>
        <p:spPr/>
        <p:txBody>
          <a:bodyPr/>
          <a:lstStyle/>
          <a:p>
            <a:fld id="{372769DB-CAE7-4C85-A9AF-7D4D8DE4CA22}" type="slidenum">
              <a:rPr lang="en-GB" smtClean="0"/>
              <a:t>25</a:t>
            </a:fld>
            <a:endParaRPr lang="en-GB" dirty="0"/>
          </a:p>
        </p:txBody>
      </p:sp>
      <p:graphicFrame>
        <p:nvGraphicFramePr>
          <p:cNvPr id="6" name="Table 5">
            <a:extLst>
              <a:ext uri="{FF2B5EF4-FFF2-40B4-BE49-F238E27FC236}">
                <a16:creationId xmlns:a16="http://schemas.microsoft.com/office/drawing/2014/main" id="{EFE6CDD2-CA96-8D4E-A827-292BCDF8232E}"/>
              </a:ext>
            </a:extLst>
          </p:cNvPr>
          <p:cNvGraphicFramePr>
            <a:graphicFrameLocks noGrp="1"/>
          </p:cNvGraphicFramePr>
          <p:nvPr/>
        </p:nvGraphicFramePr>
        <p:xfrm>
          <a:off x="225172" y="2054306"/>
          <a:ext cx="11642573" cy="2749388"/>
        </p:xfrm>
        <a:graphic>
          <a:graphicData uri="http://schemas.openxmlformats.org/drawingml/2006/table">
            <a:tbl>
              <a:tblPr firstRow="1" bandRow="1">
                <a:tableStyleId>{69012ECD-51FC-41F1-AA8D-1B2483CD663E}</a:tableStyleId>
              </a:tblPr>
              <a:tblGrid>
                <a:gridCol w="1311756">
                  <a:extLst>
                    <a:ext uri="{9D8B030D-6E8A-4147-A177-3AD203B41FA5}">
                      <a16:colId xmlns:a16="http://schemas.microsoft.com/office/drawing/2014/main" val="4142616856"/>
                    </a:ext>
                  </a:extLst>
                </a:gridCol>
                <a:gridCol w="1079653">
                  <a:extLst>
                    <a:ext uri="{9D8B030D-6E8A-4147-A177-3AD203B41FA5}">
                      <a16:colId xmlns:a16="http://schemas.microsoft.com/office/drawing/2014/main" val="384114073"/>
                    </a:ext>
                  </a:extLst>
                </a:gridCol>
                <a:gridCol w="1054068">
                  <a:extLst>
                    <a:ext uri="{9D8B030D-6E8A-4147-A177-3AD203B41FA5}">
                      <a16:colId xmlns:a16="http://schemas.microsoft.com/office/drawing/2014/main" val="1271380689"/>
                    </a:ext>
                  </a:extLst>
                </a:gridCol>
                <a:gridCol w="1024637">
                  <a:extLst>
                    <a:ext uri="{9D8B030D-6E8A-4147-A177-3AD203B41FA5}">
                      <a16:colId xmlns:a16="http://schemas.microsoft.com/office/drawing/2014/main" val="1455020364"/>
                    </a:ext>
                  </a:extLst>
                </a:gridCol>
                <a:gridCol w="1024637">
                  <a:extLst>
                    <a:ext uri="{9D8B030D-6E8A-4147-A177-3AD203B41FA5}">
                      <a16:colId xmlns:a16="http://schemas.microsoft.com/office/drawing/2014/main" val="652206220"/>
                    </a:ext>
                  </a:extLst>
                </a:gridCol>
                <a:gridCol w="1024637">
                  <a:extLst>
                    <a:ext uri="{9D8B030D-6E8A-4147-A177-3AD203B41FA5}">
                      <a16:colId xmlns:a16="http://schemas.microsoft.com/office/drawing/2014/main" val="1538217645"/>
                    </a:ext>
                  </a:extLst>
                </a:gridCol>
                <a:gridCol w="1024637">
                  <a:extLst>
                    <a:ext uri="{9D8B030D-6E8A-4147-A177-3AD203B41FA5}">
                      <a16:colId xmlns:a16="http://schemas.microsoft.com/office/drawing/2014/main" val="4004902531"/>
                    </a:ext>
                  </a:extLst>
                </a:gridCol>
                <a:gridCol w="1024637">
                  <a:extLst>
                    <a:ext uri="{9D8B030D-6E8A-4147-A177-3AD203B41FA5}">
                      <a16:colId xmlns:a16="http://schemas.microsoft.com/office/drawing/2014/main" val="2207854395"/>
                    </a:ext>
                  </a:extLst>
                </a:gridCol>
                <a:gridCol w="1024637">
                  <a:extLst>
                    <a:ext uri="{9D8B030D-6E8A-4147-A177-3AD203B41FA5}">
                      <a16:colId xmlns:a16="http://schemas.microsoft.com/office/drawing/2014/main" val="3647920501"/>
                    </a:ext>
                  </a:extLst>
                </a:gridCol>
                <a:gridCol w="1024637">
                  <a:extLst>
                    <a:ext uri="{9D8B030D-6E8A-4147-A177-3AD203B41FA5}">
                      <a16:colId xmlns:a16="http://schemas.microsoft.com/office/drawing/2014/main" val="1056190007"/>
                    </a:ext>
                  </a:extLst>
                </a:gridCol>
                <a:gridCol w="1024637">
                  <a:extLst>
                    <a:ext uri="{9D8B030D-6E8A-4147-A177-3AD203B41FA5}">
                      <a16:colId xmlns:a16="http://schemas.microsoft.com/office/drawing/2014/main" val="817032779"/>
                    </a:ext>
                  </a:extLst>
                </a:gridCol>
              </a:tblGrid>
              <a:tr h="902254">
                <a:tc>
                  <a:txBody>
                    <a:bodyPr/>
                    <a:lstStyle/>
                    <a:p>
                      <a:endParaRPr lang="en-GB" sz="2800" dirty="0"/>
                    </a:p>
                  </a:txBody>
                  <a:tcPr/>
                </a:tc>
                <a:tc>
                  <a:txBody>
                    <a:bodyPr/>
                    <a:lstStyle/>
                    <a:p>
                      <a:pPr algn="ctr"/>
                      <a:r>
                        <a:rPr lang="en-US" sz="2800" dirty="0"/>
                        <a:t>Item 1</a:t>
                      </a:r>
                      <a:endParaRPr lang="en-GB" sz="2800" dirty="0"/>
                    </a:p>
                  </a:txBody>
                  <a:tcPr/>
                </a:tc>
                <a:tc>
                  <a:txBody>
                    <a:bodyPr/>
                    <a:lstStyle/>
                    <a:p>
                      <a:pPr algn="ctr"/>
                      <a:r>
                        <a:rPr lang="en-US" sz="2800" dirty="0"/>
                        <a:t>Item 2</a:t>
                      </a:r>
                      <a:endParaRPr lang="en-GB" sz="2800" dirty="0"/>
                    </a:p>
                  </a:txBody>
                  <a:tcPr/>
                </a:tc>
                <a:tc>
                  <a:txBody>
                    <a:bodyPr/>
                    <a:lstStyle/>
                    <a:p>
                      <a:pPr algn="ctr"/>
                      <a:r>
                        <a:rPr lang="en-US" sz="2800" dirty="0"/>
                        <a:t>Item 3</a:t>
                      </a:r>
                      <a:endParaRPr lang="en-GB" sz="2800" dirty="0"/>
                    </a:p>
                  </a:txBody>
                  <a:tcPr/>
                </a:tc>
                <a:tc>
                  <a:txBody>
                    <a:bodyPr/>
                    <a:lstStyle/>
                    <a:p>
                      <a:pPr algn="ctr"/>
                      <a:r>
                        <a:rPr lang="en-US" sz="2800" dirty="0"/>
                        <a:t>Item 4</a:t>
                      </a:r>
                      <a:endParaRPr lang="en-GB" sz="2800" dirty="0"/>
                    </a:p>
                  </a:txBody>
                  <a:tcPr/>
                </a:tc>
                <a:tc>
                  <a:txBody>
                    <a:bodyPr/>
                    <a:lstStyle/>
                    <a:p>
                      <a:pPr algn="ctr"/>
                      <a:r>
                        <a:rPr lang="en-US" sz="2800" dirty="0"/>
                        <a:t>Item 5</a:t>
                      </a:r>
                      <a:endParaRPr lang="en-GB" sz="2800" dirty="0"/>
                    </a:p>
                  </a:txBody>
                  <a:tcPr/>
                </a:tc>
                <a:tc>
                  <a:txBody>
                    <a:bodyPr/>
                    <a:lstStyle/>
                    <a:p>
                      <a:pPr algn="ctr"/>
                      <a:r>
                        <a:rPr lang="en-US" sz="2800" dirty="0"/>
                        <a:t>Item 6</a:t>
                      </a:r>
                      <a:endParaRPr lang="en-GB" sz="2800" dirty="0"/>
                    </a:p>
                  </a:txBody>
                  <a:tcPr/>
                </a:tc>
                <a:tc>
                  <a:txBody>
                    <a:bodyPr/>
                    <a:lstStyle/>
                    <a:p>
                      <a:pPr algn="ctr"/>
                      <a:r>
                        <a:rPr lang="en-US" sz="2800" dirty="0"/>
                        <a:t>Item 7</a:t>
                      </a:r>
                      <a:endParaRPr lang="en-GB" sz="2800" dirty="0"/>
                    </a:p>
                  </a:txBody>
                  <a:tcPr/>
                </a:tc>
                <a:tc>
                  <a:txBody>
                    <a:bodyPr/>
                    <a:lstStyle/>
                    <a:p>
                      <a:pPr algn="ctr"/>
                      <a:r>
                        <a:rPr lang="en-US" sz="2800" dirty="0"/>
                        <a:t>Item 8 </a:t>
                      </a:r>
                      <a:endParaRPr lang="en-GB" sz="2800" dirty="0"/>
                    </a:p>
                  </a:txBody>
                  <a:tcPr/>
                </a:tc>
                <a:tc>
                  <a:txBody>
                    <a:bodyPr/>
                    <a:lstStyle/>
                    <a:p>
                      <a:pPr algn="ctr"/>
                      <a:r>
                        <a:rPr lang="en-US" sz="2800" dirty="0"/>
                        <a:t>Item 9</a:t>
                      </a:r>
                      <a:endParaRPr lang="en-GB" sz="2800" dirty="0"/>
                    </a:p>
                  </a:txBody>
                  <a:tcPr/>
                </a:tc>
                <a:tc>
                  <a:txBody>
                    <a:bodyPr/>
                    <a:lstStyle/>
                    <a:p>
                      <a:pPr algn="ctr"/>
                      <a:r>
                        <a:rPr lang="en-US" sz="2800" dirty="0"/>
                        <a:t>Item 10</a:t>
                      </a:r>
                      <a:endParaRPr lang="en-GB" sz="2800" dirty="0"/>
                    </a:p>
                  </a:txBody>
                  <a:tcPr/>
                </a:tc>
                <a:extLst>
                  <a:ext uri="{0D108BD9-81ED-4DB2-BD59-A6C34878D82A}">
                    <a16:rowId xmlns:a16="http://schemas.microsoft.com/office/drawing/2014/main" val="944624969"/>
                  </a:ext>
                </a:extLst>
              </a:tr>
              <a:tr h="902254">
                <a:tc>
                  <a:txBody>
                    <a:bodyPr/>
                    <a:lstStyle/>
                    <a:p>
                      <a:r>
                        <a:rPr lang="en-US" sz="2800" dirty="0"/>
                        <a:t>Coder 1</a:t>
                      </a:r>
                      <a:endParaRPr lang="en-GB" sz="2800" dirty="0"/>
                    </a:p>
                  </a:txBody>
                  <a:tcPr/>
                </a:tc>
                <a:tc>
                  <a:txBody>
                    <a:bodyPr/>
                    <a:lstStyle/>
                    <a:p>
                      <a:pPr algn="ctr"/>
                      <a:r>
                        <a:rPr lang="en-US" sz="3600" b="1" dirty="0">
                          <a:solidFill>
                            <a:srgbClr val="E76254"/>
                          </a:solidFill>
                        </a:rPr>
                        <a:t>0</a:t>
                      </a:r>
                      <a:endParaRPr lang="en-GB" sz="3600" b="1" dirty="0">
                        <a:solidFill>
                          <a:srgbClr val="E76254"/>
                        </a:solidFill>
                      </a:endParaRPr>
                    </a:p>
                  </a:txBody>
                  <a:tcPr/>
                </a:tc>
                <a:tc>
                  <a:txBody>
                    <a:bodyPr/>
                    <a:lstStyle/>
                    <a:p>
                      <a:pPr algn="ctr"/>
                      <a:r>
                        <a:rPr lang="en-US" sz="3600" b="1" dirty="0">
                          <a:solidFill>
                            <a:srgbClr val="00B050"/>
                          </a:solidFill>
                        </a:rPr>
                        <a:t>1</a:t>
                      </a:r>
                      <a:endParaRPr lang="en-GB" sz="3600" b="1" dirty="0">
                        <a:solidFill>
                          <a:srgbClr val="E76254"/>
                        </a:solidFill>
                      </a:endParaRPr>
                    </a:p>
                  </a:txBody>
                  <a:tcPr/>
                </a:tc>
                <a:tc>
                  <a:txBody>
                    <a:bodyPr/>
                    <a:lstStyle/>
                    <a:p>
                      <a:pPr algn="ctr"/>
                      <a:r>
                        <a:rPr lang="en-US" sz="3600" b="1" dirty="0">
                          <a:solidFill>
                            <a:srgbClr val="00B050"/>
                          </a:solidFill>
                        </a:rPr>
                        <a:t>1</a:t>
                      </a:r>
                      <a:endParaRPr lang="en-GB" sz="3600" b="1" dirty="0">
                        <a:solidFill>
                          <a:srgbClr val="E76254"/>
                        </a:solidFill>
                      </a:endParaRPr>
                    </a:p>
                  </a:txBody>
                  <a:tcPr/>
                </a:tc>
                <a:tc>
                  <a:txBody>
                    <a:bodyPr/>
                    <a:lstStyle/>
                    <a:p>
                      <a:pPr algn="ctr"/>
                      <a:r>
                        <a:rPr lang="en-US" sz="3600" b="1" dirty="0">
                          <a:solidFill>
                            <a:srgbClr val="00B050"/>
                          </a:solidFill>
                        </a:rPr>
                        <a:t>1</a:t>
                      </a:r>
                      <a:endParaRPr lang="en-GB" sz="3600" b="1" dirty="0">
                        <a:solidFill>
                          <a:srgbClr val="E76254"/>
                        </a:solidFill>
                      </a:endParaRPr>
                    </a:p>
                  </a:txBody>
                  <a:tcPr/>
                </a:tc>
                <a:tc>
                  <a:txBody>
                    <a:bodyPr/>
                    <a:lstStyle/>
                    <a:p>
                      <a:pPr algn="ctr"/>
                      <a:r>
                        <a:rPr lang="en-US" sz="3600" b="1" dirty="0">
                          <a:solidFill>
                            <a:srgbClr val="E76254"/>
                          </a:solidFill>
                        </a:rPr>
                        <a:t>0</a:t>
                      </a:r>
                      <a:endParaRPr lang="en-GB" sz="3600" b="1" dirty="0">
                        <a:solidFill>
                          <a:srgbClr val="E76254"/>
                        </a:solidFill>
                      </a:endParaRPr>
                    </a:p>
                  </a:txBody>
                  <a:tcPr/>
                </a:tc>
                <a:tc>
                  <a:txBody>
                    <a:bodyPr/>
                    <a:lstStyle/>
                    <a:p>
                      <a:pPr algn="ctr"/>
                      <a:r>
                        <a:rPr lang="en-US" sz="3600" b="1" dirty="0">
                          <a:solidFill>
                            <a:srgbClr val="00B050"/>
                          </a:solidFill>
                        </a:rPr>
                        <a:t>1</a:t>
                      </a:r>
                      <a:endParaRPr lang="en-GB" sz="3600" b="1" dirty="0">
                        <a:solidFill>
                          <a:srgbClr val="00B050"/>
                        </a:solidFill>
                      </a:endParaRPr>
                    </a:p>
                  </a:txBody>
                  <a:tcPr/>
                </a:tc>
                <a:tc>
                  <a:txBody>
                    <a:bodyPr/>
                    <a:lstStyle/>
                    <a:p>
                      <a:pPr algn="ctr"/>
                      <a:r>
                        <a:rPr lang="en-US" sz="3600" b="1" dirty="0">
                          <a:solidFill>
                            <a:srgbClr val="00B050"/>
                          </a:solidFill>
                        </a:rPr>
                        <a:t>1</a:t>
                      </a:r>
                      <a:endParaRPr lang="en-GB" sz="3600" b="1" dirty="0">
                        <a:solidFill>
                          <a:srgbClr val="E76254"/>
                        </a:solidFill>
                      </a:endParaRPr>
                    </a:p>
                  </a:txBody>
                  <a:tcPr/>
                </a:tc>
                <a:tc>
                  <a:txBody>
                    <a:bodyPr/>
                    <a:lstStyle/>
                    <a:p>
                      <a:pPr algn="ctr"/>
                      <a:r>
                        <a:rPr lang="en-US" sz="3600" b="1" dirty="0">
                          <a:solidFill>
                            <a:srgbClr val="E76254"/>
                          </a:solidFill>
                        </a:rPr>
                        <a:t>0</a:t>
                      </a:r>
                      <a:endParaRPr lang="en-GB" sz="3600" b="1" dirty="0">
                        <a:solidFill>
                          <a:srgbClr val="E76254"/>
                        </a:solidFill>
                      </a:endParaRPr>
                    </a:p>
                  </a:txBody>
                  <a:tcPr/>
                </a:tc>
                <a:tc>
                  <a:txBody>
                    <a:bodyPr/>
                    <a:lstStyle/>
                    <a:p>
                      <a:pPr algn="ctr"/>
                      <a:r>
                        <a:rPr lang="en-US" sz="3600" b="1" dirty="0">
                          <a:solidFill>
                            <a:srgbClr val="E76254"/>
                          </a:solidFill>
                        </a:rPr>
                        <a:t>0</a:t>
                      </a:r>
                      <a:endParaRPr lang="en-GB" sz="3600" b="1" dirty="0">
                        <a:solidFill>
                          <a:srgbClr val="E76254"/>
                        </a:solidFill>
                      </a:endParaRPr>
                    </a:p>
                  </a:txBody>
                  <a:tcPr/>
                </a:tc>
                <a:tc>
                  <a:txBody>
                    <a:bodyPr/>
                    <a:lstStyle/>
                    <a:p>
                      <a:pPr algn="ctr"/>
                      <a:r>
                        <a:rPr lang="en-US" sz="3600" b="1" dirty="0">
                          <a:solidFill>
                            <a:srgbClr val="00B050"/>
                          </a:solidFill>
                        </a:rPr>
                        <a:t>1</a:t>
                      </a:r>
                      <a:endParaRPr lang="en-GB" sz="3600" b="1" dirty="0">
                        <a:solidFill>
                          <a:srgbClr val="00B050"/>
                        </a:solidFill>
                      </a:endParaRPr>
                    </a:p>
                  </a:txBody>
                  <a:tcPr/>
                </a:tc>
                <a:extLst>
                  <a:ext uri="{0D108BD9-81ED-4DB2-BD59-A6C34878D82A}">
                    <a16:rowId xmlns:a16="http://schemas.microsoft.com/office/drawing/2014/main" val="1226394790"/>
                  </a:ext>
                </a:extLst>
              </a:tr>
              <a:tr h="902254">
                <a:tc>
                  <a:txBody>
                    <a:bodyPr/>
                    <a:lstStyle/>
                    <a:p>
                      <a:r>
                        <a:rPr lang="en-US" sz="2800" dirty="0"/>
                        <a:t>Coder 2</a:t>
                      </a:r>
                      <a:endParaRPr lang="en-GB" sz="2800" dirty="0"/>
                    </a:p>
                  </a:txBody>
                  <a:tcPr/>
                </a:tc>
                <a:tc>
                  <a:txBody>
                    <a:bodyPr/>
                    <a:lstStyle/>
                    <a:p>
                      <a:pPr algn="ctr"/>
                      <a:r>
                        <a:rPr lang="en-US" sz="3600" b="1" dirty="0">
                          <a:solidFill>
                            <a:srgbClr val="E76254"/>
                          </a:solidFill>
                        </a:rPr>
                        <a:t>0</a:t>
                      </a:r>
                      <a:endParaRPr lang="en-GB" sz="3600" b="1" dirty="0">
                        <a:solidFill>
                          <a:srgbClr val="E76254"/>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600" b="1" dirty="0">
                          <a:solidFill>
                            <a:srgbClr val="E76254"/>
                          </a:solidFill>
                        </a:rPr>
                        <a:t>0</a:t>
                      </a:r>
                      <a:r>
                        <a:rPr lang="en-US" sz="3600" b="1" dirty="0"/>
                        <a:t> </a:t>
                      </a:r>
                      <a:endParaRPr lang="en-GB" sz="3600" b="1" dirty="0"/>
                    </a:p>
                  </a:txBody>
                  <a:tcPr/>
                </a:tc>
                <a:tc>
                  <a:txBody>
                    <a:bodyPr/>
                    <a:lstStyle/>
                    <a:p>
                      <a:pPr algn="ctr"/>
                      <a:r>
                        <a:rPr lang="en-US" sz="3600" b="1" dirty="0">
                          <a:solidFill>
                            <a:srgbClr val="E76254"/>
                          </a:solidFill>
                        </a:rPr>
                        <a:t>0</a:t>
                      </a:r>
                      <a:endParaRPr lang="en-GB" sz="3600" b="1" dirty="0">
                        <a:solidFill>
                          <a:srgbClr val="E76254"/>
                        </a:solidFill>
                      </a:endParaRPr>
                    </a:p>
                  </a:txBody>
                  <a:tcPr/>
                </a:tc>
                <a:tc>
                  <a:txBody>
                    <a:bodyPr/>
                    <a:lstStyle/>
                    <a:p>
                      <a:pPr algn="ctr"/>
                      <a:r>
                        <a:rPr lang="en-US" sz="3600" b="1" dirty="0">
                          <a:solidFill>
                            <a:srgbClr val="E76254"/>
                          </a:solidFill>
                        </a:rPr>
                        <a:t>0</a:t>
                      </a:r>
                      <a:endParaRPr lang="en-GB" sz="3600" b="1" dirty="0">
                        <a:solidFill>
                          <a:srgbClr val="E76254"/>
                        </a:solidFill>
                      </a:endParaRPr>
                    </a:p>
                  </a:txBody>
                  <a:tcPr/>
                </a:tc>
                <a:tc>
                  <a:txBody>
                    <a:bodyPr/>
                    <a:lstStyle/>
                    <a:p>
                      <a:pPr algn="ctr"/>
                      <a:r>
                        <a:rPr lang="en-US" sz="3600" b="1" dirty="0">
                          <a:solidFill>
                            <a:srgbClr val="00B050"/>
                          </a:solidFill>
                        </a:rPr>
                        <a:t>1</a:t>
                      </a:r>
                      <a:endParaRPr lang="en-GB" sz="3600" b="1" dirty="0">
                        <a:solidFill>
                          <a:srgbClr val="E76254"/>
                        </a:solidFill>
                      </a:endParaRPr>
                    </a:p>
                  </a:txBody>
                  <a:tcPr/>
                </a:tc>
                <a:tc>
                  <a:txBody>
                    <a:bodyPr/>
                    <a:lstStyle/>
                    <a:p>
                      <a:pPr algn="ctr"/>
                      <a:r>
                        <a:rPr lang="en-US" sz="3600" b="1" dirty="0">
                          <a:solidFill>
                            <a:srgbClr val="00B050"/>
                          </a:solidFill>
                        </a:rPr>
                        <a:t>1</a:t>
                      </a:r>
                      <a:endParaRPr lang="en-GB" sz="3600" b="1" dirty="0">
                        <a:solidFill>
                          <a:srgbClr val="00B050"/>
                        </a:solidFill>
                      </a:endParaRPr>
                    </a:p>
                  </a:txBody>
                  <a:tcPr/>
                </a:tc>
                <a:tc>
                  <a:txBody>
                    <a:bodyPr/>
                    <a:lstStyle/>
                    <a:p>
                      <a:pPr algn="ctr"/>
                      <a:r>
                        <a:rPr lang="en-US" sz="3600" b="1" dirty="0">
                          <a:solidFill>
                            <a:srgbClr val="E76254"/>
                          </a:solidFill>
                        </a:rPr>
                        <a:t>0</a:t>
                      </a:r>
                      <a:endParaRPr lang="en-GB" sz="3600" b="1" dirty="0">
                        <a:solidFill>
                          <a:srgbClr val="E76254"/>
                        </a:solidFill>
                      </a:endParaRPr>
                    </a:p>
                  </a:txBody>
                  <a:tcPr/>
                </a:tc>
                <a:tc>
                  <a:txBody>
                    <a:bodyPr/>
                    <a:lstStyle/>
                    <a:p>
                      <a:pPr algn="ctr"/>
                      <a:r>
                        <a:rPr lang="en-US" sz="3600" b="1" dirty="0">
                          <a:solidFill>
                            <a:srgbClr val="E76254"/>
                          </a:solidFill>
                        </a:rPr>
                        <a:t>0</a:t>
                      </a:r>
                      <a:endParaRPr lang="en-GB" sz="3600" b="1" dirty="0">
                        <a:solidFill>
                          <a:srgbClr val="E76254"/>
                        </a:solidFill>
                      </a:endParaRPr>
                    </a:p>
                  </a:txBody>
                  <a:tcPr/>
                </a:tc>
                <a:tc>
                  <a:txBody>
                    <a:bodyPr/>
                    <a:lstStyle/>
                    <a:p>
                      <a:pPr algn="ctr"/>
                      <a:r>
                        <a:rPr lang="en-US" sz="3600" b="1" dirty="0">
                          <a:solidFill>
                            <a:srgbClr val="E76254"/>
                          </a:solidFill>
                        </a:rPr>
                        <a:t>0</a:t>
                      </a:r>
                      <a:endParaRPr lang="en-GB" sz="3600" b="1" dirty="0">
                        <a:solidFill>
                          <a:srgbClr val="E76254"/>
                        </a:solidFill>
                      </a:endParaRPr>
                    </a:p>
                  </a:txBody>
                  <a:tcPr/>
                </a:tc>
                <a:tc>
                  <a:txBody>
                    <a:bodyPr/>
                    <a:lstStyle/>
                    <a:p>
                      <a:pPr algn="ctr"/>
                      <a:r>
                        <a:rPr lang="en-US" sz="3600" b="1" dirty="0">
                          <a:solidFill>
                            <a:srgbClr val="00B050"/>
                          </a:solidFill>
                        </a:rPr>
                        <a:t>1</a:t>
                      </a:r>
                      <a:endParaRPr lang="en-GB" sz="3600" b="1" dirty="0">
                        <a:solidFill>
                          <a:srgbClr val="00B050"/>
                        </a:solidFill>
                      </a:endParaRPr>
                    </a:p>
                  </a:txBody>
                  <a:tcPr/>
                </a:tc>
                <a:extLst>
                  <a:ext uri="{0D108BD9-81ED-4DB2-BD59-A6C34878D82A}">
                    <a16:rowId xmlns:a16="http://schemas.microsoft.com/office/drawing/2014/main" val="811750742"/>
                  </a:ext>
                </a:extLst>
              </a:tr>
            </a:tbl>
          </a:graphicData>
        </a:graphic>
      </p:graphicFrame>
      <p:sp>
        <p:nvSpPr>
          <p:cNvPr id="7" name="TextBox 6">
            <a:extLst>
              <a:ext uri="{FF2B5EF4-FFF2-40B4-BE49-F238E27FC236}">
                <a16:creationId xmlns:a16="http://schemas.microsoft.com/office/drawing/2014/main" id="{5A6EDB58-06F8-7768-7184-BE0576C8BA98}"/>
              </a:ext>
            </a:extLst>
          </p:cNvPr>
          <p:cNvSpPr txBox="1"/>
          <p:nvPr/>
        </p:nvSpPr>
        <p:spPr>
          <a:xfrm>
            <a:off x="4252511" y="5286256"/>
            <a:ext cx="4627084" cy="1077218"/>
          </a:xfrm>
          <a:prstGeom prst="rect">
            <a:avLst/>
          </a:prstGeom>
          <a:noFill/>
        </p:spPr>
        <p:txBody>
          <a:bodyPr wrap="square" rtlCol="0">
            <a:spAutoFit/>
          </a:bodyPr>
          <a:lstStyle/>
          <a:p>
            <a:r>
              <a:rPr lang="en-US" sz="3200" dirty="0">
                <a:latin typeface="Gill Sans MT" panose="020B0502020104020203" pitchFamily="34" charset="0"/>
              </a:rPr>
              <a:t>Agreement = 50%</a:t>
            </a:r>
          </a:p>
          <a:p>
            <a:r>
              <a:rPr lang="en-US" sz="3200" dirty="0" err="1">
                <a:latin typeface="Gill Sans MT" panose="020B0502020104020203" pitchFamily="34" charset="0"/>
              </a:rPr>
              <a:t>Krippendorf’s</a:t>
            </a:r>
            <a:r>
              <a:rPr lang="en-US" sz="3200" dirty="0">
                <a:latin typeface="Gill Sans MT" panose="020B0502020104020203" pitchFamily="34" charset="0"/>
              </a:rPr>
              <a:t> Alpha = 0.04  </a:t>
            </a:r>
            <a:endParaRPr lang="en-GB" sz="3200" dirty="0">
              <a:latin typeface="Gill Sans MT" panose="020B0502020104020203" pitchFamily="34" charset="0"/>
            </a:endParaRPr>
          </a:p>
        </p:txBody>
      </p:sp>
    </p:spTree>
    <p:extLst>
      <p:ext uri="{BB962C8B-B14F-4D97-AF65-F5344CB8AC3E}">
        <p14:creationId xmlns:p14="http://schemas.microsoft.com/office/powerpoint/2010/main" val="41652870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829ED-A900-4F1F-CE76-D4CD7E8B9016}"/>
              </a:ext>
            </a:extLst>
          </p:cNvPr>
          <p:cNvSpPr>
            <a:spLocks noGrp="1"/>
          </p:cNvSpPr>
          <p:nvPr>
            <p:ph type="title"/>
          </p:nvPr>
        </p:nvSpPr>
        <p:spPr/>
        <p:txBody>
          <a:bodyPr/>
          <a:lstStyle/>
          <a:p>
            <a:r>
              <a:rPr lang="en-GB" dirty="0"/>
              <a:t>Reliability</a:t>
            </a:r>
          </a:p>
        </p:txBody>
      </p:sp>
      <p:sp>
        <p:nvSpPr>
          <p:cNvPr id="3" name="Content Placeholder 2">
            <a:extLst>
              <a:ext uri="{FF2B5EF4-FFF2-40B4-BE49-F238E27FC236}">
                <a16:creationId xmlns:a16="http://schemas.microsoft.com/office/drawing/2014/main" id="{2474AEB9-DDBA-50B4-DF19-D66664425378}"/>
              </a:ext>
            </a:extLst>
          </p:cNvPr>
          <p:cNvSpPr>
            <a:spLocks noGrp="1"/>
          </p:cNvSpPr>
          <p:nvPr>
            <p:ph idx="1"/>
          </p:nvPr>
        </p:nvSpPr>
        <p:spPr>
          <a:xfrm>
            <a:off x="252917" y="1338874"/>
            <a:ext cx="12074957" cy="864499"/>
          </a:xfrm>
        </p:spPr>
        <p:txBody>
          <a:bodyPr>
            <a:normAutofit/>
          </a:bodyPr>
          <a:lstStyle/>
          <a:p>
            <a:pPr marL="0" indent="0">
              <a:buNone/>
            </a:pPr>
            <a:r>
              <a:rPr lang="en-GB" dirty="0"/>
              <a:t>Measures of reliability</a:t>
            </a:r>
          </a:p>
          <a:p>
            <a:pPr marL="0" indent="0">
              <a:buNone/>
            </a:pPr>
            <a:endParaRPr lang="en-GB" dirty="0"/>
          </a:p>
          <a:p>
            <a:pPr marL="0" indent="0">
              <a:buNone/>
            </a:pPr>
            <a:endParaRPr lang="en-GB" dirty="0"/>
          </a:p>
        </p:txBody>
      </p:sp>
      <p:sp>
        <p:nvSpPr>
          <p:cNvPr id="5" name="Slide Number Placeholder 4">
            <a:extLst>
              <a:ext uri="{FF2B5EF4-FFF2-40B4-BE49-F238E27FC236}">
                <a16:creationId xmlns:a16="http://schemas.microsoft.com/office/drawing/2014/main" id="{A633363A-9297-622C-BDB2-C0D07106F406}"/>
              </a:ext>
            </a:extLst>
          </p:cNvPr>
          <p:cNvSpPr>
            <a:spLocks noGrp="1"/>
          </p:cNvSpPr>
          <p:nvPr>
            <p:ph type="sldNum" sz="quarter" idx="12"/>
          </p:nvPr>
        </p:nvSpPr>
        <p:spPr/>
        <p:txBody>
          <a:bodyPr/>
          <a:lstStyle/>
          <a:p>
            <a:fld id="{372769DB-CAE7-4C85-A9AF-7D4D8DE4CA22}" type="slidenum">
              <a:rPr lang="en-GB" smtClean="0"/>
              <a:t>26</a:t>
            </a:fld>
            <a:endParaRPr lang="en-GB" dirty="0"/>
          </a:p>
        </p:txBody>
      </p:sp>
      <p:graphicFrame>
        <p:nvGraphicFramePr>
          <p:cNvPr id="6" name="Table 5">
            <a:extLst>
              <a:ext uri="{FF2B5EF4-FFF2-40B4-BE49-F238E27FC236}">
                <a16:creationId xmlns:a16="http://schemas.microsoft.com/office/drawing/2014/main" id="{EFE6CDD2-CA96-8D4E-A827-292BCDF8232E}"/>
              </a:ext>
            </a:extLst>
          </p:cNvPr>
          <p:cNvGraphicFramePr>
            <a:graphicFrameLocks noGrp="1"/>
          </p:cNvGraphicFramePr>
          <p:nvPr/>
        </p:nvGraphicFramePr>
        <p:xfrm>
          <a:off x="225172" y="2054306"/>
          <a:ext cx="11642573" cy="2749388"/>
        </p:xfrm>
        <a:graphic>
          <a:graphicData uri="http://schemas.openxmlformats.org/drawingml/2006/table">
            <a:tbl>
              <a:tblPr firstRow="1" bandRow="1">
                <a:tableStyleId>{69012ECD-51FC-41F1-AA8D-1B2483CD663E}</a:tableStyleId>
              </a:tblPr>
              <a:tblGrid>
                <a:gridCol w="1311756">
                  <a:extLst>
                    <a:ext uri="{9D8B030D-6E8A-4147-A177-3AD203B41FA5}">
                      <a16:colId xmlns:a16="http://schemas.microsoft.com/office/drawing/2014/main" val="4142616856"/>
                    </a:ext>
                  </a:extLst>
                </a:gridCol>
                <a:gridCol w="1079653">
                  <a:extLst>
                    <a:ext uri="{9D8B030D-6E8A-4147-A177-3AD203B41FA5}">
                      <a16:colId xmlns:a16="http://schemas.microsoft.com/office/drawing/2014/main" val="384114073"/>
                    </a:ext>
                  </a:extLst>
                </a:gridCol>
                <a:gridCol w="1054068">
                  <a:extLst>
                    <a:ext uri="{9D8B030D-6E8A-4147-A177-3AD203B41FA5}">
                      <a16:colId xmlns:a16="http://schemas.microsoft.com/office/drawing/2014/main" val="1271380689"/>
                    </a:ext>
                  </a:extLst>
                </a:gridCol>
                <a:gridCol w="1024637">
                  <a:extLst>
                    <a:ext uri="{9D8B030D-6E8A-4147-A177-3AD203B41FA5}">
                      <a16:colId xmlns:a16="http://schemas.microsoft.com/office/drawing/2014/main" val="1455020364"/>
                    </a:ext>
                  </a:extLst>
                </a:gridCol>
                <a:gridCol w="1024637">
                  <a:extLst>
                    <a:ext uri="{9D8B030D-6E8A-4147-A177-3AD203B41FA5}">
                      <a16:colId xmlns:a16="http://schemas.microsoft.com/office/drawing/2014/main" val="652206220"/>
                    </a:ext>
                  </a:extLst>
                </a:gridCol>
                <a:gridCol w="1024637">
                  <a:extLst>
                    <a:ext uri="{9D8B030D-6E8A-4147-A177-3AD203B41FA5}">
                      <a16:colId xmlns:a16="http://schemas.microsoft.com/office/drawing/2014/main" val="1538217645"/>
                    </a:ext>
                  </a:extLst>
                </a:gridCol>
                <a:gridCol w="1024637">
                  <a:extLst>
                    <a:ext uri="{9D8B030D-6E8A-4147-A177-3AD203B41FA5}">
                      <a16:colId xmlns:a16="http://schemas.microsoft.com/office/drawing/2014/main" val="4004902531"/>
                    </a:ext>
                  </a:extLst>
                </a:gridCol>
                <a:gridCol w="1024637">
                  <a:extLst>
                    <a:ext uri="{9D8B030D-6E8A-4147-A177-3AD203B41FA5}">
                      <a16:colId xmlns:a16="http://schemas.microsoft.com/office/drawing/2014/main" val="2207854395"/>
                    </a:ext>
                  </a:extLst>
                </a:gridCol>
                <a:gridCol w="1024637">
                  <a:extLst>
                    <a:ext uri="{9D8B030D-6E8A-4147-A177-3AD203B41FA5}">
                      <a16:colId xmlns:a16="http://schemas.microsoft.com/office/drawing/2014/main" val="3647920501"/>
                    </a:ext>
                  </a:extLst>
                </a:gridCol>
                <a:gridCol w="1024637">
                  <a:extLst>
                    <a:ext uri="{9D8B030D-6E8A-4147-A177-3AD203B41FA5}">
                      <a16:colId xmlns:a16="http://schemas.microsoft.com/office/drawing/2014/main" val="1056190007"/>
                    </a:ext>
                  </a:extLst>
                </a:gridCol>
                <a:gridCol w="1024637">
                  <a:extLst>
                    <a:ext uri="{9D8B030D-6E8A-4147-A177-3AD203B41FA5}">
                      <a16:colId xmlns:a16="http://schemas.microsoft.com/office/drawing/2014/main" val="817032779"/>
                    </a:ext>
                  </a:extLst>
                </a:gridCol>
              </a:tblGrid>
              <a:tr h="902254">
                <a:tc>
                  <a:txBody>
                    <a:bodyPr/>
                    <a:lstStyle/>
                    <a:p>
                      <a:endParaRPr lang="en-GB" sz="2800" dirty="0"/>
                    </a:p>
                  </a:txBody>
                  <a:tcPr/>
                </a:tc>
                <a:tc>
                  <a:txBody>
                    <a:bodyPr/>
                    <a:lstStyle/>
                    <a:p>
                      <a:pPr algn="ctr"/>
                      <a:r>
                        <a:rPr lang="en-US" sz="2800" dirty="0"/>
                        <a:t>Item 1</a:t>
                      </a:r>
                      <a:endParaRPr lang="en-GB" sz="2800" dirty="0"/>
                    </a:p>
                  </a:txBody>
                  <a:tcPr/>
                </a:tc>
                <a:tc>
                  <a:txBody>
                    <a:bodyPr/>
                    <a:lstStyle/>
                    <a:p>
                      <a:pPr algn="ctr"/>
                      <a:r>
                        <a:rPr lang="en-US" sz="2800" dirty="0"/>
                        <a:t>Item 2</a:t>
                      </a:r>
                      <a:endParaRPr lang="en-GB" sz="2800" dirty="0"/>
                    </a:p>
                  </a:txBody>
                  <a:tcPr/>
                </a:tc>
                <a:tc>
                  <a:txBody>
                    <a:bodyPr/>
                    <a:lstStyle/>
                    <a:p>
                      <a:pPr algn="ctr"/>
                      <a:r>
                        <a:rPr lang="en-US" sz="2800" dirty="0"/>
                        <a:t>Item 3</a:t>
                      </a:r>
                      <a:endParaRPr lang="en-GB" sz="2800" dirty="0"/>
                    </a:p>
                  </a:txBody>
                  <a:tcPr/>
                </a:tc>
                <a:tc>
                  <a:txBody>
                    <a:bodyPr/>
                    <a:lstStyle/>
                    <a:p>
                      <a:pPr algn="ctr"/>
                      <a:r>
                        <a:rPr lang="en-US" sz="2800" dirty="0"/>
                        <a:t>Item 4</a:t>
                      </a:r>
                      <a:endParaRPr lang="en-GB" sz="2800" dirty="0"/>
                    </a:p>
                  </a:txBody>
                  <a:tcPr/>
                </a:tc>
                <a:tc>
                  <a:txBody>
                    <a:bodyPr/>
                    <a:lstStyle/>
                    <a:p>
                      <a:pPr algn="ctr"/>
                      <a:r>
                        <a:rPr lang="en-US" sz="2800" dirty="0"/>
                        <a:t>Item 5</a:t>
                      </a:r>
                      <a:endParaRPr lang="en-GB" sz="2800" dirty="0"/>
                    </a:p>
                  </a:txBody>
                  <a:tcPr/>
                </a:tc>
                <a:tc>
                  <a:txBody>
                    <a:bodyPr/>
                    <a:lstStyle/>
                    <a:p>
                      <a:pPr algn="ctr"/>
                      <a:r>
                        <a:rPr lang="en-US" sz="2800" dirty="0"/>
                        <a:t>Item 6</a:t>
                      </a:r>
                      <a:endParaRPr lang="en-GB" sz="2800" dirty="0"/>
                    </a:p>
                  </a:txBody>
                  <a:tcPr/>
                </a:tc>
                <a:tc>
                  <a:txBody>
                    <a:bodyPr/>
                    <a:lstStyle/>
                    <a:p>
                      <a:pPr algn="ctr"/>
                      <a:r>
                        <a:rPr lang="en-US" sz="2800" dirty="0"/>
                        <a:t>Item 7</a:t>
                      </a:r>
                      <a:endParaRPr lang="en-GB" sz="2800" dirty="0"/>
                    </a:p>
                  </a:txBody>
                  <a:tcPr/>
                </a:tc>
                <a:tc>
                  <a:txBody>
                    <a:bodyPr/>
                    <a:lstStyle/>
                    <a:p>
                      <a:pPr algn="ctr"/>
                      <a:r>
                        <a:rPr lang="en-US" sz="2800" dirty="0"/>
                        <a:t>Item 8 </a:t>
                      </a:r>
                      <a:endParaRPr lang="en-GB" sz="2800" dirty="0"/>
                    </a:p>
                  </a:txBody>
                  <a:tcPr/>
                </a:tc>
                <a:tc>
                  <a:txBody>
                    <a:bodyPr/>
                    <a:lstStyle/>
                    <a:p>
                      <a:pPr algn="ctr"/>
                      <a:r>
                        <a:rPr lang="en-US" sz="2800" dirty="0"/>
                        <a:t>Item 9</a:t>
                      </a:r>
                      <a:endParaRPr lang="en-GB" sz="2800" dirty="0"/>
                    </a:p>
                  </a:txBody>
                  <a:tcPr/>
                </a:tc>
                <a:tc>
                  <a:txBody>
                    <a:bodyPr/>
                    <a:lstStyle/>
                    <a:p>
                      <a:pPr algn="ctr"/>
                      <a:r>
                        <a:rPr lang="en-US" sz="2800" dirty="0"/>
                        <a:t>Item 10</a:t>
                      </a:r>
                      <a:endParaRPr lang="en-GB" sz="2800" dirty="0"/>
                    </a:p>
                  </a:txBody>
                  <a:tcPr/>
                </a:tc>
                <a:extLst>
                  <a:ext uri="{0D108BD9-81ED-4DB2-BD59-A6C34878D82A}">
                    <a16:rowId xmlns:a16="http://schemas.microsoft.com/office/drawing/2014/main" val="944624969"/>
                  </a:ext>
                </a:extLst>
              </a:tr>
              <a:tr h="902254">
                <a:tc>
                  <a:txBody>
                    <a:bodyPr/>
                    <a:lstStyle/>
                    <a:p>
                      <a:r>
                        <a:rPr lang="en-US" sz="2800" dirty="0"/>
                        <a:t>Coder 1</a:t>
                      </a:r>
                      <a:endParaRPr lang="en-GB" sz="2800" dirty="0"/>
                    </a:p>
                  </a:txBody>
                  <a:tcPr/>
                </a:tc>
                <a:tc>
                  <a:txBody>
                    <a:bodyPr/>
                    <a:lstStyle/>
                    <a:p>
                      <a:pPr algn="ctr"/>
                      <a:r>
                        <a:rPr lang="en-US" sz="3600" b="1" dirty="0">
                          <a:solidFill>
                            <a:srgbClr val="E76254"/>
                          </a:solidFill>
                        </a:rPr>
                        <a:t>0</a:t>
                      </a:r>
                      <a:endParaRPr lang="en-GB" sz="3600" b="1" dirty="0">
                        <a:solidFill>
                          <a:srgbClr val="E76254"/>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600" b="1" dirty="0">
                          <a:solidFill>
                            <a:srgbClr val="E76254"/>
                          </a:solidFill>
                        </a:rPr>
                        <a:t>0</a:t>
                      </a:r>
                      <a:endParaRPr lang="en-GB" sz="3600" b="1" dirty="0">
                        <a:solidFill>
                          <a:srgbClr val="E76254"/>
                        </a:solidFill>
                      </a:endParaRPr>
                    </a:p>
                  </a:txBody>
                  <a:tcPr/>
                </a:tc>
                <a:tc>
                  <a:txBody>
                    <a:bodyPr/>
                    <a:lstStyle/>
                    <a:p>
                      <a:pPr algn="ctr"/>
                      <a:r>
                        <a:rPr lang="en-US" sz="3600" b="1" dirty="0">
                          <a:solidFill>
                            <a:srgbClr val="E76254"/>
                          </a:solidFill>
                        </a:rPr>
                        <a:t>0</a:t>
                      </a:r>
                      <a:endParaRPr lang="en-GB" sz="3600" b="1" dirty="0">
                        <a:solidFill>
                          <a:srgbClr val="E76254"/>
                        </a:solidFill>
                      </a:endParaRPr>
                    </a:p>
                  </a:txBody>
                  <a:tcPr/>
                </a:tc>
                <a:tc>
                  <a:txBody>
                    <a:bodyPr/>
                    <a:lstStyle/>
                    <a:p>
                      <a:pPr algn="ctr"/>
                      <a:r>
                        <a:rPr lang="en-US" sz="3600" b="1" dirty="0">
                          <a:solidFill>
                            <a:srgbClr val="E76254"/>
                          </a:solidFill>
                        </a:rPr>
                        <a:t>0</a:t>
                      </a:r>
                      <a:endParaRPr lang="en-GB" sz="3600" b="1" dirty="0">
                        <a:solidFill>
                          <a:srgbClr val="E76254"/>
                        </a:solidFill>
                      </a:endParaRPr>
                    </a:p>
                  </a:txBody>
                  <a:tcPr/>
                </a:tc>
                <a:tc>
                  <a:txBody>
                    <a:bodyPr/>
                    <a:lstStyle/>
                    <a:p>
                      <a:pPr algn="ctr"/>
                      <a:r>
                        <a:rPr lang="en-US" sz="3600" b="1" dirty="0">
                          <a:solidFill>
                            <a:srgbClr val="E76254"/>
                          </a:solidFill>
                        </a:rPr>
                        <a:t>0</a:t>
                      </a:r>
                      <a:endParaRPr lang="en-GB" sz="3600" b="1" dirty="0">
                        <a:solidFill>
                          <a:srgbClr val="E76254"/>
                        </a:solidFill>
                      </a:endParaRPr>
                    </a:p>
                  </a:txBody>
                  <a:tcPr/>
                </a:tc>
                <a:tc>
                  <a:txBody>
                    <a:bodyPr/>
                    <a:lstStyle/>
                    <a:p>
                      <a:pPr algn="ctr"/>
                      <a:r>
                        <a:rPr lang="en-US" sz="3600" b="1" dirty="0">
                          <a:solidFill>
                            <a:srgbClr val="00B050"/>
                          </a:solidFill>
                        </a:rPr>
                        <a:t>1</a:t>
                      </a:r>
                      <a:endParaRPr lang="en-GB" sz="3600" b="1" dirty="0">
                        <a:solidFill>
                          <a:srgbClr val="00B050"/>
                        </a:solidFill>
                      </a:endParaRPr>
                    </a:p>
                  </a:txBody>
                  <a:tcPr/>
                </a:tc>
                <a:tc>
                  <a:txBody>
                    <a:bodyPr/>
                    <a:lstStyle/>
                    <a:p>
                      <a:pPr algn="ctr"/>
                      <a:r>
                        <a:rPr lang="en-US" sz="3600" b="1" dirty="0">
                          <a:solidFill>
                            <a:srgbClr val="E76254"/>
                          </a:solidFill>
                        </a:rPr>
                        <a:t>0</a:t>
                      </a:r>
                      <a:endParaRPr lang="en-GB" sz="3600" b="1" dirty="0">
                        <a:solidFill>
                          <a:srgbClr val="E76254"/>
                        </a:solidFill>
                      </a:endParaRPr>
                    </a:p>
                  </a:txBody>
                  <a:tcPr/>
                </a:tc>
                <a:tc>
                  <a:txBody>
                    <a:bodyPr/>
                    <a:lstStyle/>
                    <a:p>
                      <a:pPr algn="ctr"/>
                      <a:r>
                        <a:rPr lang="en-US" sz="3600" b="1" dirty="0">
                          <a:solidFill>
                            <a:srgbClr val="E76254"/>
                          </a:solidFill>
                        </a:rPr>
                        <a:t>0</a:t>
                      </a:r>
                      <a:endParaRPr lang="en-GB" sz="3600" b="1" dirty="0">
                        <a:solidFill>
                          <a:srgbClr val="E76254"/>
                        </a:solidFill>
                      </a:endParaRPr>
                    </a:p>
                  </a:txBody>
                  <a:tcPr/>
                </a:tc>
                <a:tc>
                  <a:txBody>
                    <a:bodyPr/>
                    <a:lstStyle/>
                    <a:p>
                      <a:pPr algn="ctr"/>
                      <a:r>
                        <a:rPr lang="en-US" sz="3600" b="1" dirty="0">
                          <a:solidFill>
                            <a:srgbClr val="E76254"/>
                          </a:solidFill>
                        </a:rPr>
                        <a:t>0</a:t>
                      </a:r>
                      <a:endParaRPr lang="en-GB" sz="3600" b="1" dirty="0">
                        <a:solidFill>
                          <a:srgbClr val="E76254"/>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600" b="1" dirty="0">
                          <a:solidFill>
                            <a:srgbClr val="E76254"/>
                          </a:solidFill>
                        </a:rPr>
                        <a:t>0</a:t>
                      </a:r>
                      <a:endParaRPr lang="en-GB" sz="3600" b="1" dirty="0">
                        <a:solidFill>
                          <a:srgbClr val="E76254"/>
                        </a:solidFill>
                      </a:endParaRPr>
                    </a:p>
                  </a:txBody>
                  <a:tcPr/>
                </a:tc>
                <a:extLst>
                  <a:ext uri="{0D108BD9-81ED-4DB2-BD59-A6C34878D82A}">
                    <a16:rowId xmlns:a16="http://schemas.microsoft.com/office/drawing/2014/main" val="1226394790"/>
                  </a:ext>
                </a:extLst>
              </a:tr>
              <a:tr h="902254">
                <a:tc>
                  <a:txBody>
                    <a:bodyPr/>
                    <a:lstStyle/>
                    <a:p>
                      <a:r>
                        <a:rPr lang="en-US" sz="2800" dirty="0"/>
                        <a:t>Coder 2</a:t>
                      </a:r>
                      <a:endParaRPr lang="en-GB" sz="2800" dirty="0"/>
                    </a:p>
                  </a:txBody>
                  <a:tcPr/>
                </a:tc>
                <a:tc>
                  <a:txBody>
                    <a:bodyPr/>
                    <a:lstStyle/>
                    <a:p>
                      <a:pPr algn="ctr"/>
                      <a:r>
                        <a:rPr lang="en-US" sz="3600" b="1" dirty="0">
                          <a:solidFill>
                            <a:srgbClr val="E76254"/>
                          </a:solidFill>
                        </a:rPr>
                        <a:t>0</a:t>
                      </a:r>
                      <a:endParaRPr lang="en-GB" sz="3600" b="1" dirty="0">
                        <a:solidFill>
                          <a:srgbClr val="E76254"/>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600" b="1" dirty="0">
                          <a:solidFill>
                            <a:srgbClr val="E76254"/>
                          </a:solidFill>
                        </a:rPr>
                        <a:t>0</a:t>
                      </a:r>
                      <a:r>
                        <a:rPr lang="en-US" sz="3600" b="1" dirty="0"/>
                        <a:t> </a:t>
                      </a:r>
                      <a:endParaRPr lang="en-GB" sz="3600" b="1" dirty="0"/>
                    </a:p>
                  </a:txBody>
                  <a:tcPr/>
                </a:tc>
                <a:tc>
                  <a:txBody>
                    <a:bodyPr/>
                    <a:lstStyle/>
                    <a:p>
                      <a:pPr algn="ctr"/>
                      <a:r>
                        <a:rPr lang="en-US" sz="3600" b="1" dirty="0">
                          <a:solidFill>
                            <a:srgbClr val="E76254"/>
                          </a:solidFill>
                        </a:rPr>
                        <a:t>0</a:t>
                      </a:r>
                      <a:endParaRPr lang="en-GB" sz="3600" b="1" dirty="0">
                        <a:solidFill>
                          <a:srgbClr val="E76254"/>
                        </a:solidFill>
                      </a:endParaRPr>
                    </a:p>
                  </a:txBody>
                  <a:tcPr/>
                </a:tc>
                <a:tc>
                  <a:txBody>
                    <a:bodyPr/>
                    <a:lstStyle/>
                    <a:p>
                      <a:pPr algn="ctr"/>
                      <a:r>
                        <a:rPr lang="en-US" sz="3600" b="1" dirty="0">
                          <a:solidFill>
                            <a:srgbClr val="E76254"/>
                          </a:solidFill>
                        </a:rPr>
                        <a:t>0</a:t>
                      </a:r>
                      <a:endParaRPr lang="en-GB" sz="3600" b="1" dirty="0">
                        <a:solidFill>
                          <a:srgbClr val="E76254"/>
                        </a:solidFill>
                      </a:endParaRPr>
                    </a:p>
                  </a:txBody>
                  <a:tcPr/>
                </a:tc>
                <a:tc>
                  <a:txBody>
                    <a:bodyPr/>
                    <a:lstStyle/>
                    <a:p>
                      <a:pPr algn="ctr"/>
                      <a:r>
                        <a:rPr lang="en-US" sz="3600" b="1" dirty="0">
                          <a:solidFill>
                            <a:srgbClr val="E76254"/>
                          </a:solidFill>
                        </a:rPr>
                        <a:t>0</a:t>
                      </a:r>
                      <a:endParaRPr lang="en-GB" sz="3600" b="1" dirty="0">
                        <a:solidFill>
                          <a:srgbClr val="E76254"/>
                        </a:solidFill>
                      </a:endParaRPr>
                    </a:p>
                  </a:txBody>
                  <a:tcPr/>
                </a:tc>
                <a:tc>
                  <a:txBody>
                    <a:bodyPr/>
                    <a:lstStyle/>
                    <a:p>
                      <a:pPr algn="ctr"/>
                      <a:r>
                        <a:rPr lang="en-US" sz="3600" b="1" dirty="0">
                          <a:solidFill>
                            <a:srgbClr val="E76254"/>
                          </a:solidFill>
                        </a:rPr>
                        <a:t>0</a:t>
                      </a:r>
                      <a:endParaRPr lang="en-GB" sz="3600" b="1" dirty="0">
                        <a:solidFill>
                          <a:srgbClr val="00B050"/>
                        </a:solidFill>
                      </a:endParaRPr>
                    </a:p>
                  </a:txBody>
                  <a:tcPr/>
                </a:tc>
                <a:tc>
                  <a:txBody>
                    <a:bodyPr/>
                    <a:lstStyle/>
                    <a:p>
                      <a:pPr algn="ctr"/>
                      <a:r>
                        <a:rPr lang="en-US" sz="3600" b="1" dirty="0">
                          <a:solidFill>
                            <a:srgbClr val="E76254"/>
                          </a:solidFill>
                        </a:rPr>
                        <a:t>0</a:t>
                      </a:r>
                      <a:endParaRPr lang="en-GB" sz="3600" b="1" dirty="0">
                        <a:solidFill>
                          <a:srgbClr val="E76254"/>
                        </a:solidFill>
                      </a:endParaRPr>
                    </a:p>
                  </a:txBody>
                  <a:tcPr/>
                </a:tc>
                <a:tc>
                  <a:txBody>
                    <a:bodyPr/>
                    <a:lstStyle/>
                    <a:p>
                      <a:pPr algn="ctr"/>
                      <a:r>
                        <a:rPr lang="en-US" sz="3600" b="1" dirty="0">
                          <a:solidFill>
                            <a:srgbClr val="E76254"/>
                          </a:solidFill>
                        </a:rPr>
                        <a:t>0</a:t>
                      </a:r>
                      <a:endParaRPr lang="en-GB" sz="3600" b="1" dirty="0">
                        <a:solidFill>
                          <a:srgbClr val="E76254"/>
                        </a:solidFill>
                      </a:endParaRPr>
                    </a:p>
                  </a:txBody>
                  <a:tcPr/>
                </a:tc>
                <a:tc>
                  <a:txBody>
                    <a:bodyPr/>
                    <a:lstStyle/>
                    <a:p>
                      <a:pPr algn="ctr"/>
                      <a:r>
                        <a:rPr lang="en-US" sz="3600" b="1" dirty="0">
                          <a:solidFill>
                            <a:srgbClr val="E76254"/>
                          </a:solidFill>
                        </a:rPr>
                        <a:t>0</a:t>
                      </a:r>
                      <a:endParaRPr lang="en-GB" sz="3600" b="1" dirty="0">
                        <a:solidFill>
                          <a:srgbClr val="E76254"/>
                        </a:solidFill>
                      </a:endParaRPr>
                    </a:p>
                  </a:txBody>
                  <a:tcPr/>
                </a:tc>
                <a:tc>
                  <a:txBody>
                    <a:bodyPr/>
                    <a:lstStyle/>
                    <a:p>
                      <a:pPr algn="ctr"/>
                      <a:r>
                        <a:rPr lang="en-US" sz="3600" b="1" dirty="0">
                          <a:solidFill>
                            <a:srgbClr val="E76254"/>
                          </a:solidFill>
                        </a:rPr>
                        <a:t>0</a:t>
                      </a:r>
                      <a:endParaRPr lang="en-GB" sz="3600" b="1" dirty="0">
                        <a:solidFill>
                          <a:srgbClr val="00B050"/>
                        </a:solidFill>
                      </a:endParaRPr>
                    </a:p>
                  </a:txBody>
                  <a:tcPr/>
                </a:tc>
                <a:extLst>
                  <a:ext uri="{0D108BD9-81ED-4DB2-BD59-A6C34878D82A}">
                    <a16:rowId xmlns:a16="http://schemas.microsoft.com/office/drawing/2014/main" val="811750742"/>
                  </a:ext>
                </a:extLst>
              </a:tr>
            </a:tbl>
          </a:graphicData>
        </a:graphic>
      </p:graphicFrame>
      <p:sp>
        <p:nvSpPr>
          <p:cNvPr id="7" name="TextBox 6">
            <a:extLst>
              <a:ext uri="{FF2B5EF4-FFF2-40B4-BE49-F238E27FC236}">
                <a16:creationId xmlns:a16="http://schemas.microsoft.com/office/drawing/2014/main" id="{5A6EDB58-06F8-7768-7184-BE0576C8BA98}"/>
              </a:ext>
            </a:extLst>
          </p:cNvPr>
          <p:cNvSpPr txBox="1"/>
          <p:nvPr/>
        </p:nvSpPr>
        <p:spPr>
          <a:xfrm>
            <a:off x="4252511" y="5286256"/>
            <a:ext cx="4627084" cy="1077218"/>
          </a:xfrm>
          <a:prstGeom prst="rect">
            <a:avLst/>
          </a:prstGeom>
          <a:noFill/>
        </p:spPr>
        <p:txBody>
          <a:bodyPr wrap="square" rtlCol="0">
            <a:spAutoFit/>
          </a:bodyPr>
          <a:lstStyle/>
          <a:p>
            <a:r>
              <a:rPr lang="en-US" sz="3200" dirty="0">
                <a:latin typeface="Gill Sans MT" panose="020B0502020104020203" pitchFamily="34" charset="0"/>
              </a:rPr>
              <a:t>Agreement = 90%</a:t>
            </a:r>
          </a:p>
          <a:p>
            <a:r>
              <a:rPr lang="en-US" sz="3200" dirty="0" err="1">
                <a:latin typeface="Gill Sans MT" panose="020B0502020104020203" pitchFamily="34" charset="0"/>
              </a:rPr>
              <a:t>Krippendorf’s</a:t>
            </a:r>
            <a:r>
              <a:rPr lang="en-US" sz="3200" dirty="0">
                <a:latin typeface="Gill Sans MT" panose="020B0502020104020203" pitchFamily="34" charset="0"/>
              </a:rPr>
              <a:t> Alpha = 0  </a:t>
            </a:r>
            <a:endParaRPr lang="en-GB" sz="3200" dirty="0">
              <a:latin typeface="Gill Sans MT" panose="020B0502020104020203" pitchFamily="34" charset="0"/>
            </a:endParaRPr>
          </a:p>
        </p:txBody>
      </p:sp>
    </p:spTree>
    <p:extLst>
      <p:ext uri="{BB962C8B-B14F-4D97-AF65-F5344CB8AC3E}">
        <p14:creationId xmlns:p14="http://schemas.microsoft.com/office/powerpoint/2010/main" val="19975351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829ED-A900-4F1F-CE76-D4CD7E8B9016}"/>
              </a:ext>
            </a:extLst>
          </p:cNvPr>
          <p:cNvSpPr>
            <a:spLocks noGrp="1"/>
          </p:cNvSpPr>
          <p:nvPr>
            <p:ph type="title"/>
          </p:nvPr>
        </p:nvSpPr>
        <p:spPr/>
        <p:txBody>
          <a:bodyPr/>
          <a:lstStyle/>
          <a:p>
            <a:r>
              <a:rPr lang="en-GB" dirty="0"/>
              <a:t>Summary</a:t>
            </a:r>
          </a:p>
        </p:txBody>
      </p:sp>
      <p:sp>
        <p:nvSpPr>
          <p:cNvPr id="5" name="Slide Number Placeholder 4">
            <a:extLst>
              <a:ext uri="{FF2B5EF4-FFF2-40B4-BE49-F238E27FC236}">
                <a16:creationId xmlns:a16="http://schemas.microsoft.com/office/drawing/2014/main" id="{A633363A-9297-622C-BDB2-C0D07106F406}"/>
              </a:ext>
            </a:extLst>
          </p:cNvPr>
          <p:cNvSpPr>
            <a:spLocks noGrp="1"/>
          </p:cNvSpPr>
          <p:nvPr>
            <p:ph type="sldNum" sz="quarter" idx="12"/>
          </p:nvPr>
        </p:nvSpPr>
        <p:spPr/>
        <p:txBody>
          <a:bodyPr/>
          <a:lstStyle/>
          <a:p>
            <a:fld id="{372769DB-CAE7-4C85-A9AF-7D4D8DE4CA22}" type="slidenum">
              <a:rPr lang="en-GB" smtClean="0"/>
              <a:t>27</a:t>
            </a:fld>
            <a:endParaRPr lang="en-GB" dirty="0"/>
          </a:p>
        </p:txBody>
      </p:sp>
      <p:sp>
        <p:nvSpPr>
          <p:cNvPr id="7" name="Content Placeholder 2">
            <a:extLst>
              <a:ext uri="{FF2B5EF4-FFF2-40B4-BE49-F238E27FC236}">
                <a16:creationId xmlns:a16="http://schemas.microsoft.com/office/drawing/2014/main" id="{56EBD5C7-1FBA-368E-8D31-6FCE5259ED51}"/>
              </a:ext>
            </a:extLst>
          </p:cNvPr>
          <p:cNvSpPr txBox="1">
            <a:spLocks/>
          </p:cNvSpPr>
          <p:nvPr/>
        </p:nvSpPr>
        <p:spPr>
          <a:xfrm>
            <a:off x="753912" y="1456985"/>
            <a:ext cx="10876433" cy="4351338"/>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40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GB" sz="4400" b="1" dirty="0"/>
          </a:p>
          <a:p>
            <a:pPr marL="0" indent="0">
              <a:buFont typeface="Arial" panose="020B0604020202020204" pitchFamily="34" charset="0"/>
              <a:buNone/>
            </a:pPr>
            <a:r>
              <a:rPr lang="en-GB" sz="4300" b="1" dirty="0"/>
              <a:t>Qualitative content analysis</a:t>
            </a:r>
          </a:p>
          <a:p>
            <a:r>
              <a:rPr lang="en-GB" sz="4300" dirty="0"/>
              <a:t>Plausible categories</a:t>
            </a:r>
          </a:p>
          <a:p>
            <a:r>
              <a:rPr lang="en-GB" sz="4300" dirty="0"/>
              <a:t>Explanation of coding decisions</a:t>
            </a:r>
          </a:p>
          <a:p>
            <a:endParaRPr lang="en-GB" sz="4300" dirty="0"/>
          </a:p>
          <a:p>
            <a:pPr marL="0" indent="0">
              <a:buNone/>
            </a:pPr>
            <a:r>
              <a:rPr lang="en-GB" sz="4300" b="1" dirty="0"/>
              <a:t>Quantitative content analysis</a:t>
            </a:r>
          </a:p>
          <a:p>
            <a:r>
              <a:rPr lang="en-GB" sz="4300" dirty="0"/>
              <a:t>Internal and external validity</a:t>
            </a:r>
          </a:p>
          <a:p>
            <a:r>
              <a:rPr lang="en-GB" sz="4300" dirty="0"/>
              <a:t>Intra and inter-coder reliability</a:t>
            </a:r>
          </a:p>
        </p:txBody>
      </p:sp>
    </p:spTree>
    <p:extLst>
      <p:ext uri="{BB962C8B-B14F-4D97-AF65-F5344CB8AC3E}">
        <p14:creationId xmlns:p14="http://schemas.microsoft.com/office/powerpoint/2010/main" val="40887982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B9ADE-A94A-5BEA-351E-04FD4AD2BBDE}"/>
              </a:ext>
            </a:extLst>
          </p:cNvPr>
          <p:cNvSpPr>
            <a:spLocks noGrp="1"/>
          </p:cNvSpPr>
          <p:nvPr>
            <p:ph type="title"/>
          </p:nvPr>
        </p:nvSpPr>
        <p:spPr>
          <a:xfrm>
            <a:off x="1149484" y="2353625"/>
            <a:ext cx="9893031" cy="2626469"/>
          </a:xfrm>
        </p:spPr>
        <p:txBody>
          <a:bodyPr>
            <a:normAutofit fontScale="90000"/>
          </a:bodyPr>
          <a:lstStyle/>
          <a:p>
            <a:r>
              <a:rPr lang="en-GB" dirty="0"/>
              <a:t>Content analysis in </a:t>
            </a:r>
            <a:br>
              <a:rPr lang="en-GB" dirty="0"/>
            </a:br>
            <a:r>
              <a:rPr lang="en-GB" dirty="0"/>
              <a:t>academic research</a:t>
            </a:r>
            <a:br>
              <a:rPr lang="en-GB" dirty="0"/>
            </a:br>
            <a:br>
              <a:rPr lang="en-GB" dirty="0"/>
            </a:br>
            <a:r>
              <a:rPr lang="en-US" dirty="0"/>
              <a:t>Example 1</a:t>
            </a:r>
            <a:endParaRPr lang="en-GB" dirty="0"/>
          </a:p>
        </p:txBody>
      </p:sp>
    </p:spTree>
    <p:extLst>
      <p:ext uri="{BB962C8B-B14F-4D97-AF65-F5344CB8AC3E}">
        <p14:creationId xmlns:p14="http://schemas.microsoft.com/office/powerpoint/2010/main" val="34170720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12046A4-EBD2-2588-8239-B75D4DBFED83}"/>
              </a:ext>
            </a:extLst>
          </p:cNvPr>
          <p:cNvSpPr>
            <a:spLocks noGrp="1"/>
          </p:cNvSpPr>
          <p:nvPr>
            <p:ph type="sldNum" sz="quarter" idx="12"/>
          </p:nvPr>
        </p:nvSpPr>
        <p:spPr/>
        <p:txBody>
          <a:bodyPr/>
          <a:lstStyle/>
          <a:p>
            <a:fld id="{372769DB-CAE7-4C85-A9AF-7D4D8DE4CA22}" type="slidenum">
              <a:rPr lang="en-GB" smtClean="0"/>
              <a:t>29</a:t>
            </a:fld>
            <a:endParaRPr lang="en-GB" dirty="0"/>
          </a:p>
        </p:txBody>
      </p:sp>
      <p:pic>
        <p:nvPicPr>
          <p:cNvPr id="4" name="Picture 3" descr="Title of an academic journal article: How Do Populists Visually Represent ‘The People’? A Systematic Comparative Visual Content Analysis of Donald Trump and Bernie Sanders’ Instagram Accounts">
            <a:extLst>
              <a:ext uri="{FF2B5EF4-FFF2-40B4-BE49-F238E27FC236}">
                <a16:creationId xmlns:a16="http://schemas.microsoft.com/office/drawing/2014/main" id="{F510CA03-C61F-1089-386F-EA3726C935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25279" y="538454"/>
            <a:ext cx="8728879" cy="5425046"/>
          </a:xfrm>
          <a:prstGeom prst="rect">
            <a:avLst/>
          </a:prstGeom>
        </p:spPr>
      </p:pic>
    </p:spTree>
    <p:extLst>
      <p:ext uri="{BB962C8B-B14F-4D97-AF65-F5344CB8AC3E}">
        <p14:creationId xmlns:p14="http://schemas.microsoft.com/office/powerpoint/2010/main" val="40998633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3FF69-B6E6-EE8B-67E5-EC76A1F75347}"/>
              </a:ext>
            </a:extLst>
          </p:cNvPr>
          <p:cNvSpPr>
            <a:spLocks noGrp="1"/>
          </p:cNvSpPr>
          <p:nvPr>
            <p:ph type="title"/>
          </p:nvPr>
        </p:nvSpPr>
        <p:spPr/>
        <p:txBody>
          <a:bodyPr/>
          <a:lstStyle/>
          <a:p>
            <a:r>
              <a:rPr lang="en-GB" dirty="0"/>
              <a:t>Moffitt (2024)</a:t>
            </a:r>
          </a:p>
        </p:txBody>
      </p:sp>
      <p:sp>
        <p:nvSpPr>
          <p:cNvPr id="3" name="Content Placeholder 2">
            <a:extLst>
              <a:ext uri="{FF2B5EF4-FFF2-40B4-BE49-F238E27FC236}">
                <a16:creationId xmlns:a16="http://schemas.microsoft.com/office/drawing/2014/main" id="{D72FFA1C-2DD8-D09B-8419-CE41DB06ADF0}"/>
              </a:ext>
            </a:extLst>
          </p:cNvPr>
          <p:cNvSpPr>
            <a:spLocks noGrp="1"/>
          </p:cNvSpPr>
          <p:nvPr>
            <p:ph idx="1"/>
          </p:nvPr>
        </p:nvSpPr>
        <p:spPr>
          <a:xfrm>
            <a:off x="373758" y="1566090"/>
            <a:ext cx="12229538" cy="4351338"/>
          </a:xfrm>
        </p:spPr>
        <p:txBody>
          <a:bodyPr>
            <a:noAutofit/>
          </a:bodyPr>
          <a:lstStyle/>
          <a:p>
            <a:pPr lvl="1"/>
            <a:r>
              <a:rPr lang="en-US" sz="3600" dirty="0"/>
              <a:t>Visual content analysis</a:t>
            </a:r>
          </a:p>
          <a:p>
            <a:pPr lvl="1"/>
            <a:endParaRPr lang="en-US" sz="3600" dirty="0"/>
          </a:p>
          <a:p>
            <a:pPr lvl="1"/>
            <a:r>
              <a:rPr lang="en-US" sz="3600" dirty="0"/>
              <a:t>How do populists visually represent the people?</a:t>
            </a:r>
          </a:p>
          <a:p>
            <a:pPr lvl="1">
              <a:buFontTx/>
              <a:buChar char="-"/>
            </a:pPr>
            <a:r>
              <a:rPr lang="en-US" sz="3600" dirty="0"/>
              <a:t>Gender, race, age</a:t>
            </a:r>
          </a:p>
          <a:p>
            <a:pPr lvl="1">
              <a:buFontTx/>
              <a:buChar char="-"/>
            </a:pPr>
            <a:endParaRPr lang="en-GB" sz="3600" dirty="0"/>
          </a:p>
          <a:p>
            <a:pPr lvl="1"/>
            <a:r>
              <a:rPr lang="en-GB" sz="3600" dirty="0"/>
              <a:t>US 2019, Instagram posts of Trump and Sanders</a:t>
            </a:r>
          </a:p>
          <a:p>
            <a:pPr lvl="1"/>
            <a:r>
              <a:rPr lang="en-GB" sz="3600" dirty="0"/>
              <a:t>Right-wing and left-wing populism</a:t>
            </a:r>
            <a:endParaRPr lang="en-US" sz="3600" dirty="0"/>
          </a:p>
        </p:txBody>
      </p:sp>
      <p:sp>
        <p:nvSpPr>
          <p:cNvPr id="5" name="Slide Number Placeholder 4">
            <a:extLst>
              <a:ext uri="{FF2B5EF4-FFF2-40B4-BE49-F238E27FC236}">
                <a16:creationId xmlns:a16="http://schemas.microsoft.com/office/drawing/2014/main" id="{759ECE30-0093-7048-0352-73A2799E3E61}"/>
              </a:ext>
            </a:extLst>
          </p:cNvPr>
          <p:cNvSpPr>
            <a:spLocks noGrp="1"/>
          </p:cNvSpPr>
          <p:nvPr>
            <p:ph type="sldNum" sz="quarter" idx="12"/>
          </p:nvPr>
        </p:nvSpPr>
        <p:spPr/>
        <p:txBody>
          <a:bodyPr/>
          <a:lstStyle/>
          <a:p>
            <a:fld id="{372769DB-CAE7-4C85-A9AF-7D4D8DE4CA22}" type="slidenum">
              <a:rPr lang="en-GB" smtClean="0"/>
              <a:t>30</a:t>
            </a:fld>
            <a:endParaRPr lang="en-GB" dirty="0"/>
          </a:p>
        </p:txBody>
      </p:sp>
    </p:spTree>
    <p:extLst>
      <p:ext uri="{BB962C8B-B14F-4D97-AF65-F5344CB8AC3E}">
        <p14:creationId xmlns:p14="http://schemas.microsoft.com/office/powerpoint/2010/main" val="25954414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A31D6C-97D9-9DA1-BFCE-D7CB515E6E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3B0381-DD80-8E82-A147-AC63223C3666}"/>
              </a:ext>
            </a:extLst>
          </p:cNvPr>
          <p:cNvSpPr>
            <a:spLocks noGrp="1"/>
          </p:cNvSpPr>
          <p:nvPr>
            <p:ph type="title"/>
          </p:nvPr>
        </p:nvSpPr>
        <p:spPr/>
        <p:txBody>
          <a:bodyPr/>
          <a:lstStyle/>
          <a:p>
            <a:r>
              <a:rPr lang="en-GB" dirty="0"/>
              <a:t>Moffitt (2024)</a:t>
            </a:r>
          </a:p>
        </p:txBody>
      </p:sp>
      <p:sp>
        <p:nvSpPr>
          <p:cNvPr id="3" name="Content Placeholder 2">
            <a:extLst>
              <a:ext uri="{FF2B5EF4-FFF2-40B4-BE49-F238E27FC236}">
                <a16:creationId xmlns:a16="http://schemas.microsoft.com/office/drawing/2014/main" id="{E8E215E3-9BAA-01B2-8DF9-DC91B892602F}"/>
              </a:ext>
            </a:extLst>
          </p:cNvPr>
          <p:cNvSpPr>
            <a:spLocks noGrp="1"/>
          </p:cNvSpPr>
          <p:nvPr>
            <p:ph idx="1"/>
          </p:nvPr>
        </p:nvSpPr>
        <p:spPr>
          <a:xfrm>
            <a:off x="373758" y="1566090"/>
            <a:ext cx="12229538" cy="4351338"/>
          </a:xfrm>
        </p:spPr>
        <p:txBody>
          <a:bodyPr>
            <a:noAutofit/>
          </a:bodyPr>
          <a:lstStyle/>
          <a:p>
            <a:pPr marL="457200" lvl="1" indent="0">
              <a:buNone/>
            </a:pPr>
            <a:r>
              <a:rPr lang="en-GB" sz="3600" dirty="0"/>
              <a:t>“. . . populism is premised upon a perceived divide between “</a:t>
            </a:r>
            <a:r>
              <a:rPr lang="en-GB" sz="3600" dirty="0">
                <a:solidFill>
                  <a:srgbClr val="E87E0A"/>
                </a:solidFill>
              </a:rPr>
              <a:t>the people</a:t>
            </a:r>
            <a:r>
              <a:rPr lang="en-GB" sz="3600" dirty="0"/>
              <a:t>” and “</a:t>
            </a:r>
            <a:r>
              <a:rPr lang="en-GB" sz="3600" dirty="0">
                <a:solidFill>
                  <a:srgbClr val="E87E0A"/>
                </a:solidFill>
              </a:rPr>
              <a:t>the elite</a:t>
            </a:r>
            <a:r>
              <a:rPr lang="en-GB" sz="3600" dirty="0"/>
              <a:t>,” with </a:t>
            </a:r>
            <a:r>
              <a:rPr lang="en-GB" sz="3600" dirty="0">
                <a:solidFill>
                  <a:srgbClr val="E87E0A"/>
                </a:solidFill>
              </a:rPr>
              <a:t>populist leaders </a:t>
            </a:r>
            <a:r>
              <a:rPr lang="en-GB" sz="3600" dirty="0"/>
              <a:t>claiming that</a:t>
            </a:r>
            <a:r>
              <a:rPr lang="en-GB" sz="3600" dirty="0">
                <a:solidFill>
                  <a:srgbClr val="E87E0A"/>
                </a:solidFill>
              </a:rPr>
              <a:t> they alone speak in the name of the former group </a:t>
            </a:r>
            <a:r>
              <a:rPr lang="en-GB" sz="3600" dirty="0"/>
              <a:t>(Mudde 2017; Müller 2016).”</a:t>
            </a:r>
            <a:endParaRPr lang="en-US" sz="3600" dirty="0"/>
          </a:p>
        </p:txBody>
      </p:sp>
      <p:sp>
        <p:nvSpPr>
          <p:cNvPr id="5" name="Slide Number Placeholder 4">
            <a:extLst>
              <a:ext uri="{FF2B5EF4-FFF2-40B4-BE49-F238E27FC236}">
                <a16:creationId xmlns:a16="http://schemas.microsoft.com/office/drawing/2014/main" id="{BA3328C2-DECB-CE80-6516-E917934DD2BC}"/>
              </a:ext>
            </a:extLst>
          </p:cNvPr>
          <p:cNvSpPr>
            <a:spLocks noGrp="1"/>
          </p:cNvSpPr>
          <p:nvPr>
            <p:ph type="sldNum" sz="quarter" idx="12"/>
          </p:nvPr>
        </p:nvSpPr>
        <p:spPr/>
        <p:txBody>
          <a:bodyPr/>
          <a:lstStyle/>
          <a:p>
            <a:fld id="{372769DB-CAE7-4C85-A9AF-7D4D8DE4CA22}" type="slidenum">
              <a:rPr lang="en-GB" smtClean="0"/>
              <a:t>31</a:t>
            </a:fld>
            <a:endParaRPr lang="en-GB" dirty="0"/>
          </a:p>
        </p:txBody>
      </p:sp>
    </p:spTree>
    <p:extLst>
      <p:ext uri="{BB962C8B-B14F-4D97-AF65-F5344CB8AC3E}">
        <p14:creationId xmlns:p14="http://schemas.microsoft.com/office/powerpoint/2010/main" val="21176108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Photograph showing a group of law enforcement officers in uniform posing with a man in a suit giving thumbs up in front of a large airplane marked &quot;United States.&quot; Text at bottom reads &quot;National Law Enforcement Appreciation Day!&quot; highlighting a tribute to law enforcement personnel.&#10;&#10;">
            <a:extLst>
              <a:ext uri="{FF2B5EF4-FFF2-40B4-BE49-F238E27FC236}">
                <a16:creationId xmlns:a16="http://schemas.microsoft.com/office/drawing/2014/main" id="{016914FF-345E-A82D-85F8-C6429E8DC96D}"/>
              </a:ext>
            </a:extLst>
          </p:cNvPr>
          <p:cNvPicPr>
            <a:picLocks noChangeAspect="1"/>
          </p:cNvPicPr>
          <p:nvPr/>
        </p:nvPicPr>
        <p:blipFill rotWithShape="1">
          <a:blip r:embed="rId2">
            <a:extLst>
              <a:ext uri="{28A0092B-C50C-407E-A947-70E740481C1C}">
                <a14:useLocalDpi xmlns:a14="http://schemas.microsoft.com/office/drawing/2010/main" val="0"/>
              </a:ext>
            </a:extLst>
          </a:blip>
          <a:srcRect l="1057"/>
          <a:stretch/>
        </p:blipFill>
        <p:spPr>
          <a:xfrm>
            <a:off x="321731" y="557189"/>
            <a:ext cx="5668684" cy="5743618"/>
          </a:xfrm>
          <a:prstGeom prst="rect">
            <a:avLst/>
          </a:prstGeom>
        </p:spPr>
      </p:pic>
      <p:sp>
        <p:nvSpPr>
          <p:cNvPr id="2" name="Slide Number Placeholder 1">
            <a:extLst>
              <a:ext uri="{FF2B5EF4-FFF2-40B4-BE49-F238E27FC236}">
                <a16:creationId xmlns:a16="http://schemas.microsoft.com/office/drawing/2014/main" id="{812046A4-EBD2-2588-8239-B75D4DBFED83}"/>
              </a:ext>
            </a:extLst>
          </p:cNvPr>
          <p:cNvSpPr>
            <a:spLocks noGrp="1"/>
          </p:cNvSpPr>
          <p:nvPr>
            <p:ph type="sldNum" sz="quarter" idx="12"/>
          </p:nvPr>
        </p:nvSpPr>
        <p:spPr>
          <a:xfrm>
            <a:off x="8610600" y="6356350"/>
            <a:ext cx="2743200" cy="365125"/>
          </a:xfrm>
        </p:spPr>
        <p:txBody>
          <a:bodyPr>
            <a:normAutofit/>
          </a:bodyPr>
          <a:lstStyle/>
          <a:p>
            <a:pPr>
              <a:spcAft>
                <a:spcPts val="600"/>
              </a:spcAft>
            </a:pPr>
            <a:fld id="{372769DB-CAE7-4C85-A9AF-7D4D8DE4CA22}" type="slidenum">
              <a:rPr lang="en-GB" smtClean="0"/>
              <a:pPr>
                <a:spcAft>
                  <a:spcPts val="600"/>
                </a:spcAft>
              </a:pPr>
              <a:t>32</a:t>
            </a:fld>
            <a:endParaRPr lang="en-GB"/>
          </a:p>
        </p:txBody>
      </p:sp>
      <p:pic>
        <p:nvPicPr>
          <p:cNvPr id="3" name="Picture 2" descr="Photograph combined with an infographic showing Bernie Sanders shaking hands with a crowd, highlighting his popularity among young voters. The bar chart below shows Bernie leading with 45%, followed by Warren at 17%, Yang at 15%, and Biden at 12%, using bold colors and clear labels to emphasize Sanders' top position.&#10;">
            <a:extLst>
              <a:ext uri="{FF2B5EF4-FFF2-40B4-BE49-F238E27FC236}">
                <a16:creationId xmlns:a16="http://schemas.microsoft.com/office/drawing/2014/main" id="{6A9C368B-F6ED-3946-AAA6-D9034CAB80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46223" y="557190"/>
            <a:ext cx="5705398" cy="5743617"/>
          </a:xfrm>
          <a:prstGeom prst="rect">
            <a:avLst/>
          </a:prstGeom>
        </p:spPr>
      </p:pic>
    </p:spTree>
    <p:extLst>
      <p:ext uri="{BB962C8B-B14F-4D97-AF65-F5344CB8AC3E}">
        <p14:creationId xmlns:p14="http://schemas.microsoft.com/office/powerpoint/2010/main" val="5371469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12046A4-EBD2-2588-8239-B75D4DBFED83}"/>
              </a:ext>
            </a:extLst>
          </p:cNvPr>
          <p:cNvSpPr>
            <a:spLocks noGrp="1"/>
          </p:cNvSpPr>
          <p:nvPr>
            <p:ph type="sldNum" sz="quarter" idx="12"/>
          </p:nvPr>
        </p:nvSpPr>
        <p:spPr/>
        <p:txBody>
          <a:bodyPr/>
          <a:lstStyle/>
          <a:p>
            <a:fld id="{372769DB-CAE7-4C85-A9AF-7D4D8DE4CA22}" type="slidenum">
              <a:rPr lang="en-GB" smtClean="0"/>
              <a:t>33</a:t>
            </a:fld>
            <a:endParaRPr lang="en-GB" dirty="0"/>
          </a:p>
        </p:txBody>
      </p:sp>
      <p:pic>
        <p:nvPicPr>
          <p:cNvPr id="4" name="Picture 3" descr="A promotional graphic featuring three photographs of people wearing Bernie Sanders-themed clothing, including shirts with slogans like &quot;Bernie&quot; and &quot;Unidos Bernie.&quot; The central text &quot;#WearTheBern before Wednesday's debate&quot; in bold white and red letters on a blue background encourages supporters to show solidarity by wearing campaign apparel ahead of a political debate.">
            <a:extLst>
              <a:ext uri="{FF2B5EF4-FFF2-40B4-BE49-F238E27FC236}">
                <a16:creationId xmlns:a16="http://schemas.microsoft.com/office/drawing/2014/main" id="{CFD07937-7BA6-56A3-5BDB-5655A3A3B4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43144" y="623365"/>
            <a:ext cx="5628945" cy="5742820"/>
          </a:xfrm>
          <a:prstGeom prst="rect">
            <a:avLst/>
          </a:prstGeom>
        </p:spPr>
      </p:pic>
      <p:pic>
        <p:nvPicPr>
          <p:cNvPr id="5" name="Picture 4" descr="Photograph of a large crowd at a political rally featuring former President Donald Trump speaking at a podium with the presidential seal. Audience members display American flags, wear red &quot;Make America Great Again&quot; hats, and hold signs supporting Trump, highlighting a patriotic and supportive atmosphere.&#10;&#10;">
            <a:extLst>
              <a:ext uri="{FF2B5EF4-FFF2-40B4-BE49-F238E27FC236}">
                <a16:creationId xmlns:a16="http://schemas.microsoft.com/office/drawing/2014/main" id="{8C3224E3-C72D-A496-4262-99D8C857860F}"/>
              </a:ext>
            </a:extLst>
          </p:cNvPr>
          <p:cNvPicPr>
            <a:picLocks noChangeAspect="1"/>
          </p:cNvPicPr>
          <p:nvPr/>
        </p:nvPicPr>
        <p:blipFill rotWithShape="1">
          <a:blip r:embed="rId3">
            <a:extLst>
              <a:ext uri="{28A0092B-C50C-407E-A947-70E740481C1C}">
                <a14:useLocalDpi xmlns:a14="http://schemas.microsoft.com/office/drawing/2010/main" val="0"/>
              </a:ext>
            </a:extLst>
          </a:blip>
          <a:srcRect l="14753" r="18307" b="-1"/>
          <a:stretch/>
        </p:blipFill>
        <p:spPr>
          <a:xfrm>
            <a:off x="278268" y="613529"/>
            <a:ext cx="5628945" cy="5752656"/>
          </a:xfrm>
          <a:prstGeom prst="rect">
            <a:avLst/>
          </a:prstGeom>
        </p:spPr>
      </p:pic>
    </p:spTree>
    <p:extLst>
      <p:ext uri="{BB962C8B-B14F-4D97-AF65-F5344CB8AC3E}">
        <p14:creationId xmlns:p14="http://schemas.microsoft.com/office/powerpoint/2010/main" val="25536017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12046A4-EBD2-2588-8239-B75D4DBFED83}"/>
              </a:ext>
            </a:extLst>
          </p:cNvPr>
          <p:cNvSpPr>
            <a:spLocks noGrp="1"/>
          </p:cNvSpPr>
          <p:nvPr>
            <p:ph type="sldNum" sz="quarter" idx="12"/>
          </p:nvPr>
        </p:nvSpPr>
        <p:spPr/>
        <p:txBody>
          <a:bodyPr/>
          <a:lstStyle/>
          <a:p>
            <a:fld id="{372769DB-CAE7-4C85-A9AF-7D4D8DE4CA22}" type="slidenum">
              <a:rPr lang="en-GB" smtClean="0"/>
              <a:t>34</a:t>
            </a:fld>
            <a:endParaRPr lang="en-GB" dirty="0"/>
          </a:p>
        </p:txBody>
      </p:sp>
      <p:pic>
        <p:nvPicPr>
          <p:cNvPr id="8" name="Picture 7" descr="Bar chart comparing racial depictions in populists' images from Trump and Sanders campaigns, showing percentages of total images by category. Trump’s images predominantly feature majority white individuals (78.3%), while Sanders shows more balance with higher percentages in majority non-white (22.4%) and not discernible or unsure categories (36.6%).">
            <a:extLst>
              <a:ext uri="{FF2B5EF4-FFF2-40B4-BE49-F238E27FC236}">
                <a16:creationId xmlns:a16="http://schemas.microsoft.com/office/drawing/2014/main" id="{F36C10CF-6FBA-3531-83E3-A9BC577BB7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29265" y="506769"/>
            <a:ext cx="10325970" cy="5849580"/>
          </a:xfrm>
          <a:prstGeom prst="rect">
            <a:avLst/>
          </a:prstGeom>
        </p:spPr>
      </p:pic>
    </p:spTree>
    <p:extLst>
      <p:ext uri="{BB962C8B-B14F-4D97-AF65-F5344CB8AC3E}">
        <p14:creationId xmlns:p14="http://schemas.microsoft.com/office/powerpoint/2010/main" val="207181348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12046A4-EBD2-2588-8239-B75D4DBFED83}"/>
              </a:ext>
            </a:extLst>
          </p:cNvPr>
          <p:cNvSpPr>
            <a:spLocks noGrp="1"/>
          </p:cNvSpPr>
          <p:nvPr>
            <p:ph type="sldNum" sz="quarter" idx="12"/>
          </p:nvPr>
        </p:nvSpPr>
        <p:spPr/>
        <p:txBody>
          <a:bodyPr/>
          <a:lstStyle/>
          <a:p>
            <a:fld id="{372769DB-CAE7-4C85-A9AF-7D4D8DE4CA22}" type="slidenum">
              <a:rPr lang="en-GB" smtClean="0"/>
              <a:t>35</a:t>
            </a:fld>
            <a:endParaRPr lang="en-GB" dirty="0"/>
          </a:p>
        </p:txBody>
      </p:sp>
      <p:pic>
        <p:nvPicPr>
          <p:cNvPr id="6" name="Picture 5" descr="Bar chart comparing gender representation in populists' depictions of &quot;The People&quot; for Trump and Sanders. It shows Trump images as mostly masculine (77.5%), while Sanders images have a higher balance of genders (40.6%) and more feminine (21.5%) or not discernible (20.1%) depictions.">
            <a:extLst>
              <a:ext uri="{FF2B5EF4-FFF2-40B4-BE49-F238E27FC236}">
                <a16:creationId xmlns:a16="http://schemas.microsoft.com/office/drawing/2014/main" id="{A526C674-5429-831C-8AE9-9162AD75C2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3819" y="718560"/>
            <a:ext cx="10504362" cy="5420880"/>
          </a:xfrm>
          <a:prstGeom prst="rect">
            <a:avLst/>
          </a:prstGeom>
        </p:spPr>
      </p:pic>
    </p:spTree>
    <p:extLst>
      <p:ext uri="{BB962C8B-B14F-4D97-AF65-F5344CB8AC3E}">
        <p14:creationId xmlns:p14="http://schemas.microsoft.com/office/powerpoint/2010/main" val="131859271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12046A4-EBD2-2588-8239-B75D4DBFED83}"/>
              </a:ext>
            </a:extLst>
          </p:cNvPr>
          <p:cNvSpPr>
            <a:spLocks noGrp="1"/>
          </p:cNvSpPr>
          <p:nvPr>
            <p:ph type="sldNum" sz="quarter" idx="12"/>
          </p:nvPr>
        </p:nvSpPr>
        <p:spPr/>
        <p:txBody>
          <a:bodyPr/>
          <a:lstStyle/>
          <a:p>
            <a:fld id="{372769DB-CAE7-4C85-A9AF-7D4D8DE4CA22}" type="slidenum">
              <a:rPr lang="en-GB" smtClean="0"/>
              <a:t>36</a:t>
            </a:fld>
            <a:endParaRPr lang="en-GB" dirty="0"/>
          </a:p>
        </p:txBody>
      </p:sp>
      <p:pic>
        <p:nvPicPr>
          <p:cNvPr id="4" name="Picture 3" descr="A graph of a person's body&#10;&#10;Description automatically generated with medium confidence">
            <a:extLst>
              <a:ext uri="{FF2B5EF4-FFF2-40B4-BE49-F238E27FC236}">
                <a16:creationId xmlns:a16="http://schemas.microsoft.com/office/drawing/2014/main" id="{4D75D47D-B963-FE70-E649-03F8D60EAB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2707" y="797442"/>
            <a:ext cx="10546585" cy="5441949"/>
          </a:xfrm>
          <a:prstGeom prst="rect">
            <a:avLst/>
          </a:prstGeom>
        </p:spPr>
      </p:pic>
    </p:spTree>
    <p:extLst>
      <p:ext uri="{BB962C8B-B14F-4D97-AF65-F5344CB8AC3E}">
        <p14:creationId xmlns:p14="http://schemas.microsoft.com/office/powerpoint/2010/main" val="337864985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FF242-9172-165A-2AD8-6CC6437642CC}"/>
              </a:ext>
            </a:extLst>
          </p:cNvPr>
          <p:cNvSpPr>
            <a:spLocks noGrp="1"/>
          </p:cNvSpPr>
          <p:nvPr>
            <p:ph type="title"/>
          </p:nvPr>
        </p:nvSpPr>
        <p:spPr>
          <a:xfrm>
            <a:off x="1047884" y="1337013"/>
            <a:ext cx="9893031" cy="2626469"/>
          </a:xfrm>
        </p:spPr>
        <p:txBody>
          <a:bodyPr/>
          <a:lstStyle/>
          <a:p>
            <a:r>
              <a:rPr lang="en-GB" dirty="0"/>
              <a:t>Alternative approaches to text analysis</a:t>
            </a:r>
          </a:p>
        </p:txBody>
      </p:sp>
    </p:spTree>
    <p:extLst>
      <p:ext uri="{BB962C8B-B14F-4D97-AF65-F5344CB8AC3E}">
        <p14:creationId xmlns:p14="http://schemas.microsoft.com/office/powerpoint/2010/main" val="390544532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AB6C95-7AA0-B383-B130-66337F6263A1}"/>
              </a:ext>
            </a:extLst>
          </p:cNvPr>
          <p:cNvSpPr>
            <a:spLocks noGrp="1"/>
          </p:cNvSpPr>
          <p:nvPr>
            <p:ph type="title"/>
          </p:nvPr>
        </p:nvSpPr>
        <p:spPr>
          <a:xfrm>
            <a:off x="506027" y="-52658"/>
            <a:ext cx="11685973" cy="1154096"/>
          </a:xfrm>
        </p:spPr>
        <p:txBody>
          <a:bodyPr/>
          <a:lstStyle/>
          <a:p>
            <a:r>
              <a:rPr lang="en-GB" dirty="0"/>
              <a:t>Related methods</a:t>
            </a:r>
          </a:p>
        </p:txBody>
      </p:sp>
      <p:sp>
        <p:nvSpPr>
          <p:cNvPr id="3" name="Content Placeholder 2">
            <a:extLst>
              <a:ext uri="{FF2B5EF4-FFF2-40B4-BE49-F238E27FC236}">
                <a16:creationId xmlns:a16="http://schemas.microsoft.com/office/drawing/2014/main" id="{0402C0B3-306C-510F-29F9-7D0A9134539E}"/>
              </a:ext>
            </a:extLst>
          </p:cNvPr>
          <p:cNvSpPr>
            <a:spLocks noGrp="1"/>
          </p:cNvSpPr>
          <p:nvPr>
            <p:ph idx="1"/>
          </p:nvPr>
        </p:nvSpPr>
        <p:spPr>
          <a:xfrm>
            <a:off x="305975" y="1556787"/>
            <a:ext cx="7670706" cy="4351338"/>
          </a:xfrm>
        </p:spPr>
        <p:txBody>
          <a:bodyPr>
            <a:noAutofit/>
          </a:bodyPr>
          <a:lstStyle/>
          <a:p>
            <a:r>
              <a:rPr lang="en-GB" sz="2800" b="1" dirty="0"/>
              <a:t>Content analysis</a:t>
            </a:r>
          </a:p>
          <a:p>
            <a:pPr lvl="1"/>
            <a:r>
              <a:rPr lang="en-GB" sz="2800" dirty="0"/>
              <a:t>Quantitative and qualitative </a:t>
            </a:r>
          </a:p>
          <a:p>
            <a:pPr lvl="1"/>
            <a:r>
              <a:rPr lang="en-GB" sz="2800" dirty="0"/>
              <a:t>Thematic analysis overlap with qual</a:t>
            </a:r>
          </a:p>
          <a:p>
            <a:pPr lvl="1"/>
            <a:endParaRPr lang="en-GB" sz="2800" dirty="0"/>
          </a:p>
          <a:p>
            <a:r>
              <a:rPr lang="en-GB" sz="2800" b="1" dirty="0"/>
              <a:t>Discourse analysis</a:t>
            </a:r>
          </a:p>
          <a:p>
            <a:pPr lvl="1"/>
            <a:r>
              <a:rPr lang="en-GB" sz="2800" dirty="0"/>
              <a:t>Some common features with qualitative content analysis</a:t>
            </a:r>
          </a:p>
          <a:p>
            <a:pPr lvl="1"/>
            <a:endParaRPr lang="en-GB" sz="2800" dirty="0"/>
          </a:p>
          <a:p>
            <a:r>
              <a:rPr lang="en-GB" sz="2800" b="1" dirty="0"/>
              <a:t>Quantitative/Computational text analysis</a:t>
            </a:r>
          </a:p>
          <a:p>
            <a:pPr lvl="1"/>
            <a:r>
              <a:rPr lang="en-GB" sz="2800" dirty="0"/>
              <a:t>Quantitative content analysis at scale using computational tools</a:t>
            </a:r>
          </a:p>
          <a:p>
            <a:endParaRPr lang="en-GB" sz="2800" dirty="0"/>
          </a:p>
        </p:txBody>
      </p:sp>
      <p:sp>
        <p:nvSpPr>
          <p:cNvPr id="5" name="Slide Number Placeholder 4">
            <a:extLst>
              <a:ext uri="{FF2B5EF4-FFF2-40B4-BE49-F238E27FC236}">
                <a16:creationId xmlns:a16="http://schemas.microsoft.com/office/drawing/2014/main" id="{313B7955-F1DE-06CA-6777-1D290CA50EE9}"/>
              </a:ext>
            </a:extLst>
          </p:cNvPr>
          <p:cNvSpPr>
            <a:spLocks noGrp="1"/>
          </p:cNvSpPr>
          <p:nvPr>
            <p:ph type="sldNum" sz="quarter" idx="12"/>
          </p:nvPr>
        </p:nvSpPr>
        <p:spPr/>
        <p:txBody>
          <a:bodyPr/>
          <a:lstStyle/>
          <a:p>
            <a:fld id="{372769DB-CAE7-4C85-A9AF-7D4D8DE4CA22}" type="slidenum">
              <a:rPr lang="en-GB" smtClean="0"/>
              <a:t>38</a:t>
            </a:fld>
            <a:endParaRPr lang="en-GB" dirty="0"/>
          </a:p>
        </p:txBody>
      </p:sp>
      <p:sp>
        <p:nvSpPr>
          <p:cNvPr id="10" name="Oval 9">
            <a:extLst>
              <a:ext uri="{FF2B5EF4-FFF2-40B4-BE49-F238E27FC236}">
                <a16:creationId xmlns:a16="http://schemas.microsoft.com/office/drawing/2014/main" id="{17BE3B3C-BC10-3E35-ED27-6C20BC2BA77F}"/>
              </a:ext>
            </a:extLst>
          </p:cNvPr>
          <p:cNvSpPr/>
          <p:nvPr/>
        </p:nvSpPr>
        <p:spPr>
          <a:xfrm>
            <a:off x="7912033" y="3274575"/>
            <a:ext cx="2791838" cy="2479125"/>
          </a:xfrm>
          <a:prstGeom prst="ellipse">
            <a:avLst/>
          </a:prstGeom>
          <a:solidFill>
            <a:srgbClr val="00B0F0">
              <a:alpha val="8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Gill Sans MT" panose="020B0502020104020203" pitchFamily="34" charset="0"/>
              </a:rPr>
              <a:t>Content </a:t>
            </a:r>
          </a:p>
          <a:p>
            <a:pPr algn="ctr"/>
            <a:r>
              <a:rPr lang="en-GB" b="1" dirty="0">
                <a:solidFill>
                  <a:schemeClr val="tx1"/>
                </a:solidFill>
                <a:latin typeface="Gill Sans MT" panose="020B0502020104020203" pitchFamily="34" charset="0"/>
              </a:rPr>
              <a:t>analysis</a:t>
            </a:r>
          </a:p>
        </p:txBody>
      </p:sp>
      <p:sp>
        <p:nvSpPr>
          <p:cNvPr id="11" name="Oval 10">
            <a:extLst>
              <a:ext uri="{FF2B5EF4-FFF2-40B4-BE49-F238E27FC236}">
                <a16:creationId xmlns:a16="http://schemas.microsoft.com/office/drawing/2014/main" id="{03CA5DB2-032B-2E0E-9AA8-DF71D9818AA2}"/>
              </a:ext>
            </a:extLst>
          </p:cNvPr>
          <p:cNvSpPr/>
          <p:nvPr/>
        </p:nvSpPr>
        <p:spPr>
          <a:xfrm>
            <a:off x="6599812" y="2009274"/>
            <a:ext cx="2481364" cy="2322214"/>
          </a:xfrm>
          <a:prstGeom prst="ellipse">
            <a:avLst/>
          </a:prstGeom>
          <a:solidFill>
            <a:srgbClr val="92D050">
              <a:alpha val="8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Gill Sans MT" panose="020B0502020104020203" pitchFamily="34" charset="0"/>
              </a:rPr>
              <a:t>Discourse analysis</a:t>
            </a:r>
          </a:p>
        </p:txBody>
      </p:sp>
      <p:sp>
        <p:nvSpPr>
          <p:cNvPr id="12" name="Oval 11">
            <a:extLst>
              <a:ext uri="{FF2B5EF4-FFF2-40B4-BE49-F238E27FC236}">
                <a16:creationId xmlns:a16="http://schemas.microsoft.com/office/drawing/2014/main" id="{68B76F64-2F19-443E-70BA-940ED40EE13A}"/>
              </a:ext>
            </a:extLst>
          </p:cNvPr>
          <p:cNvSpPr/>
          <p:nvPr/>
        </p:nvSpPr>
        <p:spPr>
          <a:xfrm>
            <a:off x="9534728" y="2009275"/>
            <a:ext cx="2657272" cy="2322213"/>
          </a:xfrm>
          <a:prstGeom prst="ellipse">
            <a:avLst/>
          </a:prstGeom>
          <a:solidFill>
            <a:srgbClr val="E76254">
              <a:alpha val="8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Gill Sans MT" panose="020B0502020104020203" pitchFamily="34" charset="0"/>
              </a:rPr>
              <a:t>Computational text analysis</a:t>
            </a:r>
          </a:p>
        </p:txBody>
      </p:sp>
    </p:spTree>
    <p:extLst>
      <p:ext uri="{BB962C8B-B14F-4D97-AF65-F5344CB8AC3E}">
        <p14:creationId xmlns:p14="http://schemas.microsoft.com/office/powerpoint/2010/main" val="332091450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6D87A74-198C-0E66-352D-EBB3E63E5D23}"/>
              </a:ext>
            </a:extLst>
          </p:cNvPr>
          <p:cNvSpPr/>
          <p:nvPr/>
        </p:nvSpPr>
        <p:spPr>
          <a:xfrm>
            <a:off x="0" y="0"/>
            <a:ext cx="12192000" cy="1154096"/>
          </a:xfrm>
          <a:prstGeom prst="rect">
            <a:avLst/>
          </a:prstGeom>
          <a:solidFill>
            <a:srgbClr val="01A08A"/>
          </a:solidFill>
          <a:ln>
            <a:solidFill>
              <a:srgbClr val="01A0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44C3FF69-B6E6-EE8B-67E5-EC76A1F75347}"/>
              </a:ext>
            </a:extLst>
          </p:cNvPr>
          <p:cNvSpPr>
            <a:spLocks noGrp="1"/>
          </p:cNvSpPr>
          <p:nvPr>
            <p:ph type="title"/>
          </p:nvPr>
        </p:nvSpPr>
        <p:spPr/>
        <p:txBody>
          <a:bodyPr/>
          <a:lstStyle/>
          <a:p>
            <a:r>
              <a:rPr lang="en-GB" dirty="0"/>
              <a:t>Discourse analysis</a:t>
            </a:r>
          </a:p>
        </p:txBody>
      </p:sp>
      <p:sp>
        <p:nvSpPr>
          <p:cNvPr id="3" name="Content Placeholder 2">
            <a:extLst>
              <a:ext uri="{FF2B5EF4-FFF2-40B4-BE49-F238E27FC236}">
                <a16:creationId xmlns:a16="http://schemas.microsoft.com/office/drawing/2014/main" id="{D72FFA1C-2DD8-D09B-8419-CE41DB06ADF0}"/>
              </a:ext>
            </a:extLst>
          </p:cNvPr>
          <p:cNvSpPr>
            <a:spLocks noGrp="1"/>
          </p:cNvSpPr>
          <p:nvPr>
            <p:ph idx="1"/>
          </p:nvPr>
        </p:nvSpPr>
        <p:spPr>
          <a:xfrm>
            <a:off x="660197" y="1341028"/>
            <a:ext cx="10970149" cy="4351338"/>
          </a:xfrm>
        </p:spPr>
        <p:txBody>
          <a:bodyPr>
            <a:noAutofit/>
          </a:bodyPr>
          <a:lstStyle/>
          <a:p>
            <a:pPr marL="342900" lvl="0" indent="-342900">
              <a:lnSpc>
                <a:spcPct val="107000"/>
              </a:lnSpc>
              <a:buFont typeface="Symbol" panose="05050102010706020507" pitchFamily="18" charset="2"/>
              <a:buChar char=""/>
            </a:pPr>
            <a:r>
              <a:rPr lang="en-US" sz="3600" b="1" i="0" dirty="0">
                <a:effectLst/>
              </a:rPr>
              <a:t>Discourse</a:t>
            </a:r>
            <a:r>
              <a:rPr lang="en-US" sz="3600" b="0" i="0" dirty="0">
                <a:effectLst/>
              </a:rPr>
              <a:t> as the words, texts, images, </a:t>
            </a:r>
            <a:r>
              <a:rPr lang="en-US" sz="3600" b="0" i="0" dirty="0" err="1">
                <a:effectLst/>
              </a:rPr>
              <a:t>behaviours</a:t>
            </a:r>
            <a:r>
              <a:rPr lang="en-US" sz="3600" b="0" i="0" dirty="0">
                <a:effectLst/>
              </a:rPr>
              <a:t> and actions that </a:t>
            </a:r>
            <a:r>
              <a:rPr lang="en-US" sz="3600" b="1" i="0" dirty="0">
                <a:effectLst/>
              </a:rPr>
              <a:t>shape how we experience the world</a:t>
            </a:r>
            <a:endParaRPr lang="en-GB" sz="3600" b="1" kern="100" dirty="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pPr>
            <a:r>
              <a:rPr lang="en-GB" sz="3600" kern="100" dirty="0">
                <a:effectLst/>
                <a:ea typeface="Calibri" panose="020F0502020204030204" pitchFamily="34" charset="0"/>
                <a:cs typeface="Times New Roman" panose="02020603050405020304" pitchFamily="18" charset="0"/>
              </a:rPr>
              <a:t>Analysing the relationship between </a:t>
            </a:r>
            <a:r>
              <a:rPr lang="en-GB" sz="3600" b="1" kern="100" dirty="0">
                <a:effectLst/>
                <a:ea typeface="Calibri" panose="020F0502020204030204" pitchFamily="34" charset="0"/>
                <a:cs typeface="Times New Roman" panose="02020603050405020304" pitchFamily="18" charset="0"/>
              </a:rPr>
              <a:t>discourse and reality </a:t>
            </a:r>
            <a:r>
              <a:rPr lang="en-GB" sz="3600" kern="100" dirty="0">
                <a:effectLst/>
                <a:ea typeface="Calibri" panose="020F0502020204030204" pitchFamily="34" charset="0"/>
                <a:cs typeface="Times New Roman" panose="02020603050405020304" pitchFamily="18" charset="0"/>
              </a:rPr>
              <a:t>in a particular </a:t>
            </a:r>
            <a:r>
              <a:rPr lang="en-GB" sz="3600" b="1" kern="100" dirty="0">
                <a:effectLst/>
                <a:ea typeface="Calibri" panose="020F0502020204030204" pitchFamily="34" charset="0"/>
                <a:cs typeface="Times New Roman" panose="02020603050405020304" pitchFamily="18" charset="0"/>
              </a:rPr>
              <a:t>context</a:t>
            </a:r>
          </a:p>
          <a:p>
            <a:pPr marL="457200" lvl="1" indent="0">
              <a:buNone/>
            </a:pPr>
            <a:endParaRPr lang="en-GB" sz="3600" dirty="0"/>
          </a:p>
        </p:txBody>
      </p:sp>
      <p:sp>
        <p:nvSpPr>
          <p:cNvPr id="5" name="Slide Number Placeholder 4">
            <a:extLst>
              <a:ext uri="{FF2B5EF4-FFF2-40B4-BE49-F238E27FC236}">
                <a16:creationId xmlns:a16="http://schemas.microsoft.com/office/drawing/2014/main" id="{759ECE30-0093-7048-0352-73A2799E3E61}"/>
              </a:ext>
            </a:extLst>
          </p:cNvPr>
          <p:cNvSpPr>
            <a:spLocks noGrp="1"/>
          </p:cNvSpPr>
          <p:nvPr>
            <p:ph type="sldNum" sz="quarter" idx="12"/>
          </p:nvPr>
        </p:nvSpPr>
        <p:spPr/>
        <p:txBody>
          <a:bodyPr/>
          <a:lstStyle/>
          <a:p>
            <a:fld id="{372769DB-CAE7-4C85-A9AF-7D4D8DE4CA22}" type="slidenum">
              <a:rPr lang="en-GB" smtClean="0"/>
              <a:t>39</a:t>
            </a:fld>
            <a:endParaRPr lang="en-GB" dirty="0"/>
          </a:p>
        </p:txBody>
      </p:sp>
      <p:sp>
        <p:nvSpPr>
          <p:cNvPr id="6" name="Content Placeholder 2">
            <a:extLst>
              <a:ext uri="{FF2B5EF4-FFF2-40B4-BE49-F238E27FC236}">
                <a16:creationId xmlns:a16="http://schemas.microsoft.com/office/drawing/2014/main" id="{8BC46A45-0CC9-9B3C-1978-084F852B53FA}"/>
              </a:ext>
            </a:extLst>
          </p:cNvPr>
          <p:cNvSpPr txBox="1">
            <a:spLocks/>
          </p:cNvSpPr>
          <p:nvPr/>
        </p:nvSpPr>
        <p:spPr>
          <a:xfrm>
            <a:off x="252918" y="4386025"/>
            <a:ext cx="11839765" cy="197744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40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7000"/>
              </a:lnSpc>
              <a:buNone/>
            </a:pPr>
            <a:r>
              <a:rPr lang="en-GB" sz="3200" b="1" kern="100" dirty="0">
                <a:effectLst/>
                <a:ea typeface="Calibri" panose="020F0502020204030204" pitchFamily="34" charset="0"/>
                <a:cs typeface="Times New Roman" panose="02020603050405020304" pitchFamily="18" charset="0"/>
              </a:rPr>
              <a:t>Post-structuralist discourse theory</a:t>
            </a:r>
          </a:p>
          <a:p>
            <a:pPr>
              <a:lnSpc>
                <a:spcPct val="107000"/>
              </a:lnSpc>
            </a:pPr>
            <a:r>
              <a:rPr lang="en-GB" sz="3200" kern="100" dirty="0">
                <a:effectLst/>
                <a:ea typeface="Calibri" panose="020F0502020204030204" pitchFamily="34" charset="0"/>
                <a:cs typeface="Times New Roman" panose="02020603050405020304" pitchFamily="18" charset="0"/>
              </a:rPr>
              <a:t>The way people talk about the world reflects not some objective truth, but the success of particular ways of thinking and seeing</a:t>
            </a:r>
          </a:p>
        </p:txBody>
      </p:sp>
    </p:spTree>
    <p:extLst>
      <p:ext uri="{BB962C8B-B14F-4D97-AF65-F5344CB8AC3E}">
        <p14:creationId xmlns:p14="http://schemas.microsoft.com/office/powerpoint/2010/main" val="344774835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9E8A72F-B10C-979F-C18A-80E906DD473B}"/>
              </a:ext>
            </a:extLst>
          </p:cNvPr>
          <p:cNvSpPr/>
          <p:nvPr/>
        </p:nvSpPr>
        <p:spPr>
          <a:xfrm>
            <a:off x="0" y="0"/>
            <a:ext cx="12192000" cy="1154096"/>
          </a:xfrm>
          <a:prstGeom prst="rect">
            <a:avLst/>
          </a:prstGeom>
          <a:solidFill>
            <a:srgbClr val="01A08A"/>
          </a:solidFill>
          <a:ln>
            <a:solidFill>
              <a:srgbClr val="01A0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44C3FF69-B6E6-EE8B-67E5-EC76A1F75347}"/>
              </a:ext>
            </a:extLst>
          </p:cNvPr>
          <p:cNvSpPr>
            <a:spLocks noGrp="1"/>
          </p:cNvSpPr>
          <p:nvPr>
            <p:ph type="title"/>
          </p:nvPr>
        </p:nvSpPr>
        <p:spPr/>
        <p:txBody>
          <a:bodyPr/>
          <a:lstStyle/>
          <a:p>
            <a:r>
              <a:rPr lang="en-GB" dirty="0"/>
              <a:t>Discourse analysis</a:t>
            </a:r>
          </a:p>
        </p:txBody>
      </p:sp>
      <p:sp>
        <p:nvSpPr>
          <p:cNvPr id="3" name="Content Placeholder 2">
            <a:extLst>
              <a:ext uri="{FF2B5EF4-FFF2-40B4-BE49-F238E27FC236}">
                <a16:creationId xmlns:a16="http://schemas.microsoft.com/office/drawing/2014/main" id="{D72FFA1C-2DD8-D09B-8419-CE41DB06ADF0}"/>
              </a:ext>
            </a:extLst>
          </p:cNvPr>
          <p:cNvSpPr>
            <a:spLocks noGrp="1"/>
          </p:cNvSpPr>
          <p:nvPr>
            <p:ph idx="1"/>
          </p:nvPr>
        </p:nvSpPr>
        <p:spPr>
          <a:xfrm>
            <a:off x="660197" y="1341028"/>
            <a:ext cx="11031794" cy="4351338"/>
          </a:xfrm>
        </p:spPr>
        <p:txBody>
          <a:bodyPr>
            <a:noAutofit/>
          </a:bodyPr>
          <a:lstStyle/>
          <a:p>
            <a:pPr marL="457200" lvl="1" indent="0">
              <a:buNone/>
            </a:pPr>
            <a:r>
              <a:rPr lang="en-US" sz="3600" b="1" dirty="0"/>
              <a:t>The study of language use in context</a:t>
            </a:r>
            <a:endParaRPr lang="en-GB" sz="3600" b="1" dirty="0"/>
          </a:p>
          <a:p>
            <a:pPr marL="457200" lvl="1" indent="0">
              <a:buNone/>
            </a:pPr>
            <a:endParaRPr lang="en-GB" sz="3600" b="1" dirty="0"/>
          </a:p>
          <a:p>
            <a:pPr marL="457200" lvl="1" indent="0">
              <a:buNone/>
            </a:pPr>
            <a:r>
              <a:rPr lang="en-GB" sz="3600" b="1" dirty="0"/>
              <a:t>Broad context</a:t>
            </a:r>
          </a:p>
          <a:p>
            <a:pPr lvl="1"/>
            <a:r>
              <a:rPr lang="en-US" sz="3600" dirty="0"/>
              <a:t>Cultural norms and assumptions, knowledge, beliefs</a:t>
            </a:r>
          </a:p>
          <a:p>
            <a:pPr lvl="1"/>
            <a:endParaRPr lang="en-GB" sz="3600" dirty="0"/>
          </a:p>
          <a:p>
            <a:pPr marL="457200" lvl="1" indent="0">
              <a:buNone/>
            </a:pPr>
            <a:r>
              <a:rPr lang="en-GB" sz="3600" b="1" dirty="0"/>
              <a:t>Local context</a:t>
            </a:r>
          </a:p>
          <a:p>
            <a:pPr lvl="1"/>
            <a:r>
              <a:rPr lang="en-GB" sz="3600" dirty="0"/>
              <a:t> I</a:t>
            </a:r>
            <a:r>
              <a:rPr lang="en-US" sz="3600" dirty="0" err="1"/>
              <a:t>mmediate</a:t>
            </a:r>
            <a:r>
              <a:rPr lang="en-US" sz="3600" dirty="0"/>
              <a:t> situation, source and intended audience</a:t>
            </a:r>
            <a:endParaRPr lang="en-GB" sz="3600" dirty="0"/>
          </a:p>
        </p:txBody>
      </p:sp>
      <p:sp>
        <p:nvSpPr>
          <p:cNvPr id="5" name="Slide Number Placeholder 4">
            <a:extLst>
              <a:ext uri="{FF2B5EF4-FFF2-40B4-BE49-F238E27FC236}">
                <a16:creationId xmlns:a16="http://schemas.microsoft.com/office/drawing/2014/main" id="{759ECE30-0093-7048-0352-73A2799E3E61}"/>
              </a:ext>
            </a:extLst>
          </p:cNvPr>
          <p:cNvSpPr>
            <a:spLocks noGrp="1"/>
          </p:cNvSpPr>
          <p:nvPr>
            <p:ph type="sldNum" sz="quarter" idx="12"/>
          </p:nvPr>
        </p:nvSpPr>
        <p:spPr/>
        <p:txBody>
          <a:bodyPr/>
          <a:lstStyle/>
          <a:p>
            <a:fld id="{372769DB-CAE7-4C85-A9AF-7D4D8DE4CA22}" type="slidenum">
              <a:rPr lang="en-GB" smtClean="0"/>
              <a:t>40</a:t>
            </a:fld>
            <a:endParaRPr lang="en-GB" dirty="0"/>
          </a:p>
        </p:txBody>
      </p:sp>
    </p:spTree>
    <p:extLst>
      <p:ext uri="{BB962C8B-B14F-4D97-AF65-F5344CB8AC3E}">
        <p14:creationId xmlns:p14="http://schemas.microsoft.com/office/powerpoint/2010/main" val="88755433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8F00BF6-F6E4-AD13-BAD3-A1ACF8EBEC83}"/>
              </a:ext>
            </a:extLst>
          </p:cNvPr>
          <p:cNvSpPr>
            <a:spLocks noGrp="1"/>
          </p:cNvSpPr>
          <p:nvPr>
            <p:ph type="sldNum" sz="quarter" idx="12"/>
          </p:nvPr>
        </p:nvSpPr>
        <p:spPr/>
        <p:txBody>
          <a:bodyPr/>
          <a:lstStyle/>
          <a:p>
            <a:fld id="{372769DB-CAE7-4C85-A9AF-7D4D8DE4CA22}" type="slidenum">
              <a:rPr lang="en-GB" smtClean="0"/>
              <a:t>41</a:t>
            </a:fld>
            <a:endParaRPr lang="en-GB" dirty="0"/>
          </a:p>
        </p:txBody>
      </p:sp>
      <p:sp>
        <p:nvSpPr>
          <p:cNvPr id="3" name="Rectangle: Rounded Corners 2">
            <a:extLst>
              <a:ext uri="{FF2B5EF4-FFF2-40B4-BE49-F238E27FC236}">
                <a16:creationId xmlns:a16="http://schemas.microsoft.com/office/drawing/2014/main" id="{CEBEAD49-F0C6-BFDE-69C5-46D67BD5C7A3}"/>
              </a:ext>
            </a:extLst>
          </p:cNvPr>
          <p:cNvSpPr/>
          <p:nvPr/>
        </p:nvSpPr>
        <p:spPr>
          <a:xfrm>
            <a:off x="909263" y="369870"/>
            <a:ext cx="10690261" cy="6169041"/>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ectangle: Rounded Corners 3">
            <a:extLst>
              <a:ext uri="{FF2B5EF4-FFF2-40B4-BE49-F238E27FC236}">
                <a16:creationId xmlns:a16="http://schemas.microsoft.com/office/drawing/2014/main" id="{C5575A57-15AD-2424-099E-8CC33386A0E0}"/>
              </a:ext>
            </a:extLst>
          </p:cNvPr>
          <p:cNvSpPr/>
          <p:nvPr/>
        </p:nvSpPr>
        <p:spPr>
          <a:xfrm>
            <a:off x="2229492" y="1722367"/>
            <a:ext cx="8081481" cy="4092398"/>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Rounded Corners 4">
            <a:extLst>
              <a:ext uri="{FF2B5EF4-FFF2-40B4-BE49-F238E27FC236}">
                <a16:creationId xmlns:a16="http://schemas.microsoft.com/office/drawing/2014/main" id="{9F529DB9-D0A7-A5B2-6704-88B3B82DC1D7}"/>
              </a:ext>
            </a:extLst>
          </p:cNvPr>
          <p:cNvSpPr/>
          <p:nvPr/>
        </p:nvSpPr>
        <p:spPr>
          <a:xfrm>
            <a:off x="3318125" y="3160965"/>
            <a:ext cx="5950450" cy="2422989"/>
          </a:xfrm>
          <a:prstGeom prst="round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extBox 5">
            <a:extLst>
              <a:ext uri="{FF2B5EF4-FFF2-40B4-BE49-F238E27FC236}">
                <a16:creationId xmlns:a16="http://schemas.microsoft.com/office/drawing/2014/main" id="{A2973E43-E62E-E441-7AB9-FDEC484C146F}"/>
              </a:ext>
            </a:extLst>
          </p:cNvPr>
          <p:cNvSpPr txBox="1"/>
          <p:nvPr/>
        </p:nvSpPr>
        <p:spPr>
          <a:xfrm>
            <a:off x="5267690" y="501407"/>
            <a:ext cx="2301412" cy="707886"/>
          </a:xfrm>
          <a:prstGeom prst="rect">
            <a:avLst/>
          </a:prstGeom>
          <a:noFill/>
        </p:spPr>
        <p:txBody>
          <a:bodyPr wrap="square" rtlCol="0">
            <a:spAutoFit/>
          </a:bodyPr>
          <a:lstStyle/>
          <a:p>
            <a:r>
              <a:rPr lang="en-US" sz="4000" b="1" dirty="0">
                <a:solidFill>
                  <a:schemeClr val="bg1"/>
                </a:solidFill>
                <a:latin typeface="Gill Sans MT" panose="020B0502020104020203" pitchFamily="34" charset="0"/>
              </a:rPr>
              <a:t>Context</a:t>
            </a:r>
            <a:endParaRPr lang="en-GB" sz="4000" b="1" dirty="0">
              <a:solidFill>
                <a:schemeClr val="bg1"/>
              </a:solidFill>
              <a:latin typeface="Gill Sans MT" panose="020B0502020104020203" pitchFamily="34" charset="0"/>
            </a:endParaRPr>
          </a:p>
        </p:txBody>
      </p:sp>
      <p:sp>
        <p:nvSpPr>
          <p:cNvPr id="7" name="TextBox 6">
            <a:extLst>
              <a:ext uri="{FF2B5EF4-FFF2-40B4-BE49-F238E27FC236}">
                <a16:creationId xmlns:a16="http://schemas.microsoft.com/office/drawing/2014/main" id="{7FC1CE39-6565-9978-271F-FD47E7EE9031}"/>
              </a:ext>
            </a:extLst>
          </p:cNvPr>
          <p:cNvSpPr txBox="1"/>
          <p:nvPr/>
        </p:nvSpPr>
        <p:spPr>
          <a:xfrm>
            <a:off x="3818178" y="1864420"/>
            <a:ext cx="5200437" cy="707886"/>
          </a:xfrm>
          <a:prstGeom prst="rect">
            <a:avLst/>
          </a:prstGeom>
          <a:noFill/>
        </p:spPr>
        <p:txBody>
          <a:bodyPr wrap="square" rtlCol="0">
            <a:spAutoFit/>
          </a:bodyPr>
          <a:lstStyle/>
          <a:p>
            <a:r>
              <a:rPr lang="en-US" sz="4000" b="1" dirty="0">
                <a:latin typeface="Gill Sans MT" panose="020B0502020104020203" pitchFamily="34" charset="0"/>
              </a:rPr>
              <a:t>Discursive Practices</a:t>
            </a:r>
            <a:endParaRPr lang="en-GB" sz="4000" b="1" dirty="0">
              <a:latin typeface="Gill Sans MT" panose="020B0502020104020203" pitchFamily="34" charset="0"/>
            </a:endParaRPr>
          </a:p>
        </p:txBody>
      </p:sp>
      <p:sp>
        <p:nvSpPr>
          <p:cNvPr id="8" name="TextBox 7">
            <a:extLst>
              <a:ext uri="{FF2B5EF4-FFF2-40B4-BE49-F238E27FC236}">
                <a16:creationId xmlns:a16="http://schemas.microsoft.com/office/drawing/2014/main" id="{18A284EF-39CF-6B03-A624-63BA2A776661}"/>
              </a:ext>
            </a:extLst>
          </p:cNvPr>
          <p:cNvSpPr txBox="1"/>
          <p:nvPr/>
        </p:nvSpPr>
        <p:spPr>
          <a:xfrm>
            <a:off x="4651623" y="3768566"/>
            <a:ext cx="3237217" cy="707886"/>
          </a:xfrm>
          <a:prstGeom prst="rect">
            <a:avLst/>
          </a:prstGeom>
          <a:noFill/>
        </p:spPr>
        <p:txBody>
          <a:bodyPr wrap="square" rtlCol="0">
            <a:spAutoFit/>
          </a:bodyPr>
          <a:lstStyle/>
          <a:p>
            <a:pPr algn="ctr"/>
            <a:r>
              <a:rPr lang="en-US" sz="4000" b="1" dirty="0">
                <a:solidFill>
                  <a:schemeClr val="bg1"/>
                </a:solidFill>
                <a:latin typeface="Gill Sans MT" panose="020B0502020104020203" pitchFamily="34" charset="0"/>
              </a:rPr>
              <a:t>Texts</a:t>
            </a:r>
            <a:endParaRPr lang="en-GB" sz="4000" b="1" dirty="0">
              <a:solidFill>
                <a:schemeClr val="bg1"/>
              </a:solidFill>
              <a:latin typeface="Gill Sans MT" panose="020B0502020104020203" pitchFamily="34" charset="0"/>
            </a:endParaRPr>
          </a:p>
        </p:txBody>
      </p:sp>
    </p:spTree>
    <p:extLst>
      <p:ext uri="{BB962C8B-B14F-4D97-AF65-F5344CB8AC3E}">
        <p14:creationId xmlns:p14="http://schemas.microsoft.com/office/powerpoint/2010/main" val="80995683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8F00BF6-F6E4-AD13-BAD3-A1ACF8EBEC83}"/>
              </a:ext>
            </a:extLst>
          </p:cNvPr>
          <p:cNvSpPr>
            <a:spLocks noGrp="1"/>
          </p:cNvSpPr>
          <p:nvPr>
            <p:ph type="sldNum" sz="quarter" idx="12"/>
          </p:nvPr>
        </p:nvSpPr>
        <p:spPr/>
        <p:txBody>
          <a:bodyPr/>
          <a:lstStyle/>
          <a:p>
            <a:fld id="{372769DB-CAE7-4C85-A9AF-7D4D8DE4CA22}" type="slidenum">
              <a:rPr lang="en-GB" smtClean="0"/>
              <a:t>42</a:t>
            </a:fld>
            <a:endParaRPr lang="en-GB" dirty="0"/>
          </a:p>
        </p:txBody>
      </p:sp>
      <p:sp>
        <p:nvSpPr>
          <p:cNvPr id="3" name="Rectangle: Rounded Corners 2">
            <a:extLst>
              <a:ext uri="{FF2B5EF4-FFF2-40B4-BE49-F238E27FC236}">
                <a16:creationId xmlns:a16="http://schemas.microsoft.com/office/drawing/2014/main" id="{CEBEAD49-F0C6-BFDE-69C5-46D67BD5C7A3}"/>
              </a:ext>
            </a:extLst>
          </p:cNvPr>
          <p:cNvSpPr/>
          <p:nvPr/>
        </p:nvSpPr>
        <p:spPr>
          <a:xfrm>
            <a:off x="909263" y="369870"/>
            <a:ext cx="10690261" cy="6169041"/>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ectangle: Rounded Corners 3">
            <a:extLst>
              <a:ext uri="{FF2B5EF4-FFF2-40B4-BE49-F238E27FC236}">
                <a16:creationId xmlns:a16="http://schemas.microsoft.com/office/drawing/2014/main" id="{C5575A57-15AD-2424-099E-8CC33386A0E0}"/>
              </a:ext>
            </a:extLst>
          </p:cNvPr>
          <p:cNvSpPr/>
          <p:nvPr/>
        </p:nvSpPr>
        <p:spPr>
          <a:xfrm>
            <a:off x="2229492" y="1722367"/>
            <a:ext cx="8081481" cy="4092398"/>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Rounded Corners 4">
            <a:extLst>
              <a:ext uri="{FF2B5EF4-FFF2-40B4-BE49-F238E27FC236}">
                <a16:creationId xmlns:a16="http://schemas.microsoft.com/office/drawing/2014/main" id="{9F529DB9-D0A7-A5B2-6704-88B3B82DC1D7}"/>
              </a:ext>
            </a:extLst>
          </p:cNvPr>
          <p:cNvSpPr/>
          <p:nvPr/>
        </p:nvSpPr>
        <p:spPr>
          <a:xfrm>
            <a:off x="3279167" y="3175220"/>
            <a:ext cx="5950450" cy="2422989"/>
          </a:xfrm>
          <a:prstGeom prst="round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TextBox 5">
            <a:extLst>
              <a:ext uri="{FF2B5EF4-FFF2-40B4-BE49-F238E27FC236}">
                <a16:creationId xmlns:a16="http://schemas.microsoft.com/office/drawing/2014/main" id="{A2973E43-E62E-E441-7AB9-FDEC484C146F}"/>
              </a:ext>
            </a:extLst>
          </p:cNvPr>
          <p:cNvSpPr txBox="1"/>
          <p:nvPr/>
        </p:nvSpPr>
        <p:spPr>
          <a:xfrm>
            <a:off x="2748426" y="731565"/>
            <a:ext cx="7652063" cy="707886"/>
          </a:xfrm>
          <a:prstGeom prst="rect">
            <a:avLst/>
          </a:prstGeom>
          <a:noFill/>
        </p:spPr>
        <p:txBody>
          <a:bodyPr wrap="square" rtlCol="0">
            <a:spAutoFit/>
          </a:bodyPr>
          <a:lstStyle/>
          <a:p>
            <a:r>
              <a:rPr lang="en-US" sz="4000" b="1" dirty="0">
                <a:solidFill>
                  <a:schemeClr val="bg1"/>
                </a:solidFill>
                <a:latin typeface="Gill Sans MT" panose="020B0502020104020203" pitchFamily="34" charset="0"/>
              </a:rPr>
              <a:t>Context: Existence of racism</a:t>
            </a:r>
            <a:endParaRPr lang="en-GB" sz="4000" b="1" dirty="0">
              <a:solidFill>
                <a:schemeClr val="bg1"/>
              </a:solidFill>
              <a:latin typeface="Gill Sans MT" panose="020B0502020104020203" pitchFamily="34" charset="0"/>
            </a:endParaRPr>
          </a:p>
        </p:txBody>
      </p:sp>
      <p:sp>
        <p:nvSpPr>
          <p:cNvPr id="7" name="TextBox 6">
            <a:extLst>
              <a:ext uri="{FF2B5EF4-FFF2-40B4-BE49-F238E27FC236}">
                <a16:creationId xmlns:a16="http://schemas.microsoft.com/office/drawing/2014/main" id="{7FC1CE39-6565-9978-271F-FD47E7EE9031}"/>
              </a:ext>
            </a:extLst>
          </p:cNvPr>
          <p:cNvSpPr txBox="1"/>
          <p:nvPr/>
        </p:nvSpPr>
        <p:spPr>
          <a:xfrm>
            <a:off x="3318123" y="1792328"/>
            <a:ext cx="5950451" cy="1200329"/>
          </a:xfrm>
          <a:prstGeom prst="rect">
            <a:avLst/>
          </a:prstGeom>
          <a:noFill/>
        </p:spPr>
        <p:txBody>
          <a:bodyPr wrap="square" rtlCol="0">
            <a:spAutoFit/>
          </a:bodyPr>
          <a:lstStyle/>
          <a:p>
            <a:pPr algn="ctr"/>
            <a:r>
              <a:rPr lang="en-US" sz="3600" b="1" dirty="0">
                <a:latin typeface="Gill Sans MT" panose="020B0502020104020203" pitchFamily="34" charset="0"/>
              </a:rPr>
              <a:t>Discursive Practices: Pressures on journalists</a:t>
            </a:r>
            <a:endParaRPr lang="en-GB" sz="3600" b="1" dirty="0">
              <a:latin typeface="Gill Sans MT" panose="020B0502020104020203" pitchFamily="34" charset="0"/>
            </a:endParaRPr>
          </a:p>
        </p:txBody>
      </p:sp>
      <p:sp>
        <p:nvSpPr>
          <p:cNvPr id="8" name="TextBox 7">
            <a:extLst>
              <a:ext uri="{FF2B5EF4-FFF2-40B4-BE49-F238E27FC236}">
                <a16:creationId xmlns:a16="http://schemas.microsoft.com/office/drawing/2014/main" id="{18A284EF-39CF-6B03-A624-63BA2A776661}"/>
              </a:ext>
            </a:extLst>
          </p:cNvPr>
          <p:cNvSpPr txBox="1"/>
          <p:nvPr/>
        </p:nvSpPr>
        <p:spPr>
          <a:xfrm>
            <a:off x="4674739" y="3410725"/>
            <a:ext cx="3237217" cy="1323439"/>
          </a:xfrm>
          <a:prstGeom prst="rect">
            <a:avLst/>
          </a:prstGeom>
          <a:noFill/>
        </p:spPr>
        <p:txBody>
          <a:bodyPr wrap="square" rtlCol="0">
            <a:spAutoFit/>
          </a:bodyPr>
          <a:lstStyle/>
          <a:p>
            <a:pPr algn="ctr"/>
            <a:r>
              <a:rPr lang="en-US" sz="4000" b="1" dirty="0">
                <a:solidFill>
                  <a:schemeClr val="bg1"/>
                </a:solidFill>
                <a:latin typeface="Gill Sans MT" panose="020B0502020104020203" pitchFamily="34" charset="0"/>
              </a:rPr>
              <a:t>Texts: Newspapers</a:t>
            </a:r>
            <a:endParaRPr lang="en-GB" sz="4000" b="1" dirty="0">
              <a:solidFill>
                <a:schemeClr val="bg1"/>
              </a:solidFill>
              <a:latin typeface="Gill Sans MT" panose="020B0502020104020203" pitchFamily="34" charset="0"/>
            </a:endParaRPr>
          </a:p>
        </p:txBody>
      </p:sp>
    </p:spTree>
    <p:extLst>
      <p:ext uri="{BB962C8B-B14F-4D97-AF65-F5344CB8AC3E}">
        <p14:creationId xmlns:p14="http://schemas.microsoft.com/office/powerpoint/2010/main" val="219685314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8F00BF6-F6E4-AD13-BAD3-A1ACF8EBEC83}"/>
              </a:ext>
            </a:extLst>
          </p:cNvPr>
          <p:cNvSpPr>
            <a:spLocks noGrp="1"/>
          </p:cNvSpPr>
          <p:nvPr>
            <p:ph type="sldNum" sz="quarter" idx="12"/>
          </p:nvPr>
        </p:nvSpPr>
        <p:spPr/>
        <p:txBody>
          <a:bodyPr/>
          <a:lstStyle/>
          <a:p>
            <a:fld id="{372769DB-CAE7-4C85-A9AF-7D4D8DE4CA22}" type="slidenum">
              <a:rPr lang="en-GB" smtClean="0"/>
              <a:t>43</a:t>
            </a:fld>
            <a:endParaRPr lang="en-GB" dirty="0"/>
          </a:p>
        </p:txBody>
      </p:sp>
      <p:sp>
        <p:nvSpPr>
          <p:cNvPr id="3" name="Rectangle: Rounded Corners 2">
            <a:extLst>
              <a:ext uri="{FF2B5EF4-FFF2-40B4-BE49-F238E27FC236}">
                <a16:creationId xmlns:a16="http://schemas.microsoft.com/office/drawing/2014/main" id="{CEBEAD49-F0C6-BFDE-69C5-46D67BD5C7A3}"/>
              </a:ext>
            </a:extLst>
          </p:cNvPr>
          <p:cNvSpPr/>
          <p:nvPr/>
        </p:nvSpPr>
        <p:spPr>
          <a:xfrm>
            <a:off x="909263" y="369870"/>
            <a:ext cx="10690261" cy="6169041"/>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ectangle: Rounded Corners 3">
            <a:extLst>
              <a:ext uri="{FF2B5EF4-FFF2-40B4-BE49-F238E27FC236}">
                <a16:creationId xmlns:a16="http://schemas.microsoft.com/office/drawing/2014/main" id="{C5575A57-15AD-2424-099E-8CC33386A0E0}"/>
              </a:ext>
            </a:extLst>
          </p:cNvPr>
          <p:cNvSpPr/>
          <p:nvPr/>
        </p:nvSpPr>
        <p:spPr>
          <a:xfrm>
            <a:off x="2229492" y="1722367"/>
            <a:ext cx="8081481" cy="4092398"/>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Rounded Corners 4">
            <a:extLst>
              <a:ext uri="{FF2B5EF4-FFF2-40B4-BE49-F238E27FC236}">
                <a16:creationId xmlns:a16="http://schemas.microsoft.com/office/drawing/2014/main" id="{9F529DB9-D0A7-A5B2-6704-88B3B82DC1D7}"/>
              </a:ext>
            </a:extLst>
          </p:cNvPr>
          <p:cNvSpPr/>
          <p:nvPr/>
        </p:nvSpPr>
        <p:spPr>
          <a:xfrm>
            <a:off x="3279167" y="3175220"/>
            <a:ext cx="5950450" cy="2422989"/>
          </a:xfrm>
          <a:prstGeom prst="round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TextBox 5">
            <a:extLst>
              <a:ext uri="{FF2B5EF4-FFF2-40B4-BE49-F238E27FC236}">
                <a16:creationId xmlns:a16="http://schemas.microsoft.com/office/drawing/2014/main" id="{A2973E43-E62E-E441-7AB9-FDEC484C146F}"/>
              </a:ext>
            </a:extLst>
          </p:cNvPr>
          <p:cNvSpPr txBox="1"/>
          <p:nvPr/>
        </p:nvSpPr>
        <p:spPr>
          <a:xfrm>
            <a:off x="1296492" y="463635"/>
            <a:ext cx="10303032" cy="1323439"/>
          </a:xfrm>
          <a:prstGeom prst="rect">
            <a:avLst/>
          </a:prstGeom>
          <a:noFill/>
        </p:spPr>
        <p:txBody>
          <a:bodyPr wrap="square" rtlCol="0">
            <a:spAutoFit/>
          </a:bodyPr>
          <a:lstStyle/>
          <a:p>
            <a:pPr algn="ctr"/>
            <a:r>
              <a:rPr lang="en-US" sz="4000" b="1" dirty="0">
                <a:solidFill>
                  <a:schemeClr val="bg1"/>
                </a:solidFill>
                <a:latin typeface="Gill Sans MT" panose="020B0502020104020203" pitchFamily="34" charset="0"/>
              </a:rPr>
              <a:t>Context: Government policy, economy, social norms</a:t>
            </a:r>
            <a:endParaRPr lang="en-GB" sz="4000" b="1" dirty="0">
              <a:solidFill>
                <a:schemeClr val="bg1"/>
              </a:solidFill>
              <a:latin typeface="Gill Sans MT" panose="020B0502020104020203" pitchFamily="34" charset="0"/>
            </a:endParaRPr>
          </a:p>
        </p:txBody>
      </p:sp>
      <p:sp>
        <p:nvSpPr>
          <p:cNvPr id="7" name="TextBox 6">
            <a:extLst>
              <a:ext uri="{FF2B5EF4-FFF2-40B4-BE49-F238E27FC236}">
                <a16:creationId xmlns:a16="http://schemas.microsoft.com/office/drawing/2014/main" id="{7FC1CE39-6565-9978-271F-FD47E7EE9031}"/>
              </a:ext>
            </a:extLst>
          </p:cNvPr>
          <p:cNvSpPr txBox="1"/>
          <p:nvPr/>
        </p:nvSpPr>
        <p:spPr>
          <a:xfrm>
            <a:off x="3318123" y="1792328"/>
            <a:ext cx="5950451" cy="1200329"/>
          </a:xfrm>
          <a:prstGeom prst="rect">
            <a:avLst/>
          </a:prstGeom>
          <a:noFill/>
        </p:spPr>
        <p:txBody>
          <a:bodyPr wrap="square" rtlCol="0">
            <a:spAutoFit/>
          </a:bodyPr>
          <a:lstStyle/>
          <a:p>
            <a:pPr algn="ctr"/>
            <a:r>
              <a:rPr lang="en-US" sz="3600" b="1" dirty="0">
                <a:latin typeface="Gill Sans MT" panose="020B0502020104020203" pitchFamily="34" charset="0"/>
              </a:rPr>
              <a:t>Discursive Practices: Pressures on Universities</a:t>
            </a:r>
            <a:endParaRPr lang="en-GB" sz="3600" b="1" dirty="0">
              <a:latin typeface="Gill Sans MT" panose="020B0502020104020203" pitchFamily="34" charset="0"/>
            </a:endParaRPr>
          </a:p>
        </p:txBody>
      </p:sp>
      <p:sp>
        <p:nvSpPr>
          <p:cNvPr id="8" name="TextBox 7">
            <a:extLst>
              <a:ext uri="{FF2B5EF4-FFF2-40B4-BE49-F238E27FC236}">
                <a16:creationId xmlns:a16="http://schemas.microsoft.com/office/drawing/2014/main" id="{18A284EF-39CF-6B03-A624-63BA2A776661}"/>
              </a:ext>
            </a:extLst>
          </p:cNvPr>
          <p:cNvSpPr txBox="1"/>
          <p:nvPr/>
        </p:nvSpPr>
        <p:spPr>
          <a:xfrm>
            <a:off x="4674739" y="3410725"/>
            <a:ext cx="3237217" cy="1323439"/>
          </a:xfrm>
          <a:prstGeom prst="rect">
            <a:avLst/>
          </a:prstGeom>
          <a:noFill/>
        </p:spPr>
        <p:txBody>
          <a:bodyPr wrap="square" rtlCol="0">
            <a:spAutoFit/>
          </a:bodyPr>
          <a:lstStyle/>
          <a:p>
            <a:pPr algn="ctr"/>
            <a:r>
              <a:rPr lang="en-US" sz="4000" b="1" dirty="0">
                <a:solidFill>
                  <a:schemeClr val="bg1"/>
                </a:solidFill>
                <a:latin typeface="Gill Sans MT" panose="020B0502020104020203" pitchFamily="34" charset="0"/>
              </a:rPr>
              <a:t>Texts: Course lists</a:t>
            </a:r>
            <a:endParaRPr lang="en-GB" sz="4000" b="1" dirty="0">
              <a:solidFill>
                <a:schemeClr val="bg1"/>
              </a:solidFill>
              <a:latin typeface="Gill Sans MT" panose="020B0502020104020203" pitchFamily="34" charset="0"/>
            </a:endParaRPr>
          </a:p>
        </p:txBody>
      </p:sp>
    </p:spTree>
    <p:extLst>
      <p:ext uri="{BB962C8B-B14F-4D97-AF65-F5344CB8AC3E}">
        <p14:creationId xmlns:p14="http://schemas.microsoft.com/office/powerpoint/2010/main" val="180496456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9E8A72F-B10C-979F-C18A-80E906DD473B}"/>
              </a:ext>
            </a:extLst>
          </p:cNvPr>
          <p:cNvSpPr/>
          <p:nvPr/>
        </p:nvSpPr>
        <p:spPr>
          <a:xfrm>
            <a:off x="0" y="0"/>
            <a:ext cx="12192000" cy="1154096"/>
          </a:xfrm>
          <a:prstGeom prst="rect">
            <a:avLst/>
          </a:prstGeom>
          <a:solidFill>
            <a:srgbClr val="01A08A"/>
          </a:solidFill>
          <a:ln>
            <a:solidFill>
              <a:srgbClr val="01A0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44C3FF69-B6E6-EE8B-67E5-EC76A1F75347}"/>
              </a:ext>
            </a:extLst>
          </p:cNvPr>
          <p:cNvSpPr>
            <a:spLocks noGrp="1"/>
          </p:cNvSpPr>
          <p:nvPr>
            <p:ph type="title"/>
          </p:nvPr>
        </p:nvSpPr>
        <p:spPr/>
        <p:txBody>
          <a:bodyPr/>
          <a:lstStyle/>
          <a:p>
            <a:r>
              <a:rPr lang="en-GB" dirty="0"/>
              <a:t>Discourse analysis</a:t>
            </a:r>
          </a:p>
        </p:txBody>
      </p:sp>
      <p:sp>
        <p:nvSpPr>
          <p:cNvPr id="5" name="Slide Number Placeholder 4">
            <a:extLst>
              <a:ext uri="{FF2B5EF4-FFF2-40B4-BE49-F238E27FC236}">
                <a16:creationId xmlns:a16="http://schemas.microsoft.com/office/drawing/2014/main" id="{759ECE30-0093-7048-0352-73A2799E3E61}"/>
              </a:ext>
            </a:extLst>
          </p:cNvPr>
          <p:cNvSpPr>
            <a:spLocks noGrp="1"/>
          </p:cNvSpPr>
          <p:nvPr>
            <p:ph type="sldNum" sz="quarter" idx="12"/>
          </p:nvPr>
        </p:nvSpPr>
        <p:spPr/>
        <p:txBody>
          <a:bodyPr/>
          <a:lstStyle/>
          <a:p>
            <a:fld id="{372769DB-CAE7-4C85-A9AF-7D4D8DE4CA22}" type="slidenum">
              <a:rPr lang="en-GB" smtClean="0"/>
              <a:t>44</a:t>
            </a:fld>
            <a:endParaRPr lang="en-GB" dirty="0"/>
          </a:p>
        </p:txBody>
      </p:sp>
      <p:sp>
        <p:nvSpPr>
          <p:cNvPr id="9" name="Content Placeholder 2">
            <a:extLst>
              <a:ext uri="{FF2B5EF4-FFF2-40B4-BE49-F238E27FC236}">
                <a16:creationId xmlns:a16="http://schemas.microsoft.com/office/drawing/2014/main" id="{73B95F71-109D-9DA2-69EA-CC3888E14336}"/>
              </a:ext>
            </a:extLst>
          </p:cNvPr>
          <p:cNvSpPr txBox="1">
            <a:spLocks/>
          </p:cNvSpPr>
          <p:nvPr/>
        </p:nvSpPr>
        <p:spPr>
          <a:xfrm>
            <a:off x="838200" y="1825625"/>
            <a:ext cx="563372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40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b="1" dirty="0"/>
              <a:t>Advantages</a:t>
            </a:r>
          </a:p>
          <a:p>
            <a:r>
              <a:rPr lang="en-GB" dirty="0"/>
              <a:t>How language shapes meaning</a:t>
            </a:r>
          </a:p>
          <a:p>
            <a:r>
              <a:rPr lang="en-GB" dirty="0"/>
              <a:t>Context beyond text</a:t>
            </a:r>
          </a:p>
          <a:p>
            <a:r>
              <a:rPr lang="en-GB" dirty="0"/>
              <a:t>Social structures that produce texts</a:t>
            </a:r>
          </a:p>
        </p:txBody>
      </p:sp>
      <p:sp>
        <p:nvSpPr>
          <p:cNvPr id="10" name="Content Placeholder 2">
            <a:extLst>
              <a:ext uri="{FF2B5EF4-FFF2-40B4-BE49-F238E27FC236}">
                <a16:creationId xmlns:a16="http://schemas.microsoft.com/office/drawing/2014/main" id="{2C6001AF-8C8A-89CD-16E9-E3CF91DB660C}"/>
              </a:ext>
            </a:extLst>
          </p:cNvPr>
          <p:cNvSpPr>
            <a:spLocks noGrp="1"/>
          </p:cNvSpPr>
          <p:nvPr>
            <p:ph idx="1"/>
          </p:nvPr>
        </p:nvSpPr>
        <p:spPr>
          <a:xfrm>
            <a:off x="6471920" y="1825625"/>
            <a:ext cx="5633720" cy="4351338"/>
          </a:xfrm>
        </p:spPr>
        <p:txBody>
          <a:bodyPr/>
          <a:lstStyle/>
          <a:p>
            <a:pPr marL="0" indent="0">
              <a:buNone/>
            </a:pPr>
            <a:r>
              <a:rPr lang="en-GB" b="1" dirty="0"/>
              <a:t>Limitations</a:t>
            </a:r>
          </a:p>
          <a:p>
            <a:r>
              <a:rPr lang="en-GB" dirty="0"/>
              <a:t>Theory &amp; method overlap</a:t>
            </a:r>
          </a:p>
          <a:p>
            <a:r>
              <a:rPr lang="en-GB" dirty="0"/>
              <a:t>Subjective, complexity</a:t>
            </a:r>
          </a:p>
        </p:txBody>
      </p:sp>
    </p:spTree>
    <p:extLst>
      <p:ext uri="{BB962C8B-B14F-4D97-AF65-F5344CB8AC3E}">
        <p14:creationId xmlns:p14="http://schemas.microsoft.com/office/powerpoint/2010/main" val="389306316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FF242-9172-165A-2AD8-6CC6437642CC}"/>
              </a:ext>
            </a:extLst>
          </p:cNvPr>
          <p:cNvSpPr>
            <a:spLocks noGrp="1"/>
          </p:cNvSpPr>
          <p:nvPr>
            <p:ph type="title"/>
          </p:nvPr>
        </p:nvSpPr>
        <p:spPr>
          <a:xfrm>
            <a:off x="1047884" y="1337013"/>
            <a:ext cx="9893031" cy="2626469"/>
          </a:xfrm>
        </p:spPr>
        <p:txBody>
          <a:bodyPr/>
          <a:lstStyle/>
          <a:p>
            <a:r>
              <a:rPr lang="en-GB" dirty="0"/>
              <a:t>Quantitative text analysis</a:t>
            </a:r>
          </a:p>
        </p:txBody>
      </p:sp>
    </p:spTree>
    <p:extLst>
      <p:ext uri="{BB962C8B-B14F-4D97-AF65-F5344CB8AC3E}">
        <p14:creationId xmlns:p14="http://schemas.microsoft.com/office/powerpoint/2010/main" val="308499019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3FF69-B6E6-EE8B-67E5-EC76A1F75347}"/>
              </a:ext>
            </a:extLst>
          </p:cNvPr>
          <p:cNvSpPr>
            <a:spLocks noGrp="1"/>
          </p:cNvSpPr>
          <p:nvPr>
            <p:ph type="title"/>
          </p:nvPr>
        </p:nvSpPr>
        <p:spPr/>
        <p:txBody>
          <a:bodyPr/>
          <a:lstStyle/>
          <a:p>
            <a:r>
              <a:rPr lang="en-GB" dirty="0"/>
              <a:t>Computational text analysis</a:t>
            </a:r>
          </a:p>
        </p:txBody>
      </p:sp>
      <p:sp>
        <p:nvSpPr>
          <p:cNvPr id="3" name="Content Placeholder 2">
            <a:extLst>
              <a:ext uri="{FF2B5EF4-FFF2-40B4-BE49-F238E27FC236}">
                <a16:creationId xmlns:a16="http://schemas.microsoft.com/office/drawing/2014/main" id="{D72FFA1C-2DD8-D09B-8419-CE41DB06ADF0}"/>
              </a:ext>
            </a:extLst>
          </p:cNvPr>
          <p:cNvSpPr>
            <a:spLocks noGrp="1"/>
          </p:cNvSpPr>
          <p:nvPr>
            <p:ph idx="1"/>
          </p:nvPr>
        </p:nvSpPr>
        <p:spPr>
          <a:xfrm>
            <a:off x="6895826" y="1629744"/>
            <a:ext cx="4791419" cy="4351338"/>
          </a:xfrm>
        </p:spPr>
        <p:txBody>
          <a:bodyPr>
            <a:normAutofit/>
          </a:bodyPr>
          <a:lstStyle/>
          <a:p>
            <a:pPr marL="0" indent="0">
              <a:buNone/>
            </a:pPr>
            <a:r>
              <a:rPr lang="en-GB" sz="4800" b="1" dirty="0"/>
              <a:t>Applications</a:t>
            </a:r>
          </a:p>
          <a:p>
            <a:r>
              <a:rPr lang="en-GB" sz="4000" dirty="0"/>
              <a:t>Classification</a:t>
            </a:r>
          </a:p>
          <a:p>
            <a:r>
              <a:rPr lang="en-GB" dirty="0"/>
              <a:t>Clustering</a:t>
            </a:r>
            <a:endParaRPr lang="en-GB" sz="3200" dirty="0"/>
          </a:p>
          <a:p>
            <a:r>
              <a:rPr lang="en-GB" sz="4000" dirty="0"/>
              <a:t>Generative</a:t>
            </a:r>
          </a:p>
          <a:p>
            <a:pPr marL="457200" lvl="1" indent="0">
              <a:buNone/>
            </a:pPr>
            <a:endParaRPr lang="en-GB" dirty="0"/>
          </a:p>
        </p:txBody>
      </p:sp>
      <p:sp>
        <p:nvSpPr>
          <p:cNvPr id="5" name="Slide Number Placeholder 4">
            <a:extLst>
              <a:ext uri="{FF2B5EF4-FFF2-40B4-BE49-F238E27FC236}">
                <a16:creationId xmlns:a16="http://schemas.microsoft.com/office/drawing/2014/main" id="{759ECE30-0093-7048-0352-73A2799E3E61}"/>
              </a:ext>
            </a:extLst>
          </p:cNvPr>
          <p:cNvSpPr>
            <a:spLocks noGrp="1"/>
          </p:cNvSpPr>
          <p:nvPr>
            <p:ph type="sldNum" sz="quarter" idx="12"/>
          </p:nvPr>
        </p:nvSpPr>
        <p:spPr/>
        <p:txBody>
          <a:bodyPr/>
          <a:lstStyle/>
          <a:p>
            <a:fld id="{372769DB-CAE7-4C85-A9AF-7D4D8DE4CA22}" type="slidenum">
              <a:rPr lang="en-GB" smtClean="0"/>
              <a:t>46</a:t>
            </a:fld>
            <a:endParaRPr lang="en-GB" dirty="0"/>
          </a:p>
        </p:txBody>
      </p:sp>
      <p:sp>
        <p:nvSpPr>
          <p:cNvPr id="6" name="Content Placeholder 2">
            <a:extLst>
              <a:ext uri="{FF2B5EF4-FFF2-40B4-BE49-F238E27FC236}">
                <a16:creationId xmlns:a16="http://schemas.microsoft.com/office/drawing/2014/main" id="{8BC46A45-0CC9-9B3C-1978-084F852B53FA}"/>
              </a:ext>
            </a:extLst>
          </p:cNvPr>
          <p:cNvSpPr txBox="1">
            <a:spLocks/>
          </p:cNvSpPr>
          <p:nvPr/>
        </p:nvSpPr>
        <p:spPr>
          <a:xfrm>
            <a:off x="990649" y="1629744"/>
            <a:ext cx="5189863"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40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4400" b="1" dirty="0"/>
              <a:t>Machine learning</a:t>
            </a:r>
          </a:p>
          <a:p>
            <a:r>
              <a:rPr lang="en-GB" sz="3600" dirty="0"/>
              <a:t>Supervised</a:t>
            </a:r>
          </a:p>
          <a:p>
            <a:r>
              <a:rPr lang="en-GB" sz="3600" dirty="0"/>
              <a:t>Semi-supervised</a:t>
            </a:r>
          </a:p>
          <a:p>
            <a:r>
              <a:rPr lang="en-GB" sz="3600" dirty="0"/>
              <a:t>Unsupervised</a:t>
            </a:r>
          </a:p>
        </p:txBody>
      </p:sp>
      <p:sp>
        <p:nvSpPr>
          <p:cNvPr id="7" name="Content Placeholder 2">
            <a:extLst>
              <a:ext uri="{FF2B5EF4-FFF2-40B4-BE49-F238E27FC236}">
                <a16:creationId xmlns:a16="http://schemas.microsoft.com/office/drawing/2014/main" id="{26C2267B-D87A-C6FF-540C-F81D2D291843}"/>
              </a:ext>
            </a:extLst>
          </p:cNvPr>
          <p:cNvSpPr txBox="1">
            <a:spLocks/>
          </p:cNvSpPr>
          <p:nvPr/>
        </p:nvSpPr>
        <p:spPr>
          <a:xfrm>
            <a:off x="990649" y="4836404"/>
            <a:ext cx="11148610" cy="286037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40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3600" dirty="0"/>
              <a:t>Positivist</a:t>
            </a:r>
          </a:p>
          <a:p>
            <a:pPr marL="0" indent="0">
              <a:buFont typeface="Arial" panose="020B0604020202020204" pitchFamily="34" charset="0"/>
              <a:buNone/>
            </a:pPr>
            <a:r>
              <a:rPr lang="en-GB" sz="3600" dirty="0"/>
              <a:t>Data science, linguistics, natural language processing</a:t>
            </a:r>
          </a:p>
          <a:p>
            <a:pPr marL="457200" lvl="1" indent="0">
              <a:buFont typeface="Arial" panose="020B0604020202020204" pitchFamily="34" charset="0"/>
              <a:buNone/>
            </a:pPr>
            <a:endParaRPr lang="en-GB" dirty="0"/>
          </a:p>
        </p:txBody>
      </p:sp>
    </p:spTree>
    <p:extLst>
      <p:ext uri="{BB962C8B-B14F-4D97-AF65-F5344CB8AC3E}">
        <p14:creationId xmlns:p14="http://schemas.microsoft.com/office/powerpoint/2010/main" val="94937332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64EEC18-7344-4674-9377-52CCBE7FF261}"/>
              </a:ext>
            </a:extLst>
          </p:cNvPr>
          <p:cNvSpPr>
            <a:spLocks noGrp="1"/>
          </p:cNvSpPr>
          <p:nvPr>
            <p:ph type="sldNum" sz="quarter" idx="12"/>
          </p:nvPr>
        </p:nvSpPr>
        <p:spPr>
          <a:xfrm>
            <a:off x="8610600" y="6356350"/>
            <a:ext cx="2743200" cy="365125"/>
          </a:xfrm>
        </p:spPr>
        <p:txBody>
          <a:bodyPr>
            <a:normAutofit/>
          </a:bodyPr>
          <a:lstStyle/>
          <a:p>
            <a:pPr>
              <a:spcAft>
                <a:spcPts val="600"/>
              </a:spcAft>
            </a:pPr>
            <a:fld id="{372769DB-CAE7-4C85-A9AF-7D4D8DE4CA22}" type="slidenum">
              <a:rPr lang="en-GB" smtClean="0"/>
              <a:pPr>
                <a:spcAft>
                  <a:spcPts val="600"/>
                </a:spcAft>
              </a:pPr>
              <a:t>47</a:t>
            </a:fld>
            <a:endParaRPr lang="en-GB"/>
          </a:p>
        </p:txBody>
      </p:sp>
      <p:sp>
        <p:nvSpPr>
          <p:cNvPr id="10" name="TextBox 9">
            <a:extLst>
              <a:ext uri="{FF2B5EF4-FFF2-40B4-BE49-F238E27FC236}">
                <a16:creationId xmlns:a16="http://schemas.microsoft.com/office/drawing/2014/main" id="{BBD3BBC5-F916-A9C2-FE18-9BE15D5EF992}"/>
              </a:ext>
            </a:extLst>
          </p:cNvPr>
          <p:cNvSpPr txBox="1"/>
          <p:nvPr/>
        </p:nvSpPr>
        <p:spPr>
          <a:xfrm>
            <a:off x="0" y="6535010"/>
            <a:ext cx="9584634" cy="338554"/>
          </a:xfrm>
          <a:prstGeom prst="rect">
            <a:avLst/>
          </a:prstGeom>
          <a:noFill/>
        </p:spPr>
        <p:txBody>
          <a:bodyPr wrap="square">
            <a:spAutoFit/>
          </a:bodyPr>
          <a:lstStyle/>
          <a:p>
            <a:r>
              <a:rPr lang="en-GB" sz="1600" dirty="0">
                <a:solidFill>
                  <a:schemeClr val="bg2">
                    <a:lumMod val="50000"/>
                  </a:schemeClr>
                </a:solidFill>
              </a:rPr>
              <a:t>Source: https://arxiv.org/abs/2402.14875</a:t>
            </a:r>
          </a:p>
        </p:txBody>
      </p:sp>
      <p:pic>
        <p:nvPicPr>
          <p:cNvPr id="6" name="Picture 5" descr="Screenshot of a text prompt example showing labeled segments including &quot;bicycle&quot; as variation, &quot;DaShawn Washington&quot; as name, and &quot;The bicycle is a 2021 Trek Verve 3 Disc.&quot; as context. The prompt requests an estimate for an initial offer in US dollars with instructions to reply only with a number and no additional comments.">
            <a:extLst>
              <a:ext uri="{FF2B5EF4-FFF2-40B4-BE49-F238E27FC236}">
                <a16:creationId xmlns:a16="http://schemas.microsoft.com/office/drawing/2014/main" id="{550D3C80-D1B6-553C-EA2C-66DE35B603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77657" y="3201040"/>
            <a:ext cx="9464860" cy="2545301"/>
          </a:xfrm>
          <a:prstGeom prst="rect">
            <a:avLst/>
          </a:prstGeom>
        </p:spPr>
      </p:pic>
      <p:pic>
        <p:nvPicPr>
          <p:cNvPr id="9" name="Picture 8">
            <a:hlinkClick r:id="rId3"/>
            <a:extLst>
              <a:ext uri="{FF2B5EF4-FFF2-40B4-BE49-F238E27FC236}">
                <a16:creationId xmlns:a16="http://schemas.microsoft.com/office/drawing/2014/main" id="{0F1C3486-B116-038C-A91F-58830296943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56837" y="513284"/>
            <a:ext cx="7706500" cy="2457797"/>
          </a:xfrm>
          <a:prstGeom prst="rect">
            <a:avLst/>
          </a:prstGeom>
        </p:spPr>
      </p:pic>
    </p:spTree>
    <p:extLst>
      <p:ext uri="{BB962C8B-B14F-4D97-AF65-F5344CB8AC3E}">
        <p14:creationId xmlns:p14="http://schemas.microsoft.com/office/powerpoint/2010/main" val="377775943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3E52D-3CC8-29B0-60D3-D36D3385154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8F09D56-ECAA-ECF0-67DF-D35F294A1193}"/>
              </a:ext>
            </a:extLst>
          </p:cNvPr>
          <p:cNvSpPr>
            <a:spLocks noGrp="1"/>
          </p:cNvSpPr>
          <p:nvPr>
            <p:ph type="sldNum" sz="quarter" idx="12"/>
          </p:nvPr>
        </p:nvSpPr>
        <p:spPr>
          <a:xfrm>
            <a:off x="8610600" y="6356350"/>
            <a:ext cx="2743200" cy="365125"/>
          </a:xfrm>
        </p:spPr>
        <p:txBody>
          <a:bodyPr>
            <a:normAutofit/>
          </a:bodyPr>
          <a:lstStyle/>
          <a:p>
            <a:pPr>
              <a:spcAft>
                <a:spcPts val="600"/>
              </a:spcAft>
            </a:pPr>
            <a:fld id="{372769DB-CAE7-4C85-A9AF-7D4D8DE4CA22}" type="slidenum">
              <a:rPr lang="en-GB" smtClean="0"/>
              <a:pPr>
                <a:spcAft>
                  <a:spcPts val="600"/>
                </a:spcAft>
              </a:pPr>
              <a:t>48</a:t>
            </a:fld>
            <a:endParaRPr lang="en-GB"/>
          </a:p>
        </p:txBody>
      </p:sp>
      <p:sp>
        <p:nvSpPr>
          <p:cNvPr id="10" name="TextBox 9">
            <a:extLst>
              <a:ext uri="{FF2B5EF4-FFF2-40B4-BE49-F238E27FC236}">
                <a16:creationId xmlns:a16="http://schemas.microsoft.com/office/drawing/2014/main" id="{819C6FCF-2AE3-2418-359E-B4E719A44500}"/>
              </a:ext>
            </a:extLst>
          </p:cNvPr>
          <p:cNvSpPr txBox="1"/>
          <p:nvPr/>
        </p:nvSpPr>
        <p:spPr>
          <a:xfrm>
            <a:off x="0" y="6535010"/>
            <a:ext cx="9584634" cy="338554"/>
          </a:xfrm>
          <a:prstGeom prst="rect">
            <a:avLst/>
          </a:prstGeom>
          <a:noFill/>
        </p:spPr>
        <p:txBody>
          <a:bodyPr wrap="square">
            <a:spAutoFit/>
          </a:bodyPr>
          <a:lstStyle/>
          <a:p>
            <a:r>
              <a:rPr lang="en-GB" sz="1600" dirty="0">
                <a:solidFill>
                  <a:schemeClr val="bg2">
                    <a:lumMod val="50000"/>
                  </a:schemeClr>
                </a:solidFill>
              </a:rPr>
              <a:t>Source: https://arxiv.org/abs/2402.14875</a:t>
            </a:r>
          </a:p>
        </p:txBody>
      </p:sp>
      <p:sp>
        <p:nvSpPr>
          <p:cNvPr id="3" name="TextBox 2">
            <a:extLst>
              <a:ext uri="{FF2B5EF4-FFF2-40B4-BE49-F238E27FC236}">
                <a16:creationId xmlns:a16="http://schemas.microsoft.com/office/drawing/2014/main" id="{8B4C907D-DB3F-248B-DEF2-7CDC2A089A24}"/>
              </a:ext>
            </a:extLst>
          </p:cNvPr>
          <p:cNvSpPr txBox="1"/>
          <p:nvPr/>
        </p:nvSpPr>
        <p:spPr>
          <a:xfrm>
            <a:off x="477520" y="4200177"/>
            <a:ext cx="11379200" cy="1384995"/>
          </a:xfrm>
          <a:prstGeom prst="rect">
            <a:avLst/>
          </a:prstGeom>
          <a:noFill/>
        </p:spPr>
        <p:txBody>
          <a:bodyPr wrap="square" rtlCol="0">
            <a:spAutoFit/>
          </a:bodyPr>
          <a:lstStyle/>
          <a:p>
            <a:r>
              <a:rPr lang="en-GB" sz="2800" dirty="0">
                <a:latin typeface="Gill Sans MT" panose="020B0502020104020203" pitchFamily="34" charset="0"/>
              </a:rPr>
              <a:t>“the Black-perceived names yield systematically worse responses than</a:t>
            </a:r>
          </a:p>
          <a:p>
            <a:r>
              <a:rPr lang="en-GB" sz="2800" dirty="0">
                <a:latin typeface="Gill Sans MT" panose="020B0502020104020203" pitchFamily="34" charset="0"/>
              </a:rPr>
              <a:t>white-perceived names. Similarly, female-perceived names yield systematically worse outcomes than male-perceived names.” (Salinas et.al, 2025: 10)</a:t>
            </a:r>
          </a:p>
        </p:txBody>
      </p:sp>
      <p:pic>
        <p:nvPicPr>
          <p:cNvPr id="6" name="Picture 5" descr="Screenshot of a text prompt example demonstrating labeled segments for different dimensions, including &quot;variation,&quot; &quot;name,&quot; &quot;context,&quot; and &quot;outcome.&quot; Colored labels highlight specific parts of the prompt, such as &quot;bicycle,&quot; &quot;DaShawn Washington,&quot; &quot;The bicycle is a 2021 Trek Verve 3 Disc,&quot; and the request for an initial offer estimate in US dollars.">
            <a:extLst>
              <a:ext uri="{FF2B5EF4-FFF2-40B4-BE49-F238E27FC236}">
                <a16:creationId xmlns:a16="http://schemas.microsoft.com/office/drawing/2014/main" id="{85FDA05A-EFA0-F3C5-7723-6F083C76FE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63290" y="883699"/>
            <a:ext cx="9464860" cy="2545301"/>
          </a:xfrm>
          <a:prstGeom prst="rect">
            <a:avLst/>
          </a:prstGeom>
        </p:spPr>
      </p:pic>
    </p:spTree>
    <p:extLst>
      <p:ext uri="{BB962C8B-B14F-4D97-AF65-F5344CB8AC3E}">
        <p14:creationId xmlns:p14="http://schemas.microsoft.com/office/powerpoint/2010/main" val="141250531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5D0D4-9FCC-090D-91F0-51ED056AC200}"/>
              </a:ext>
            </a:extLst>
          </p:cNvPr>
          <p:cNvSpPr>
            <a:spLocks noGrp="1"/>
          </p:cNvSpPr>
          <p:nvPr>
            <p:ph type="title"/>
          </p:nvPr>
        </p:nvSpPr>
        <p:spPr/>
        <p:txBody>
          <a:bodyPr/>
          <a:lstStyle/>
          <a:p>
            <a:r>
              <a:rPr lang="en-GB" dirty="0"/>
              <a:t>Validation</a:t>
            </a:r>
          </a:p>
        </p:txBody>
      </p:sp>
      <p:sp>
        <p:nvSpPr>
          <p:cNvPr id="3" name="Content Placeholder 2">
            <a:extLst>
              <a:ext uri="{FF2B5EF4-FFF2-40B4-BE49-F238E27FC236}">
                <a16:creationId xmlns:a16="http://schemas.microsoft.com/office/drawing/2014/main" id="{DAB94D42-7743-A320-F315-B00360C875F5}"/>
              </a:ext>
            </a:extLst>
          </p:cNvPr>
          <p:cNvSpPr>
            <a:spLocks noGrp="1"/>
          </p:cNvSpPr>
          <p:nvPr>
            <p:ph idx="1"/>
          </p:nvPr>
        </p:nvSpPr>
        <p:spPr/>
        <p:txBody>
          <a:bodyPr/>
          <a:lstStyle/>
          <a:p>
            <a:r>
              <a:rPr lang="en-GB" dirty="0"/>
              <a:t>Human oversight and expertise still crucial in machine learning and AI approaches</a:t>
            </a:r>
          </a:p>
          <a:p>
            <a:r>
              <a:rPr lang="en-GB" dirty="0"/>
              <a:t>Gold-standard benchmarks</a:t>
            </a:r>
          </a:p>
          <a:p>
            <a:r>
              <a:rPr lang="en-GB" dirty="0"/>
              <a:t>Training data</a:t>
            </a:r>
          </a:p>
          <a:p>
            <a:r>
              <a:rPr lang="en-GB" dirty="0"/>
              <a:t>Validating output</a:t>
            </a:r>
          </a:p>
          <a:p>
            <a:endParaRPr lang="en-GB" dirty="0"/>
          </a:p>
          <a:p>
            <a:endParaRPr lang="en-GB" dirty="0"/>
          </a:p>
        </p:txBody>
      </p:sp>
      <p:sp>
        <p:nvSpPr>
          <p:cNvPr id="4" name="Slide Number Placeholder 3">
            <a:extLst>
              <a:ext uri="{FF2B5EF4-FFF2-40B4-BE49-F238E27FC236}">
                <a16:creationId xmlns:a16="http://schemas.microsoft.com/office/drawing/2014/main" id="{D2D3A35F-127C-0F58-8F43-2E06FBEB1062}"/>
              </a:ext>
            </a:extLst>
          </p:cNvPr>
          <p:cNvSpPr>
            <a:spLocks noGrp="1"/>
          </p:cNvSpPr>
          <p:nvPr>
            <p:ph type="sldNum" sz="quarter" idx="12"/>
          </p:nvPr>
        </p:nvSpPr>
        <p:spPr/>
        <p:txBody>
          <a:bodyPr/>
          <a:lstStyle/>
          <a:p>
            <a:fld id="{372769DB-CAE7-4C85-A9AF-7D4D8DE4CA22}" type="slidenum">
              <a:rPr lang="en-GB" smtClean="0"/>
              <a:t>49</a:t>
            </a:fld>
            <a:endParaRPr lang="en-GB" dirty="0"/>
          </a:p>
        </p:txBody>
      </p:sp>
    </p:spTree>
    <p:extLst>
      <p:ext uri="{BB962C8B-B14F-4D97-AF65-F5344CB8AC3E}">
        <p14:creationId xmlns:p14="http://schemas.microsoft.com/office/powerpoint/2010/main" val="223732276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A8920-9635-597C-D364-DDC52894C7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077944-9605-8D6C-CAA9-0F7C4238F823}"/>
              </a:ext>
            </a:extLst>
          </p:cNvPr>
          <p:cNvSpPr>
            <a:spLocks noGrp="1"/>
          </p:cNvSpPr>
          <p:nvPr>
            <p:ph type="title"/>
          </p:nvPr>
        </p:nvSpPr>
        <p:spPr/>
        <p:txBody>
          <a:bodyPr/>
          <a:lstStyle/>
          <a:p>
            <a:r>
              <a:rPr lang="en-GB" dirty="0"/>
              <a:t>Validation</a:t>
            </a:r>
          </a:p>
        </p:txBody>
      </p:sp>
      <p:sp>
        <p:nvSpPr>
          <p:cNvPr id="3" name="Content Placeholder 2">
            <a:extLst>
              <a:ext uri="{FF2B5EF4-FFF2-40B4-BE49-F238E27FC236}">
                <a16:creationId xmlns:a16="http://schemas.microsoft.com/office/drawing/2014/main" id="{67A3AFF1-99AF-DB0E-AFA0-CF1CBFD1DCB6}"/>
              </a:ext>
            </a:extLst>
          </p:cNvPr>
          <p:cNvSpPr>
            <a:spLocks noGrp="1"/>
          </p:cNvSpPr>
          <p:nvPr>
            <p:ph idx="1"/>
          </p:nvPr>
        </p:nvSpPr>
        <p:spPr/>
        <p:txBody>
          <a:bodyPr>
            <a:normAutofit fontScale="92500" lnSpcReduction="10000"/>
          </a:bodyPr>
          <a:lstStyle/>
          <a:p>
            <a:pPr marL="0" indent="0">
              <a:buNone/>
            </a:pPr>
            <a:r>
              <a:rPr lang="en-GB" b="1" dirty="0"/>
              <a:t>Train/Test framework</a:t>
            </a:r>
          </a:p>
          <a:p>
            <a:pPr marL="0" indent="0">
              <a:buNone/>
            </a:pPr>
            <a:endParaRPr lang="en-GB" dirty="0"/>
          </a:p>
          <a:p>
            <a:r>
              <a:rPr lang="en-GB" dirty="0"/>
              <a:t>Manually label a set of texts</a:t>
            </a:r>
          </a:p>
          <a:p>
            <a:r>
              <a:rPr lang="en-GB" dirty="0"/>
              <a:t>Split into a training (80%) and test set (20%)</a:t>
            </a:r>
          </a:p>
          <a:p>
            <a:r>
              <a:rPr lang="en-GB" dirty="0"/>
              <a:t>Evaluate model on training set (actual vs predicted)</a:t>
            </a:r>
          </a:p>
          <a:p>
            <a:r>
              <a:rPr lang="en-GB" dirty="0"/>
              <a:t>Tweak model</a:t>
            </a:r>
          </a:p>
          <a:p>
            <a:r>
              <a:rPr lang="en-GB" dirty="0"/>
              <a:t>Run final test on test set</a:t>
            </a:r>
          </a:p>
          <a:p>
            <a:endParaRPr lang="en-GB" dirty="0"/>
          </a:p>
          <a:p>
            <a:endParaRPr lang="en-GB" dirty="0"/>
          </a:p>
        </p:txBody>
      </p:sp>
      <p:sp>
        <p:nvSpPr>
          <p:cNvPr id="4" name="Slide Number Placeholder 3">
            <a:extLst>
              <a:ext uri="{FF2B5EF4-FFF2-40B4-BE49-F238E27FC236}">
                <a16:creationId xmlns:a16="http://schemas.microsoft.com/office/drawing/2014/main" id="{8B3C3548-B506-024F-A725-9783256ADC7A}"/>
              </a:ext>
            </a:extLst>
          </p:cNvPr>
          <p:cNvSpPr>
            <a:spLocks noGrp="1"/>
          </p:cNvSpPr>
          <p:nvPr>
            <p:ph type="sldNum" sz="quarter" idx="12"/>
          </p:nvPr>
        </p:nvSpPr>
        <p:spPr/>
        <p:txBody>
          <a:bodyPr/>
          <a:lstStyle/>
          <a:p>
            <a:fld id="{372769DB-CAE7-4C85-A9AF-7D4D8DE4CA22}" type="slidenum">
              <a:rPr lang="en-GB" smtClean="0"/>
              <a:t>50</a:t>
            </a:fld>
            <a:endParaRPr lang="en-GB" dirty="0"/>
          </a:p>
        </p:txBody>
      </p:sp>
    </p:spTree>
    <p:extLst>
      <p:ext uri="{BB962C8B-B14F-4D97-AF65-F5344CB8AC3E}">
        <p14:creationId xmlns:p14="http://schemas.microsoft.com/office/powerpoint/2010/main" val="130992999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D488702-7E54-E208-035B-B3F2A3864B93}"/>
              </a:ext>
            </a:extLst>
          </p:cNvPr>
          <p:cNvSpPr>
            <a:spLocks noGrp="1"/>
          </p:cNvSpPr>
          <p:nvPr>
            <p:ph type="sldNum" sz="quarter" idx="12"/>
          </p:nvPr>
        </p:nvSpPr>
        <p:spPr/>
        <p:txBody>
          <a:bodyPr/>
          <a:lstStyle/>
          <a:p>
            <a:fld id="{372769DB-CAE7-4C85-A9AF-7D4D8DE4CA22}" type="slidenum">
              <a:rPr lang="en-GB" smtClean="0"/>
              <a:t>51</a:t>
            </a:fld>
            <a:endParaRPr lang="en-GB" dirty="0"/>
          </a:p>
        </p:txBody>
      </p:sp>
      <p:pic>
        <p:nvPicPr>
          <p:cNvPr id="6" name="Picture 5" descr="Diagram illustrating the holdout method for model evaluation, showing data split into training (dark blue), validation (light blue), and test (orange) partitions. It outlines three steps: splitting data, training and tuning model with training and validation sets, and evaluating final model with test data.">
            <a:extLst>
              <a:ext uri="{FF2B5EF4-FFF2-40B4-BE49-F238E27FC236}">
                <a16:creationId xmlns:a16="http://schemas.microsoft.com/office/drawing/2014/main" id="{FA831F65-E4A6-4DAF-375D-A8B7DCC716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01673" y="1264732"/>
            <a:ext cx="9388654" cy="4328535"/>
          </a:xfrm>
          <a:prstGeom prst="rect">
            <a:avLst/>
          </a:prstGeom>
        </p:spPr>
      </p:pic>
      <p:sp>
        <p:nvSpPr>
          <p:cNvPr id="8" name="TextBox 7">
            <a:extLst>
              <a:ext uri="{FF2B5EF4-FFF2-40B4-BE49-F238E27FC236}">
                <a16:creationId xmlns:a16="http://schemas.microsoft.com/office/drawing/2014/main" id="{C9332674-E483-D7B7-A1CF-DC8BE021CF48}"/>
              </a:ext>
            </a:extLst>
          </p:cNvPr>
          <p:cNvSpPr txBox="1"/>
          <p:nvPr/>
        </p:nvSpPr>
        <p:spPr>
          <a:xfrm>
            <a:off x="1993900" y="6260515"/>
            <a:ext cx="7922260" cy="369332"/>
          </a:xfrm>
          <a:prstGeom prst="rect">
            <a:avLst/>
          </a:prstGeom>
          <a:noFill/>
        </p:spPr>
        <p:txBody>
          <a:bodyPr wrap="square">
            <a:spAutoFit/>
          </a:bodyPr>
          <a:lstStyle/>
          <a:p>
            <a:r>
              <a:rPr lang="en-GB" b="0" i="0" dirty="0">
                <a:solidFill>
                  <a:srgbClr val="222222"/>
                </a:solidFill>
                <a:effectLst/>
                <a:latin typeface="Gill Sans MT" panose="020B0502020104020203" pitchFamily="34" charset="0"/>
              </a:rPr>
              <a:t>Source: </a:t>
            </a:r>
            <a:r>
              <a:rPr lang="en-GB" b="0" i="0" dirty="0" err="1">
                <a:solidFill>
                  <a:srgbClr val="222222"/>
                </a:solidFill>
                <a:effectLst/>
                <a:latin typeface="Gill Sans MT" panose="020B0502020104020203" pitchFamily="34" charset="0"/>
              </a:rPr>
              <a:t>Nwanganga</a:t>
            </a:r>
            <a:r>
              <a:rPr lang="en-GB" b="0" i="0" dirty="0">
                <a:solidFill>
                  <a:srgbClr val="222222"/>
                </a:solidFill>
                <a:effectLst/>
                <a:latin typeface="Gill Sans MT" panose="020B0502020104020203" pitchFamily="34" charset="0"/>
              </a:rPr>
              <a:t>, F. and Chapple, M., 2020. </a:t>
            </a:r>
            <a:r>
              <a:rPr lang="en-GB" b="0" i="1" dirty="0">
                <a:solidFill>
                  <a:srgbClr val="222222"/>
                </a:solidFill>
                <a:effectLst/>
                <a:latin typeface="Gill Sans MT" panose="020B0502020104020203" pitchFamily="34" charset="0"/>
              </a:rPr>
              <a:t>Practical machine learning in R</a:t>
            </a:r>
            <a:r>
              <a:rPr lang="en-GB" b="0" i="0" dirty="0">
                <a:solidFill>
                  <a:srgbClr val="222222"/>
                </a:solidFill>
                <a:effectLst/>
                <a:latin typeface="Gill Sans MT" panose="020B0502020104020203" pitchFamily="34" charset="0"/>
              </a:rPr>
              <a:t>. page 23</a:t>
            </a:r>
            <a:endParaRPr lang="en-GB" dirty="0">
              <a:latin typeface="Gill Sans MT" panose="020B0502020104020203" pitchFamily="34" charset="0"/>
            </a:endParaRPr>
          </a:p>
        </p:txBody>
      </p:sp>
    </p:spTree>
    <p:extLst>
      <p:ext uri="{BB962C8B-B14F-4D97-AF65-F5344CB8AC3E}">
        <p14:creationId xmlns:p14="http://schemas.microsoft.com/office/powerpoint/2010/main" val="165718268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C165743-8865-5162-C91D-F2AE7AB29F95}"/>
              </a:ext>
            </a:extLst>
          </p:cNvPr>
          <p:cNvSpPr>
            <a:spLocks noGrp="1"/>
          </p:cNvSpPr>
          <p:nvPr>
            <p:ph type="sldNum" sz="quarter" idx="12"/>
          </p:nvPr>
        </p:nvSpPr>
        <p:spPr/>
        <p:txBody>
          <a:bodyPr/>
          <a:lstStyle/>
          <a:p>
            <a:fld id="{372769DB-CAE7-4C85-A9AF-7D4D8DE4CA22}" type="slidenum">
              <a:rPr lang="en-GB" smtClean="0"/>
              <a:t>52</a:t>
            </a:fld>
            <a:endParaRPr lang="en-GB" dirty="0"/>
          </a:p>
        </p:txBody>
      </p:sp>
      <p:pic>
        <p:nvPicPr>
          <p:cNvPr id="4" name="Picture 3" descr="Confusion matrix diagram illustrating classification outcomes with four quadrants labeled True Positive, False Positive (Type I Error), False Negative (Type II Error), and True Negative. Green color highlights correct predictions (True Positive and True Negative), while red indicates errors (False Positive and False Negative), showing relationship between predicted and actual values.">
            <a:extLst>
              <a:ext uri="{FF2B5EF4-FFF2-40B4-BE49-F238E27FC236}">
                <a16:creationId xmlns:a16="http://schemas.microsoft.com/office/drawing/2014/main" id="{90ADA3B7-1FD0-E660-F86C-E32CBF715F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38241" y="425700"/>
            <a:ext cx="8543679" cy="5492365"/>
          </a:xfrm>
          <a:prstGeom prst="rect">
            <a:avLst/>
          </a:prstGeom>
        </p:spPr>
      </p:pic>
      <p:sp>
        <p:nvSpPr>
          <p:cNvPr id="3" name="TextBox 2">
            <a:extLst>
              <a:ext uri="{FF2B5EF4-FFF2-40B4-BE49-F238E27FC236}">
                <a16:creationId xmlns:a16="http://schemas.microsoft.com/office/drawing/2014/main" id="{FC31764F-B7E8-FD07-C8C1-D6E9C108640C}"/>
              </a:ext>
            </a:extLst>
          </p:cNvPr>
          <p:cNvSpPr txBox="1"/>
          <p:nvPr/>
        </p:nvSpPr>
        <p:spPr>
          <a:xfrm>
            <a:off x="1993900" y="6260515"/>
            <a:ext cx="7922260" cy="369332"/>
          </a:xfrm>
          <a:prstGeom prst="rect">
            <a:avLst/>
          </a:prstGeom>
          <a:noFill/>
        </p:spPr>
        <p:txBody>
          <a:bodyPr wrap="square">
            <a:spAutoFit/>
          </a:bodyPr>
          <a:lstStyle/>
          <a:p>
            <a:r>
              <a:rPr lang="en-GB" b="0" i="0" dirty="0">
                <a:solidFill>
                  <a:srgbClr val="222222"/>
                </a:solidFill>
                <a:effectLst/>
                <a:latin typeface="Gill Sans MT" panose="020B0502020104020203" pitchFamily="34" charset="0"/>
              </a:rPr>
              <a:t>Source: </a:t>
            </a:r>
            <a:r>
              <a:rPr lang="en-GB" b="0" i="0" dirty="0" err="1">
                <a:solidFill>
                  <a:srgbClr val="222222"/>
                </a:solidFill>
                <a:effectLst/>
                <a:latin typeface="Gill Sans MT" panose="020B0502020104020203" pitchFamily="34" charset="0"/>
              </a:rPr>
              <a:t>Nwanganga</a:t>
            </a:r>
            <a:r>
              <a:rPr lang="en-GB" b="0" i="0" dirty="0">
                <a:solidFill>
                  <a:srgbClr val="222222"/>
                </a:solidFill>
                <a:effectLst/>
                <a:latin typeface="Gill Sans MT" panose="020B0502020104020203" pitchFamily="34" charset="0"/>
              </a:rPr>
              <a:t>, F. and Chapple, M., 2020. </a:t>
            </a:r>
            <a:r>
              <a:rPr lang="en-GB" b="0" i="1" dirty="0">
                <a:solidFill>
                  <a:srgbClr val="222222"/>
                </a:solidFill>
                <a:effectLst/>
                <a:latin typeface="Gill Sans MT" panose="020B0502020104020203" pitchFamily="34" charset="0"/>
              </a:rPr>
              <a:t>Practical machine learning in R</a:t>
            </a:r>
            <a:r>
              <a:rPr lang="en-GB" b="0" i="0" dirty="0">
                <a:solidFill>
                  <a:srgbClr val="222222"/>
                </a:solidFill>
                <a:effectLst/>
                <a:latin typeface="Gill Sans MT" panose="020B0502020104020203" pitchFamily="34" charset="0"/>
              </a:rPr>
              <a:t>. page 18</a:t>
            </a:r>
            <a:endParaRPr lang="en-GB" dirty="0">
              <a:latin typeface="Gill Sans MT" panose="020B0502020104020203" pitchFamily="34" charset="0"/>
            </a:endParaRPr>
          </a:p>
        </p:txBody>
      </p:sp>
    </p:spTree>
    <p:extLst>
      <p:ext uri="{BB962C8B-B14F-4D97-AF65-F5344CB8AC3E}">
        <p14:creationId xmlns:p14="http://schemas.microsoft.com/office/powerpoint/2010/main" val="99395023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52319-CB26-C69B-B649-AECACB3678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F74C6F-4EAB-AEFC-566A-9695667F34AC}"/>
              </a:ext>
            </a:extLst>
          </p:cNvPr>
          <p:cNvSpPr>
            <a:spLocks noGrp="1"/>
          </p:cNvSpPr>
          <p:nvPr>
            <p:ph type="title"/>
          </p:nvPr>
        </p:nvSpPr>
        <p:spPr/>
        <p:txBody>
          <a:bodyPr/>
          <a:lstStyle/>
          <a:p>
            <a:r>
              <a:rPr lang="en-GB" dirty="0"/>
              <a:t>Validation</a:t>
            </a:r>
          </a:p>
        </p:txBody>
      </p:sp>
      <p:sp>
        <p:nvSpPr>
          <p:cNvPr id="3" name="Content Placeholder 2">
            <a:extLst>
              <a:ext uri="{FF2B5EF4-FFF2-40B4-BE49-F238E27FC236}">
                <a16:creationId xmlns:a16="http://schemas.microsoft.com/office/drawing/2014/main" id="{5F041AAC-ED35-299F-C847-DBCECF030B4F}"/>
              </a:ext>
            </a:extLst>
          </p:cNvPr>
          <p:cNvSpPr>
            <a:spLocks noGrp="1"/>
          </p:cNvSpPr>
          <p:nvPr>
            <p:ph idx="1"/>
          </p:nvPr>
        </p:nvSpPr>
        <p:spPr/>
        <p:txBody>
          <a:bodyPr>
            <a:normAutofit/>
          </a:bodyPr>
          <a:lstStyle/>
          <a:p>
            <a:pPr marL="514350" indent="-514350">
              <a:buFont typeface="+mj-lt"/>
              <a:buAutoNum type="arabicPeriod"/>
            </a:pPr>
            <a:r>
              <a:rPr lang="en-GB" sz="3200" dirty="0"/>
              <a:t>Do your content analysis on small sample of documents</a:t>
            </a:r>
          </a:p>
          <a:p>
            <a:pPr marL="514350" indent="-514350">
              <a:buFont typeface="+mj-lt"/>
              <a:buAutoNum type="arabicPeriod"/>
            </a:pPr>
            <a:r>
              <a:rPr lang="en-GB" sz="3200" dirty="0"/>
              <a:t>Separate into training and test data</a:t>
            </a:r>
          </a:p>
          <a:p>
            <a:pPr marL="514350" indent="-514350">
              <a:buFont typeface="+mj-lt"/>
              <a:buAutoNum type="arabicPeriod"/>
            </a:pPr>
            <a:r>
              <a:rPr lang="en-GB" sz="3200" dirty="0"/>
              <a:t>See how well ML methods perform on your documents</a:t>
            </a:r>
          </a:p>
          <a:p>
            <a:pPr marL="514350" indent="-514350">
              <a:buFont typeface="+mj-lt"/>
              <a:buAutoNum type="arabicPeriod"/>
            </a:pPr>
            <a:r>
              <a:rPr lang="en-GB" sz="3200" dirty="0"/>
              <a:t>If performance is good enough, then apply to larger set of documents</a:t>
            </a:r>
          </a:p>
          <a:p>
            <a:endParaRPr lang="en-GB" dirty="0"/>
          </a:p>
          <a:p>
            <a:endParaRPr lang="en-GB" dirty="0"/>
          </a:p>
        </p:txBody>
      </p:sp>
      <p:sp>
        <p:nvSpPr>
          <p:cNvPr id="4" name="Slide Number Placeholder 3">
            <a:extLst>
              <a:ext uri="{FF2B5EF4-FFF2-40B4-BE49-F238E27FC236}">
                <a16:creationId xmlns:a16="http://schemas.microsoft.com/office/drawing/2014/main" id="{6FDF10D1-96FE-17C6-F6C7-E4400D2E3773}"/>
              </a:ext>
            </a:extLst>
          </p:cNvPr>
          <p:cNvSpPr>
            <a:spLocks noGrp="1"/>
          </p:cNvSpPr>
          <p:nvPr>
            <p:ph type="sldNum" sz="quarter" idx="12"/>
          </p:nvPr>
        </p:nvSpPr>
        <p:spPr/>
        <p:txBody>
          <a:bodyPr/>
          <a:lstStyle/>
          <a:p>
            <a:fld id="{372769DB-CAE7-4C85-A9AF-7D4D8DE4CA22}" type="slidenum">
              <a:rPr lang="en-GB" smtClean="0"/>
              <a:t>53</a:t>
            </a:fld>
            <a:endParaRPr lang="en-GB" dirty="0"/>
          </a:p>
        </p:txBody>
      </p:sp>
    </p:spTree>
    <p:extLst>
      <p:ext uri="{BB962C8B-B14F-4D97-AF65-F5344CB8AC3E}">
        <p14:creationId xmlns:p14="http://schemas.microsoft.com/office/powerpoint/2010/main" val="391238004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43E54299-14F3-3B0B-2F65-13A94AEA13E7}"/>
              </a:ext>
            </a:extLst>
          </p:cNvPr>
          <p:cNvSpPr/>
          <p:nvPr/>
        </p:nvSpPr>
        <p:spPr>
          <a:xfrm>
            <a:off x="980501" y="136526"/>
            <a:ext cx="10322805" cy="1317701"/>
          </a:xfrm>
          <a:prstGeom prst="roundRect">
            <a:avLst/>
          </a:prstGeom>
          <a:solidFill>
            <a:schemeClr val="accent4">
              <a:alpha val="49000"/>
            </a:schemeClr>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GB" dirty="0"/>
          </a:p>
        </p:txBody>
      </p:sp>
      <p:sp>
        <p:nvSpPr>
          <p:cNvPr id="2" name="Slide Number Placeholder 1">
            <a:extLst>
              <a:ext uri="{FF2B5EF4-FFF2-40B4-BE49-F238E27FC236}">
                <a16:creationId xmlns:a16="http://schemas.microsoft.com/office/drawing/2014/main" id="{0F2E71D1-3976-3B5B-CB8E-5265583B18CF}"/>
              </a:ext>
            </a:extLst>
          </p:cNvPr>
          <p:cNvSpPr>
            <a:spLocks noGrp="1"/>
          </p:cNvSpPr>
          <p:nvPr>
            <p:ph type="sldNum" sz="quarter" idx="12"/>
          </p:nvPr>
        </p:nvSpPr>
        <p:spPr/>
        <p:txBody>
          <a:bodyPr/>
          <a:lstStyle/>
          <a:p>
            <a:fld id="{372769DB-CAE7-4C85-A9AF-7D4D8DE4CA22}" type="slidenum">
              <a:rPr lang="en-GB" smtClean="0"/>
              <a:t>54</a:t>
            </a:fld>
            <a:endParaRPr lang="en-GB" dirty="0"/>
          </a:p>
        </p:txBody>
      </p:sp>
      <p:sp>
        <p:nvSpPr>
          <p:cNvPr id="4" name="TextBox 3">
            <a:extLst>
              <a:ext uri="{FF2B5EF4-FFF2-40B4-BE49-F238E27FC236}">
                <a16:creationId xmlns:a16="http://schemas.microsoft.com/office/drawing/2014/main" id="{28B731DA-A037-6A0D-159D-9803FFEDA8EB}"/>
              </a:ext>
            </a:extLst>
          </p:cNvPr>
          <p:cNvSpPr txBox="1"/>
          <p:nvPr/>
        </p:nvSpPr>
        <p:spPr>
          <a:xfrm>
            <a:off x="1124990" y="136526"/>
            <a:ext cx="10322805" cy="1200329"/>
          </a:xfrm>
          <a:prstGeom prst="rect">
            <a:avLst/>
          </a:prstGeom>
          <a:noFill/>
        </p:spPr>
        <p:txBody>
          <a:bodyPr wrap="square">
            <a:spAutoFit/>
          </a:bodyPr>
          <a:lstStyle/>
          <a:p>
            <a:r>
              <a:rPr lang="en-US" sz="3600" b="0" i="0" dirty="0">
                <a:solidFill>
                  <a:srgbClr val="333333"/>
                </a:solidFill>
                <a:effectLst/>
                <a:latin typeface="Gill Sans MT" panose="020B0502020104020203" pitchFamily="34" charset="0"/>
              </a:rPr>
              <a:t>“What is the </a:t>
            </a:r>
            <a:r>
              <a:rPr lang="en-US" sz="3600" b="1" i="0" dirty="0">
                <a:solidFill>
                  <a:srgbClr val="333333"/>
                </a:solidFill>
                <a:effectLst/>
                <a:latin typeface="Gill Sans MT" panose="020B0502020104020203" pitchFamily="34" charset="0"/>
              </a:rPr>
              <a:t>singl</a:t>
            </a:r>
            <a:r>
              <a:rPr lang="en-US" sz="3600" b="1" dirty="0">
                <a:solidFill>
                  <a:srgbClr val="333333"/>
                </a:solidFill>
                <a:latin typeface="Gill Sans MT" panose="020B0502020104020203" pitchFamily="34" charset="0"/>
              </a:rPr>
              <a:t>e most </a:t>
            </a:r>
            <a:r>
              <a:rPr lang="en-US" sz="3600" b="0" i="0" dirty="0">
                <a:solidFill>
                  <a:srgbClr val="333333"/>
                </a:solidFill>
                <a:effectLst/>
                <a:latin typeface="Gill Sans MT" panose="020B0502020104020203" pitchFamily="34" charset="0"/>
              </a:rPr>
              <a:t>important issue facing the country at the present time?” </a:t>
            </a:r>
            <a:endParaRPr lang="en-GB" sz="3600" dirty="0">
              <a:latin typeface="Gill Sans MT" panose="020B0502020104020203" pitchFamily="34" charset="0"/>
            </a:endParaRPr>
          </a:p>
        </p:txBody>
      </p:sp>
      <p:sp>
        <p:nvSpPr>
          <p:cNvPr id="6" name="TextBox 5">
            <a:extLst>
              <a:ext uri="{FF2B5EF4-FFF2-40B4-BE49-F238E27FC236}">
                <a16:creationId xmlns:a16="http://schemas.microsoft.com/office/drawing/2014/main" id="{7C20E6A0-205A-DDB9-6C5F-971AF09864F8}"/>
              </a:ext>
            </a:extLst>
          </p:cNvPr>
          <p:cNvSpPr txBox="1"/>
          <p:nvPr/>
        </p:nvSpPr>
        <p:spPr>
          <a:xfrm>
            <a:off x="229517" y="3155755"/>
            <a:ext cx="11732965" cy="3046988"/>
          </a:xfrm>
          <a:prstGeom prst="rect">
            <a:avLst/>
          </a:prstGeom>
          <a:noFill/>
        </p:spPr>
        <p:txBody>
          <a:bodyPr wrap="square">
            <a:spAutoFit/>
          </a:bodyPr>
          <a:lstStyle/>
          <a:p>
            <a:pPr algn="l" fontAlgn="base"/>
            <a:r>
              <a:rPr lang="en-US" sz="3200" b="1" i="0" dirty="0">
                <a:solidFill>
                  <a:srgbClr val="333333"/>
                </a:solidFill>
                <a:effectLst/>
                <a:latin typeface="Gill Sans MT" panose="020B0502020104020203" pitchFamily="34" charset="0"/>
              </a:rPr>
              <a:t>Survey Response</a:t>
            </a:r>
          </a:p>
          <a:p>
            <a:pPr algn="l" fontAlgn="base">
              <a:buFont typeface="Arial" panose="020B0604020202020204" pitchFamily="34" charset="0"/>
              <a:buChar char="•"/>
            </a:pPr>
            <a:r>
              <a:rPr lang="en-US" sz="3200" b="0" i="0" dirty="0">
                <a:solidFill>
                  <a:srgbClr val="333333"/>
                </a:solidFill>
                <a:effectLst/>
                <a:latin typeface="Gill Sans MT" panose="020B0502020104020203" pitchFamily="34" charset="0"/>
              </a:rPr>
              <a:t>Funding for cancer drugs </a:t>
            </a:r>
          </a:p>
          <a:p>
            <a:pPr algn="l" fontAlgn="base">
              <a:buFont typeface="Arial" panose="020B0604020202020204" pitchFamily="34" charset="0"/>
              <a:buChar char="•"/>
            </a:pPr>
            <a:r>
              <a:rPr lang="en-US" sz="3200" b="0" i="0" dirty="0" err="1">
                <a:solidFill>
                  <a:srgbClr val="333333"/>
                </a:solidFill>
                <a:effectLst/>
                <a:latin typeface="Gill Sans MT" panose="020B0502020104020203" pitchFamily="34" charset="0"/>
              </a:rPr>
              <a:t>Defence</a:t>
            </a:r>
            <a:r>
              <a:rPr lang="en-US" sz="3200" b="0" i="0" dirty="0">
                <a:solidFill>
                  <a:srgbClr val="333333"/>
                </a:solidFill>
                <a:effectLst/>
                <a:latin typeface="Gill Sans MT" panose="020B0502020104020203" pitchFamily="34" charset="0"/>
              </a:rPr>
              <a:t> </a:t>
            </a:r>
          </a:p>
          <a:p>
            <a:pPr algn="l" fontAlgn="base">
              <a:buFont typeface="Arial" panose="020B0604020202020204" pitchFamily="34" charset="0"/>
              <a:buChar char="•"/>
            </a:pPr>
            <a:r>
              <a:rPr lang="en-US" sz="3200" b="0" i="0" dirty="0">
                <a:solidFill>
                  <a:srgbClr val="333333"/>
                </a:solidFill>
                <a:effectLst/>
                <a:latin typeface="Gill Sans MT" panose="020B0502020104020203" pitchFamily="34" charset="0"/>
              </a:rPr>
              <a:t>economic recovery </a:t>
            </a:r>
            <a:endParaRPr lang="en-US" sz="3200" dirty="0">
              <a:solidFill>
                <a:srgbClr val="333333"/>
              </a:solidFill>
              <a:latin typeface="Gill Sans MT" panose="020B0502020104020203" pitchFamily="34" charset="0"/>
            </a:endParaRPr>
          </a:p>
          <a:p>
            <a:pPr algn="l" fontAlgn="base">
              <a:buFont typeface="Arial" panose="020B0604020202020204" pitchFamily="34" charset="0"/>
              <a:buChar char="•"/>
            </a:pPr>
            <a:r>
              <a:rPr lang="en-US" sz="3200" b="0" i="0" dirty="0">
                <a:solidFill>
                  <a:srgbClr val="333333"/>
                </a:solidFill>
                <a:effectLst/>
                <a:latin typeface="Gill Sans MT" panose="020B0502020104020203" pitchFamily="34" charset="0"/>
              </a:rPr>
              <a:t>Getting the </a:t>
            </a:r>
            <a:r>
              <a:rPr lang="en-US" sz="3200" dirty="0">
                <a:solidFill>
                  <a:srgbClr val="333333"/>
                </a:solidFill>
                <a:latin typeface="Gill Sans MT" panose="020B0502020104020203" pitchFamily="34" charset="0"/>
              </a:rPr>
              <a:t>govt</a:t>
            </a:r>
            <a:r>
              <a:rPr lang="en-US" sz="3200" b="0" i="0" dirty="0">
                <a:solidFill>
                  <a:srgbClr val="333333"/>
                </a:solidFill>
                <a:effectLst/>
                <a:latin typeface="Gill Sans MT" panose="020B0502020104020203" pitchFamily="34" charset="0"/>
              </a:rPr>
              <a:t> out so they stop ruining everything </a:t>
            </a:r>
            <a:endParaRPr lang="en-US" sz="3200" dirty="0">
              <a:solidFill>
                <a:srgbClr val="333333"/>
              </a:solidFill>
              <a:latin typeface="Gill Sans MT" panose="020B0502020104020203" pitchFamily="34" charset="0"/>
            </a:endParaRPr>
          </a:p>
          <a:p>
            <a:pPr algn="l" fontAlgn="base">
              <a:buFont typeface="Arial" panose="020B0604020202020204" pitchFamily="34" charset="0"/>
              <a:buChar char="•"/>
            </a:pPr>
            <a:r>
              <a:rPr lang="en-US" sz="3200" b="0" i="0" dirty="0">
                <a:solidFill>
                  <a:srgbClr val="333333"/>
                </a:solidFill>
                <a:effectLst/>
                <a:latin typeface="Gill Sans MT" panose="020B0502020104020203" pitchFamily="34" charset="0"/>
              </a:rPr>
              <a:t>Immigration</a:t>
            </a:r>
          </a:p>
        </p:txBody>
      </p:sp>
      <p:sp>
        <p:nvSpPr>
          <p:cNvPr id="3" name="TextBox 2">
            <a:extLst>
              <a:ext uri="{FF2B5EF4-FFF2-40B4-BE49-F238E27FC236}">
                <a16:creationId xmlns:a16="http://schemas.microsoft.com/office/drawing/2014/main" id="{98CC54A1-412B-42B2-2B31-42A63E687C04}"/>
              </a:ext>
            </a:extLst>
          </p:cNvPr>
          <p:cNvSpPr txBox="1"/>
          <p:nvPr/>
        </p:nvSpPr>
        <p:spPr>
          <a:xfrm>
            <a:off x="323160" y="1696852"/>
            <a:ext cx="11222516" cy="1200329"/>
          </a:xfrm>
          <a:prstGeom prst="rect">
            <a:avLst/>
          </a:prstGeom>
          <a:noFill/>
        </p:spPr>
        <p:txBody>
          <a:bodyPr wrap="square">
            <a:spAutoFit/>
          </a:bodyPr>
          <a:lstStyle/>
          <a:p>
            <a:r>
              <a:rPr lang="en-US" sz="3600" dirty="0">
                <a:solidFill>
                  <a:srgbClr val="333333"/>
                </a:solidFill>
                <a:latin typeface="Gill Sans MT" panose="020B0502020104020203" pitchFamily="34" charset="0"/>
              </a:rPr>
              <a:t>- O</a:t>
            </a:r>
            <a:r>
              <a:rPr lang="en-US" sz="3600" b="0" i="0" dirty="0">
                <a:solidFill>
                  <a:srgbClr val="333333"/>
                </a:solidFill>
                <a:effectLst/>
                <a:latin typeface="Gill Sans MT" panose="020B0502020104020203" pitchFamily="34" charset="0"/>
              </a:rPr>
              <a:t>pen ended text response</a:t>
            </a:r>
          </a:p>
          <a:p>
            <a:r>
              <a:rPr lang="en-US" sz="3600" dirty="0">
                <a:solidFill>
                  <a:srgbClr val="333333"/>
                </a:solidFill>
                <a:latin typeface="Gill Sans MT" panose="020B0502020104020203" pitchFamily="34" charset="0"/>
              </a:rPr>
              <a:t>- We now want to group responses into issue categories</a:t>
            </a:r>
            <a:endParaRPr lang="en-GB" sz="3600" dirty="0">
              <a:latin typeface="Gill Sans MT" panose="020B0502020104020203" pitchFamily="34" charset="0"/>
            </a:endParaRPr>
          </a:p>
        </p:txBody>
      </p:sp>
      <p:sp>
        <p:nvSpPr>
          <p:cNvPr id="7" name="TextBox 6">
            <a:extLst>
              <a:ext uri="{FF2B5EF4-FFF2-40B4-BE49-F238E27FC236}">
                <a16:creationId xmlns:a16="http://schemas.microsoft.com/office/drawing/2014/main" id="{74C8FC3A-D553-BF9C-DAA3-52E2C36D98C0}"/>
              </a:ext>
            </a:extLst>
          </p:cNvPr>
          <p:cNvSpPr txBox="1"/>
          <p:nvPr/>
        </p:nvSpPr>
        <p:spPr>
          <a:xfrm>
            <a:off x="4498923" y="6475988"/>
            <a:ext cx="4912242" cy="369332"/>
          </a:xfrm>
          <a:prstGeom prst="rect">
            <a:avLst/>
          </a:prstGeom>
          <a:noFill/>
        </p:spPr>
        <p:txBody>
          <a:bodyPr wrap="square" rtlCol="0">
            <a:spAutoFit/>
          </a:bodyPr>
          <a:lstStyle/>
          <a:p>
            <a:r>
              <a:rPr lang="en-US" dirty="0">
                <a:latin typeface="Gill Sans MT" panose="020B0502020104020203" pitchFamily="34" charset="0"/>
              </a:rPr>
              <a:t>Source: </a:t>
            </a:r>
            <a:r>
              <a:rPr lang="en-US" dirty="0">
                <a:latin typeface="Gill Sans MT" panose="020B0502020104020203" pitchFamily="34" charset="0"/>
                <a:hlinkClick r:id="rId2"/>
              </a:rPr>
              <a:t>British Election Study</a:t>
            </a:r>
            <a:endParaRPr lang="en-GB" dirty="0">
              <a:latin typeface="Gill Sans MT" panose="020B0502020104020203" pitchFamily="34" charset="0"/>
            </a:endParaRPr>
          </a:p>
        </p:txBody>
      </p:sp>
    </p:spTree>
    <p:extLst>
      <p:ext uri="{BB962C8B-B14F-4D97-AF65-F5344CB8AC3E}">
        <p14:creationId xmlns:p14="http://schemas.microsoft.com/office/powerpoint/2010/main" val="411360154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43E54299-14F3-3B0B-2F65-13A94AEA13E7}"/>
              </a:ext>
            </a:extLst>
          </p:cNvPr>
          <p:cNvSpPr/>
          <p:nvPr/>
        </p:nvSpPr>
        <p:spPr>
          <a:xfrm>
            <a:off x="980501" y="136526"/>
            <a:ext cx="10322805" cy="1317701"/>
          </a:xfrm>
          <a:prstGeom prst="roundRect">
            <a:avLst/>
          </a:prstGeom>
          <a:solidFill>
            <a:schemeClr val="accent4">
              <a:alpha val="49000"/>
            </a:schemeClr>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GB" dirty="0"/>
          </a:p>
        </p:txBody>
      </p:sp>
      <p:sp>
        <p:nvSpPr>
          <p:cNvPr id="2" name="Slide Number Placeholder 1">
            <a:extLst>
              <a:ext uri="{FF2B5EF4-FFF2-40B4-BE49-F238E27FC236}">
                <a16:creationId xmlns:a16="http://schemas.microsoft.com/office/drawing/2014/main" id="{0F2E71D1-3976-3B5B-CB8E-5265583B18CF}"/>
              </a:ext>
            </a:extLst>
          </p:cNvPr>
          <p:cNvSpPr>
            <a:spLocks noGrp="1"/>
          </p:cNvSpPr>
          <p:nvPr>
            <p:ph type="sldNum" sz="quarter" idx="12"/>
          </p:nvPr>
        </p:nvSpPr>
        <p:spPr/>
        <p:txBody>
          <a:bodyPr/>
          <a:lstStyle/>
          <a:p>
            <a:fld id="{372769DB-CAE7-4C85-A9AF-7D4D8DE4CA22}" type="slidenum">
              <a:rPr lang="en-GB" smtClean="0"/>
              <a:t>55</a:t>
            </a:fld>
            <a:endParaRPr lang="en-GB" dirty="0"/>
          </a:p>
        </p:txBody>
      </p:sp>
      <p:sp>
        <p:nvSpPr>
          <p:cNvPr id="4" name="TextBox 3">
            <a:extLst>
              <a:ext uri="{FF2B5EF4-FFF2-40B4-BE49-F238E27FC236}">
                <a16:creationId xmlns:a16="http://schemas.microsoft.com/office/drawing/2014/main" id="{28B731DA-A037-6A0D-159D-9803FFEDA8EB}"/>
              </a:ext>
            </a:extLst>
          </p:cNvPr>
          <p:cNvSpPr txBox="1"/>
          <p:nvPr/>
        </p:nvSpPr>
        <p:spPr>
          <a:xfrm>
            <a:off x="1124990" y="136526"/>
            <a:ext cx="10322805" cy="1200329"/>
          </a:xfrm>
          <a:prstGeom prst="rect">
            <a:avLst/>
          </a:prstGeom>
          <a:noFill/>
        </p:spPr>
        <p:txBody>
          <a:bodyPr wrap="square">
            <a:spAutoFit/>
          </a:bodyPr>
          <a:lstStyle/>
          <a:p>
            <a:r>
              <a:rPr lang="en-US" sz="3600" b="0" i="0" dirty="0">
                <a:solidFill>
                  <a:srgbClr val="333333"/>
                </a:solidFill>
                <a:effectLst/>
                <a:latin typeface="Gill Sans MT" panose="020B0502020104020203" pitchFamily="34" charset="0"/>
              </a:rPr>
              <a:t>“What is the </a:t>
            </a:r>
            <a:r>
              <a:rPr lang="en-US" sz="3600" b="1" i="0" dirty="0">
                <a:solidFill>
                  <a:srgbClr val="333333"/>
                </a:solidFill>
                <a:effectLst/>
                <a:latin typeface="Gill Sans MT" panose="020B0502020104020203" pitchFamily="34" charset="0"/>
              </a:rPr>
              <a:t>singl</a:t>
            </a:r>
            <a:r>
              <a:rPr lang="en-US" sz="3600" b="1" dirty="0">
                <a:solidFill>
                  <a:srgbClr val="333333"/>
                </a:solidFill>
                <a:latin typeface="Gill Sans MT" panose="020B0502020104020203" pitchFamily="34" charset="0"/>
              </a:rPr>
              <a:t>e most </a:t>
            </a:r>
            <a:r>
              <a:rPr lang="en-US" sz="3600" b="0" i="0" dirty="0">
                <a:solidFill>
                  <a:srgbClr val="333333"/>
                </a:solidFill>
                <a:effectLst/>
                <a:latin typeface="Gill Sans MT" panose="020B0502020104020203" pitchFamily="34" charset="0"/>
              </a:rPr>
              <a:t>important issue facing the country at the present time?” </a:t>
            </a:r>
            <a:endParaRPr lang="en-GB" sz="3600" dirty="0">
              <a:latin typeface="Gill Sans MT" panose="020B0502020104020203" pitchFamily="34" charset="0"/>
            </a:endParaRPr>
          </a:p>
        </p:txBody>
      </p:sp>
      <p:sp>
        <p:nvSpPr>
          <p:cNvPr id="6" name="TextBox 5">
            <a:extLst>
              <a:ext uri="{FF2B5EF4-FFF2-40B4-BE49-F238E27FC236}">
                <a16:creationId xmlns:a16="http://schemas.microsoft.com/office/drawing/2014/main" id="{7C20E6A0-205A-DDB9-6C5F-971AF09864F8}"/>
              </a:ext>
            </a:extLst>
          </p:cNvPr>
          <p:cNvSpPr txBox="1"/>
          <p:nvPr/>
        </p:nvSpPr>
        <p:spPr>
          <a:xfrm>
            <a:off x="229517" y="3185515"/>
            <a:ext cx="11962483" cy="3046988"/>
          </a:xfrm>
          <a:prstGeom prst="rect">
            <a:avLst/>
          </a:prstGeom>
          <a:noFill/>
        </p:spPr>
        <p:txBody>
          <a:bodyPr wrap="square">
            <a:spAutoFit/>
          </a:bodyPr>
          <a:lstStyle/>
          <a:p>
            <a:pPr algn="l" fontAlgn="base"/>
            <a:r>
              <a:rPr lang="en-US" sz="3200" b="1" i="0" dirty="0">
                <a:solidFill>
                  <a:srgbClr val="333333"/>
                </a:solidFill>
                <a:effectLst/>
                <a:latin typeface="Gill Sans MT" panose="020B0502020104020203" pitchFamily="34" charset="0"/>
              </a:rPr>
              <a:t>Survey Response (coded issue category)</a:t>
            </a:r>
          </a:p>
          <a:p>
            <a:pPr algn="l" fontAlgn="base">
              <a:buFont typeface="Arial" panose="020B0604020202020204" pitchFamily="34" charset="0"/>
              <a:buChar char="•"/>
            </a:pPr>
            <a:r>
              <a:rPr lang="en-US" sz="3200" b="0" i="0" dirty="0">
                <a:solidFill>
                  <a:srgbClr val="333333"/>
                </a:solidFill>
                <a:effectLst/>
                <a:latin typeface="Gill Sans MT" panose="020B0502020104020203" pitchFamily="34" charset="0"/>
              </a:rPr>
              <a:t>Funding for cancer drugs </a:t>
            </a:r>
            <a:r>
              <a:rPr lang="en-US" sz="3200" b="1" i="0" dirty="0">
                <a:solidFill>
                  <a:srgbClr val="333333"/>
                </a:solidFill>
                <a:effectLst/>
                <a:latin typeface="Gill Sans MT" panose="020B0502020104020203" pitchFamily="34" charset="0"/>
              </a:rPr>
              <a:t>(NHS)</a:t>
            </a:r>
          </a:p>
          <a:p>
            <a:pPr algn="l" fontAlgn="base">
              <a:buFont typeface="Arial" panose="020B0604020202020204" pitchFamily="34" charset="0"/>
              <a:buChar char="•"/>
            </a:pPr>
            <a:r>
              <a:rPr lang="en-US" sz="3200" b="0" i="0" dirty="0" err="1">
                <a:solidFill>
                  <a:srgbClr val="333333"/>
                </a:solidFill>
                <a:effectLst/>
                <a:latin typeface="Gill Sans MT" panose="020B0502020104020203" pitchFamily="34" charset="0"/>
              </a:rPr>
              <a:t>Defence</a:t>
            </a:r>
            <a:r>
              <a:rPr lang="en-US" sz="3200" b="0" i="0" dirty="0">
                <a:solidFill>
                  <a:srgbClr val="333333"/>
                </a:solidFill>
                <a:effectLst/>
                <a:latin typeface="Gill Sans MT" panose="020B0502020104020203" pitchFamily="34" charset="0"/>
              </a:rPr>
              <a:t> </a:t>
            </a:r>
            <a:r>
              <a:rPr lang="en-US" sz="3200" b="1" i="0" dirty="0">
                <a:solidFill>
                  <a:srgbClr val="333333"/>
                </a:solidFill>
                <a:effectLst/>
                <a:latin typeface="Gill Sans MT" panose="020B0502020104020203" pitchFamily="34" charset="0"/>
              </a:rPr>
              <a:t>(international probs)</a:t>
            </a:r>
          </a:p>
          <a:p>
            <a:pPr algn="l" fontAlgn="base">
              <a:buFont typeface="Arial" panose="020B0604020202020204" pitchFamily="34" charset="0"/>
              <a:buChar char="•"/>
            </a:pPr>
            <a:r>
              <a:rPr lang="en-US" sz="3200" b="0" i="0" dirty="0">
                <a:solidFill>
                  <a:srgbClr val="333333"/>
                </a:solidFill>
                <a:effectLst/>
                <a:latin typeface="Gill Sans MT" panose="020B0502020104020203" pitchFamily="34" charset="0"/>
              </a:rPr>
              <a:t>economic recovery </a:t>
            </a:r>
            <a:r>
              <a:rPr lang="en-US" sz="3200" b="1" i="0" dirty="0">
                <a:solidFill>
                  <a:srgbClr val="333333"/>
                </a:solidFill>
                <a:effectLst/>
                <a:latin typeface="Gill Sans MT" panose="020B0502020104020203" pitchFamily="34" charset="0"/>
              </a:rPr>
              <a:t>(economy general)</a:t>
            </a:r>
          </a:p>
          <a:p>
            <a:pPr algn="l" fontAlgn="base">
              <a:buFont typeface="Arial" panose="020B0604020202020204" pitchFamily="34" charset="0"/>
              <a:buChar char="•"/>
            </a:pPr>
            <a:r>
              <a:rPr lang="en-US" sz="3200" b="0" i="0" dirty="0">
                <a:solidFill>
                  <a:srgbClr val="333333"/>
                </a:solidFill>
                <a:effectLst/>
                <a:latin typeface="Gill Sans MT" panose="020B0502020104020203" pitchFamily="34" charset="0"/>
              </a:rPr>
              <a:t>Getting </a:t>
            </a:r>
            <a:r>
              <a:rPr lang="en-US" sz="3200" b="0" i="0">
                <a:solidFill>
                  <a:srgbClr val="333333"/>
                </a:solidFill>
                <a:effectLst/>
                <a:latin typeface="Gill Sans MT" panose="020B0502020104020203" pitchFamily="34" charset="0"/>
              </a:rPr>
              <a:t>the </a:t>
            </a:r>
            <a:r>
              <a:rPr lang="en-US" sz="3200">
                <a:solidFill>
                  <a:srgbClr val="333333"/>
                </a:solidFill>
                <a:latin typeface="Gill Sans MT" panose="020B0502020104020203" pitchFamily="34" charset="0"/>
              </a:rPr>
              <a:t>govt</a:t>
            </a:r>
            <a:r>
              <a:rPr lang="en-US" sz="3200" b="0" i="0">
                <a:solidFill>
                  <a:srgbClr val="333333"/>
                </a:solidFill>
                <a:effectLst/>
                <a:latin typeface="Gill Sans MT" panose="020B0502020104020203" pitchFamily="34" charset="0"/>
              </a:rPr>
              <a:t> </a:t>
            </a:r>
            <a:r>
              <a:rPr lang="en-US" sz="3200" b="0" i="0" dirty="0">
                <a:solidFill>
                  <a:srgbClr val="333333"/>
                </a:solidFill>
                <a:effectLst/>
                <a:latin typeface="Gill Sans MT" panose="020B0502020104020203" pitchFamily="34" charset="0"/>
              </a:rPr>
              <a:t>out so they stop ruining everything </a:t>
            </a:r>
            <a:r>
              <a:rPr lang="en-US" sz="3200" b="1" i="0" dirty="0">
                <a:solidFill>
                  <a:srgbClr val="333333"/>
                </a:solidFill>
                <a:effectLst/>
                <a:latin typeface="Gill Sans MT" panose="020B0502020104020203" pitchFamily="34" charset="0"/>
              </a:rPr>
              <a:t>(politics-neg)</a:t>
            </a:r>
          </a:p>
          <a:p>
            <a:pPr algn="l" fontAlgn="base">
              <a:buFont typeface="Arial" panose="020B0604020202020204" pitchFamily="34" charset="0"/>
              <a:buChar char="•"/>
            </a:pPr>
            <a:r>
              <a:rPr lang="en-US" sz="3200" b="0" i="0" dirty="0">
                <a:solidFill>
                  <a:srgbClr val="333333"/>
                </a:solidFill>
                <a:effectLst/>
                <a:latin typeface="Gill Sans MT" panose="020B0502020104020203" pitchFamily="34" charset="0"/>
              </a:rPr>
              <a:t>Immigration </a:t>
            </a:r>
            <a:r>
              <a:rPr lang="en-US" sz="3200" b="1" i="0" dirty="0">
                <a:solidFill>
                  <a:srgbClr val="333333"/>
                </a:solidFill>
                <a:effectLst/>
                <a:latin typeface="Gill Sans MT" panose="020B0502020104020203" pitchFamily="34" charset="0"/>
              </a:rPr>
              <a:t>(immigration)</a:t>
            </a:r>
          </a:p>
        </p:txBody>
      </p:sp>
      <p:sp>
        <p:nvSpPr>
          <p:cNvPr id="3" name="TextBox 2">
            <a:extLst>
              <a:ext uri="{FF2B5EF4-FFF2-40B4-BE49-F238E27FC236}">
                <a16:creationId xmlns:a16="http://schemas.microsoft.com/office/drawing/2014/main" id="{98CC54A1-412B-42B2-2B31-42A63E687C04}"/>
              </a:ext>
            </a:extLst>
          </p:cNvPr>
          <p:cNvSpPr txBox="1"/>
          <p:nvPr/>
        </p:nvSpPr>
        <p:spPr>
          <a:xfrm>
            <a:off x="323160" y="1696852"/>
            <a:ext cx="11222516" cy="1200329"/>
          </a:xfrm>
          <a:prstGeom prst="rect">
            <a:avLst/>
          </a:prstGeom>
          <a:noFill/>
        </p:spPr>
        <p:txBody>
          <a:bodyPr wrap="square">
            <a:spAutoFit/>
          </a:bodyPr>
          <a:lstStyle/>
          <a:p>
            <a:r>
              <a:rPr lang="en-US" sz="3600" dirty="0">
                <a:solidFill>
                  <a:srgbClr val="333333"/>
                </a:solidFill>
                <a:latin typeface="Gill Sans MT" panose="020B0502020104020203" pitchFamily="34" charset="0"/>
              </a:rPr>
              <a:t>- O</a:t>
            </a:r>
            <a:r>
              <a:rPr lang="en-US" sz="3600" b="0" i="0" dirty="0">
                <a:solidFill>
                  <a:srgbClr val="333333"/>
                </a:solidFill>
                <a:effectLst/>
                <a:latin typeface="Gill Sans MT" panose="020B0502020104020203" pitchFamily="34" charset="0"/>
              </a:rPr>
              <a:t>pen ended text response</a:t>
            </a:r>
          </a:p>
          <a:p>
            <a:r>
              <a:rPr lang="en-US" sz="3600" dirty="0">
                <a:solidFill>
                  <a:srgbClr val="333333"/>
                </a:solidFill>
                <a:latin typeface="Gill Sans MT" panose="020B0502020104020203" pitchFamily="34" charset="0"/>
              </a:rPr>
              <a:t>- We now want to group responses into issue categories</a:t>
            </a:r>
            <a:endParaRPr lang="en-GB" sz="3600" dirty="0">
              <a:latin typeface="Gill Sans MT" panose="020B0502020104020203" pitchFamily="34" charset="0"/>
            </a:endParaRPr>
          </a:p>
        </p:txBody>
      </p:sp>
      <p:sp>
        <p:nvSpPr>
          <p:cNvPr id="7" name="TextBox 6">
            <a:extLst>
              <a:ext uri="{FF2B5EF4-FFF2-40B4-BE49-F238E27FC236}">
                <a16:creationId xmlns:a16="http://schemas.microsoft.com/office/drawing/2014/main" id="{CAF969C1-8800-779A-3D5D-D5CB01CF81C5}"/>
              </a:ext>
            </a:extLst>
          </p:cNvPr>
          <p:cNvSpPr txBox="1"/>
          <p:nvPr/>
        </p:nvSpPr>
        <p:spPr>
          <a:xfrm>
            <a:off x="4498923" y="6475988"/>
            <a:ext cx="4912242" cy="369332"/>
          </a:xfrm>
          <a:prstGeom prst="rect">
            <a:avLst/>
          </a:prstGeom>
          <a:noFill/>
        </p:spPr>
        <p:txBody>
          <a:bodyPr wrap="square" rtlCol="0">
            <a:spAutoFit/>
          </a:bodyPr>
          <a:lstStyle/>
          <a:p>
            <a:r>
              <a:rPr lang="en-US" dirty="0">
                <a:latin typeface="Gill Sans MT" panose="020B0502020104020203" pitchFamily="34" charset="0"/>
              </a:rPr>
              <a:t>Source: </a:t>
            </a:r>
            <a:r>
              <a:rPr lang="en-US" dirty="0">
                <a:latin typeface="Gill Sans MT" panose="020B0502020104020203" pitchFamily="34" charset="0"/>
                <a:hlinkClick r:id="rId2"/>
              </a:rPr>
              <a:t>British Election Study</a:t>
            </a:r>
            <a:endParaRPr lang="en-GB" dirty="0">
              <a:latin typeface="Gill Sans MT" panose="020B0502020104020203" pitchFamily="34" charset="0"/>
            </a:endParaRPr>
          </a:p>
        </p:txBody>
      </p:sp>
    </p:spTree>
    <p:extLst>
      <p:ext uri="{BB962C8B-B14F-4D97-AF65-F5344CB8AC3E}">
        <p14:creationId xmlns:p14="http://schemas.microsoft.com/office/powerpoint/2010/main" val="115502636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43E54299-14F3-3B0B-2F65-13A94AEA13E7}"/>
              </a:ext>
            </a:extLst>
          </p:cNvPr>
          <p:cNvSpPr/>
          <p:nvPr/>
        </p:nvSpPr>
        <p:spPr>
          <a:xfrm>
            <a:off x="980501" y="136526"/>
            <a:ext cx="10322805" cy="1317701"/>
          </a:xfrm>
          <a:prstGeom prst="roundRect">
            <a:avLst/>
          </a:prstGeom>
          <a:solidFill>
            <a:schemeClr val="accent4">
              <a:alpha val="49000"/>
            </a:schemeClr>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GB" dirty="0"/>
          </a:p>
        </p:txBody>
      </p:sp>
      <p:sp>
        <p:nvSpPr>
          <p:cNvPr id="2" name="Slide Number Placeholder 1">
            <a:extLst>
              <a:ext uri="{FF2B5EF4-FFF2-40B4-BE49-F238E27FC236}">
                <a16:creationId xmlns:a16="http://schemas.microsoft.com/office/drawing/2014/main" id="{0F2E71D1-3976-3B5B-CB8E-5265583B18CF}"/>
              </a:ext>
            </a:extLst>
          </p:cNvPr>
          <p:cNvSpPr>
            <a:spLocks noGrp="1"/>
          </p:cNvSpPr>
          <p:nvPr>
            <p:ph type="sldNum" sz="quarter" idx="12"/>
          </p:nvPr>
        </p:nvSpPr>
        <p:spPr/>
        <p:txBody>
          <a:bodyPr/>
          <a:lstStyle/>
          <a:p>
            <a:fld id="{372769DB-CAE7-4C85-A9AF-7D4D8DE4CA22}" type="slidenum">
              <a:rPr lang="en-GB" smtClean="0"/>
              <a:t>56</a:t>
            </a:fld>
            <a:endParaRPr lang="en-GB" dirty="0"/>
          </a:p>
        </p:txBody>
      </p:sp>
      <p:sp>
        <p:nvSpPr>
          <p:cNvPr id="4" name="TextBox 3">
            <a:extLst>
              <a:ext uri="{FF2B5EF4-FFF2-40B4-BE49-F238E27FC236}">
                <a16:creationId xmlns:a16="http://schemas.microsoft.com/office/drawing/2014/main" id="{28B731DA-A037-6A0D-159D-9803FFEDA8EB}"/>
              </a:ext>
            </a:extLst>
          </p:cNvPr>
          <p:cNvSpPr txBox="1"/>
          <p:nvPr/>
        </p:nvSpPr>
        <p:spPr>
          <a:xfrm>
            <a:off x="1124990" y="136526"/>
            <a:ext cx="10322805" cy="1200329"/>
          </a:xfrm>
          <a:prstGeom prst="rect">
            <a:avLst/>
          </a:prstGeom>
          <a:noFill/>
        </p:spPr>
        <p:txBody>
          <a:bodyPr wrap="square">
            <a:spAutoFit/>
          </a:bodyPr>
          <a:lstStyle/>
          <a:p>
            <a:r>
              <a:rPr lang="en-US" sz="3600" b="0" i="0" dirty="0">
                <a:solidFill>
                  <a:srgbClr val="333333"/>
                </a:solidFill>
                <a:effectLst/>
                <a:latin typeface="Gill Sans MT" panose="020B0502020104020203" pitchFamily="34" charset="0"/>
              </a:rPr>
              <a:t>“What is the </a:t>
            </a:r>
            <a:r>
              <a:rPr lang="en-US" sz="3600" b="1" i="0" dirty="0">
                <a:solidFill>
                  <a:srgbClr val="333333"/>
                </a:solidFill>
                <a:effectLst/>
                <a:latin typeface="Gill Sans MT" panose="020B0502020104020203" pitchFamily="34" charset="0"/>
              </a:rPr>
              <a:t>singl</a:t>
            </a:r>
            <a:r>
              <a:rPr lang="en-US" sz="3600" b="1" dirty="0">
                <a:solidFill>
                  <a:srgbClr val="333333"/>
                </a:solidFill>
                <a:latin typeface="Gill Sans MT" panose="020B0502020104020203" pitchFamily="34" charset="0"/>
              </a:rPr>
              <a:t>e most </a:t>
            </a:r>
            <a:r>
              <a:rPr lang="en-US" sz="3600" b="0" i="0" dirty="0">
                <a:solidFill>
                  <a:srgbClr val="333333"/>
                </a:solidFill>
                <a:effectLst/>
                <a:latin typeface="Gill Sans MT" panose="020B0502020104020203" pitchFamily="34" charset="0"/>
              </a:rPr>
              <a:t>important issue facing the country at the present time?” </a:t>
            </a:r>
            <a:endParaRPr lang="en-GB" sz="3600" dirty="0">
              <a:latin typeface="Gill Sans MT" panose="020B0502020104020203" pitchFamily="34" charset="0"/>
            </a:endParaRPr>
          </a:p>
        </p:txBody>
      </p:sp>
      <p:sp>
        <p:nvSpPr>
          <p:cNvPr id="3" name="TextBox 2">
            <a:extLst>
              <a:ext uri="{FF2B5EF4-FFF2-40B4-BE49-F238E27FC236}">
                <a16:creationId xmlns:a16="http://schemas.microsoft.com/office/drawing/2014/main" id="{98CC54A1-412B-42B2-2B31-42A63E687C04}"/>
              </a:ext>
            </a:extLst>
          </p:cNvPr>
          <p:cNvSpPr txBox="1"/>
          <p:nvPr/>
        </p:nvSpPr>
        <p:spPr>
          <a:xfrm>
            <a:off x="675134" y="1832034"/>
            <a:ext cx="11222516" cy="4524315"/>
          </a:xfrm>
          <a:prstGeom prst="rect">
            <a:avLst/>
          </a:prstGeom>
          <a:noFill/>
        </p:spPr>
        <p:txBody>
          <a:bodyPr wrap="square">
            <a:spAutoFit/>
          </a:bodyPr>
          <a:lstStyle/>
          <a:p>
            <a:r>
              <a:rPr lang="en-US" sz="3600" dirty="0">
                <a:solidFill>
                  <a:srgbClr val="333333"/>
                </a:solidFill>
                <a:latin typeface="Gill Sans MT" panose="020B0502020104020203" pitchFamily="34" charset="0"/>
              </a:rPr>
              <a:t>What do you think would be the advantages, or issues we might face if we tried to code these responses by:</a:t>
            </a:r>
          </a:p>
          <a:p>
            <a:endParaRPr lang="en-US" sz="3600" b="1" dirty="0">
              <a:solidFill>
                <a:srgbClr val="333333"/>
              </a:solidFill>
              <a:latin typeface="Gill Sans MT" panose="020B0502020104020203" pitchFamily="34" charset="0"/>
            </a:endParaRPr>
          </a:p>
          <a:p>
            <a:pPr marL="742950" indent="-742950">
              <a:buFont typeface="+mj-lt"/>
              <a:buAutoNum type="arabicPeriod"/>
            </a:pPr>
            <a:r>
              <a:rPr lang="en-US" sz="3600" b="1" dirty="0">
                <a:solidFill>
                  <a:srgbClr val="333333"/>
                </a:solidFill>
                <a:latin typeface="Gill Sans MT" panose="020B0502020104020203" pitchFamily="34" charset="0"/>
              </a:rPr>
              <a:t>Labelling all the responses ourselves</a:t>
            </a:r>
          </a:p>
          <a:p>
            <a:pPr marL="742950" indent="-742950">
              <a:buFont typeface="+mj-lt"/>
              <a:buAutoNum type="arabicPeriod"/>
            </a:pPr>
            <a:r>
              <a:rPr lang="en-US" sz="3600" b="1" dirty="0">
                <a:solidFill>
                  <a:srgbClr val="333333"/>
                </a:solidFill>
                <a:latin typeface="Gill Sans MT" panose="020B0502020104020203" pitchFamily="34" charset="0"/>
              </a:rPr>
              <a:t>Having a team of 2 coders label the responses</a:t>
            </a:r>
          </a:p>
          <a:p>
            <a:pPr marL="742950" indent="-742950">
              <a:buFont typeface="+mj-lt"/>
              <a:buAutoNum type="arabicPeriod"/>
            </a:pPr>
            <a:r>
              <a:rPr lang="en-US" sz="3600" b="1" dirty="0">
                <a:solidFill>
                  <a:srgbClr val="333333"/>
                </a:solidFill>
                <a:latin typeface="Gill Sans MT" panose="020B0502020104020203" pitchFamily="34" charset="0"/>
              </a:rPr>
              <a:t>Using keyword searches to label each response</a:t>
            </a:r>
          </a:p>
          <a:p>
            <a:endParaRPr lang="en-US" sz="3600" dirty="0">
              <a:solidFill>
                <a:srgbClr val="333333"/>
              </a:solidFill>
              <a:latin typeface="Gill Sans MT" panose="020B0502020104020203" pitchFamily="34" charset="0"/>
            </a:endParaRPr>
          </a:p>
          <a:p>
            <a:pPr algn="ctr"/>
            <a:r>
              <a:rPr lang="en-GB" sz="3600" dirty="0">
                <a:latin typeface="Gill Sans MT" panose="020B0502020104020203" pitchFamily="34" charset="0"/>
              </a:rPr>
              <a:t>(Time, cost, validity, reliability)</a:t>
            </a:r>
          </a:p>
        </p:txBody>
      </p:sp>
    </p:spTree>
    <p:extLst>
      <p:ext uri="{BB962C8B-B14F-4D97-AF65-F5344CB8AC3E}">
        <p14:creationId xmlns:p14="http://schemas.microsoft.com/office/powerpoint/2010/main" val="274804295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407ACF5-1500-2508-0BB2-ABFE56BA1998}"/>
              </a:ext>
            </a:extLst>
          </p:cNvPr>
          <p:cNvSpPr>
            <a:spLocks noGrp="1"/>
          </p:cNvSpPr>
          <p:nvPr>
            <p:ph type="sldNum" sz="quarter" idx="12"/>
          </p:nvPr>
        </p:nvSpPr>
        <p:spPr/>
        <p:txBody>
          <a:bodyPr/>
          <a:lstStyle/>
          <a:p>
            <a:fld id="{372769DB-CAE7-4C85-A9AF-7D4D8DE4CA22}" type="slidenum">
              <a:rPr lang="en-GB" smtClean="0"/>
              <a:t>57</a:t>
            </a:fld>
            <a:endParaRPr lang="en-GB" dirty="0"/>
          </a:p>
        </p:txBody>
      </p:sp>
      <p:pic>
        <p:nvPicPr>
          <p:cNvPr id="6" name="Picture 5" descr="Two side-by-side scatter plots compare percentage agreement with original human coders for 50-category and 13-category MII coding across human, LLM, and supervised models. Human coders show highest agreement near 100%, LLMs decline notably with GPT-3.5-turbo and PaLM 2, while supervised models like DistilRoBERTa and Neural Net maintain moderate agreement, with SVM performing lowest.">
            <a:extLst>
              <a:ext uri="{FF2B5EF4-FFF2-40B4-BE49-F238E27FC236}">
                <a16:creationId xmlns:a16="http://schemas.microsoft.com/office/drawing/2014/main" id="{620F4034-F101-DD33-D82B-D31489E807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3786" y="0"/>
            <a:ext cx="9262454" cy="6469605"/>
          </a:xfrm>
          <a:prstGeom prst="rect">
            <a:avLst/>
          </a:prstGeom>
        </p:spPr>
      </p:pic>
      <p:sp>
        <p:nvSpPr>
          <p:cNvPr id="3" name="TextBox 2">
            <a:extLst>
              <a:ext uri="{FF2B5EF4-FFF2-40B4-BE49-F238E27FC236}">
                <a16:creationId xmlns:a16="http://schemas.microsoft.com/office/drawing/2014/main" id="{286D8897-6868-7DC4-5273-D4D6CB88D7B9}"/>
              </a:ext>
            </a:extLst>
          </p:cNvPr>
          <p:cNvSpPr txBox="1"/>
          <p:nvPr/>
        </p:nvSpPr>
        <p:spPr>
          <a:xfrm>
            <a:off x="172720" y="6356349"/>
            <a:ext cx="4947920" cy="369332"/>
          </a:xfrm>
          <a:prstGeom prst="rect">
            <a:avLst/>
          </a:prstGeom>
          <a:noFill/>
        </p:spPr>
        <p:txBody>
          <a:bodyPr wrap="square" rtlCol="0">
            <a:spAutoFit/>
          </a:bodyPr>
          <a:lstStyle/>
          <a:p>
            <a:r>
              <a:rPr lang="en-GB" dirty="0"/>
              <a:t>Source: Mellon et al (2024)</a:t>
            </a:r>
          </a:p>
        </p:txBody>
      </p:sp>
    </p:spTree>
    <p:extLst>
      <p:ext uri="{BB962C8B-B14F-4D97-AF65-F5344CB8AC3E}">
        <p14:creationId xmlns:p14="http://schemas.microsoft.com/office/powerpoint/2010/main" val="308759205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8D904BD-9CAD-0027-5BEF-591B6C02FF33}"/>
              </a:ext>
            </a:extLst>
          </p:cNvPr>
          <p:cNvSpPr>
            <a:spLocks noGrp="1"/>
          </p:cNvSpPr>
          <p:nvPr>
            <p:ph type="sldNum" sz="quarter" idx="12"/>
          </p:nvPr>
        </p:nvSpPr>
        <p:spPr/>
        <p:txBody>
          <a:bodyPr/>
          <a:lstStyle/>
          <a:p>
            <a:fld id="{372769DB-CAE7-4C85-A9AF-7D4D8DE4CA22}" type="slidenum">
              <a:rPr lang="en-GB" smtClean="0"/>
              <a:t>58</a:t>
            </a:fld>
            <a:endParaRPr lang="en-GB" dirty="0"/>
          </a:p>
        </p:txBody>
      </p:sp>
      <p:pic>
        <p:nvPicPr>
          <p:cNvPr id="4" name="Picture 3" descr="Screenshot of a research article titled &quot;Using large language models to analyze political texts through natural language understanding&quot; published in American Journal of Political Science. The article abstract discusses the use of large language models as scalable alternatives to human experts for analyzing political texts, highlighting their ability to generate meaningful estimates of party positions on key issues with high correlation to expert ratings.">
            <a:hlinkClick r:id="rId2"/>
            <a:extLst>
              <a:ext uri="{FF2B5EF4-FFF2-40B4-BE49-F238E27FC236}">
                <a16:creationId xmlns:a16="http://schemas.microsoft.com/office/drawing/2014/main" id="{4951D8AE-17A5-214B-69DD-F04675BEA1F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23060" y="232694"/>
            <a:ext cx="8777429" cy="6607011"/>
          </a:xfrm>
          <a:prstGeom prst="rect">
            <a:avLst/>
          </a:prstGeom>
        </p:spPr>
      </p:pic>
    </p:spTree>
    <p:extLst>
      <p:ext uri="{BB962C8B-B14F-4D97-AF65-F5344CB8AC3E}">
        <p14:creationId xmlns:p14="http://schemas.microsoft.com/office/powerpoint/2010/main" val="80076543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3FF69-B6E6-EE8B-67E5-EC76A1F75347}"/>
              </a:ext>
            </a:extLst>
          </p:cNvPr>
          <p:cNvSpPr>
            <a:spLocks noGrp="1"/>
          </p:cNvSpPr>
          <p:nvPr>
            <p:ph type="title"/>
          </p:nvPr>
        </p:nvSpPr>
        <p:spPr/>
        <p:txBody>
          <a:bodyPr/>
          <a:lstStyle/>
          <a:p>
            <a:r>
              <a:rPr lang="en-GB" dirty="0"/>
              <a:t>Computational text analysis</a:t>
            </a:r>
          </a:p>
        </p:txBody>
      </p:sp>
      <p:sp>
        <p:nvSpPr>
          <p:cNvPr id="3" name="Content Placeholder 2">
            <a:extLst>
              <a:ext uri="{FF2B5EF4-FFF2-40B4-BE49-F238E27FC236}">
                <a16:creationId xmlns:a16="http://schemas.microsoft.com/office/drawing/2014/main" id="{D72FFA1C-2DD8-D09B-8419-CE41DB06ADF0}"/>
              </a:ext>
            </a:extLst>
          </p:cNvPr>
          <p:cNvSpPr>
            <a:spLocks noGrp="1"/>
          </p:cNvSpPr>
          <p:nvPr>
            <p:ph idx="1"/>
          </p:nvPr>
        </p:nvSpPr>
        <p:spPr>
          <a:xfrm>
            <a:off x="838200" y="1825625"/>
            <a:ext cx="5633720" cy="4351338"/>
          </a:xfrm>
        </p:spPr>
        <p:txBody>
          <a:bodyPr/>
          <a:lstStyle/>
          <a:p>
            <a:pPr marL="0" indent="0">
              <a:buNone/>
            </a:pPr>
            <a:r>
              <a:rPr lang="en-GB" b="1" dirty="0"/>
              <a:t>Limitations</a:t>
            </a:r>
          </a:p>
          <a:p>
            <a:r>
              <a:rPr lang="en-GB" dirty="0"/>
              <a:t>Technical skills</a:t>
            </a:r>
          </a:p>
          <a:p>
            <a:r>
              <a:rPr lang="en-GB" dirty="0"/>
              <a:t>Training data quality/bias</a:t>
            </a:r>
          </a:p>
          <a:p>
            <a:r>
              <a:rPr lang="en-GB" dirty="0"/>
              <a:t>Requires validation</a:t>
            </a:r>
          </a:p>
        </p:txBody>
      </p:sp>
      <p:sp>
        <p:nvSpPr>
          <p:cNvPr id="5" name="Slide Number Placeholder 4">
            <a:extLst>
              <a:ext uri="{FF2B5EF4-FFF2-40B4-BE49-F238E27FC236}">
                <a16:creationId xmlns:a16="http://schemas.microsoft.com/office/drawing/2014/main" id="{759ECE30-0093-7048-0352-73A2799E3E61}"/>
              </a:ext>
            </a:extLst>
          </p:cNvPr>
          <p:cNvSpPr>
            <a:spLocks noGrp="1"/>
          </p:cNvSpPr>
          <p:nvPr>
            <p:ph type="sldNum" sz="quarter" idx="12"/>
          </p:nvPr>
        </p:nvSpPr>
        <p:spPr/>
        <p:txBody>
          <a:bodyPr/>
          <a:lstStyle/>
          <a:p>
            <a:fld id="{372769DB-CAE7-4C85-A9AF-7D4D8DE4CA22}" type="slidenum">
              <a:rPr lang="en-GB" smtClean="0"/>
              <a:t>59</a:t>
            </a:fld>
            <a:endParaRPr lang="en-GB" dirty="0"/>
          </a:p>
        </p:txBody>
      </p:sp>
      <p:sp>
        <p:nvSpPr>
          <p:cNvPr id="6" name="Content Placeholder 2">
            <a:extLst>
              <a:ext uri="{FF2B5EF4-FFF2-40B4-BE49-F238E27FC236}">
                <a16:creationId xmlns:a16="http://schemas.microsoft.com/office/drawing/2014/main" id="{BD5AC944-BD72-54C7-D9C1-E2EB5CD647CF}"/>
              </a:ext>
            </a:extLst>
          </p:cNvPr>
          <p:cNvSpPr txBox="1">
            <a:spLocks/>
          </p:cNvSpPr>
          <p:nvPr/>
        </p:nvSpPr>
        <p:spPr>
          <a:xfrm>
            <a:off x="6649720" y="1898561"/>
            <a:ext cx="563372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40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b="1" dirty="0"/>
              <a:t>Advantages</a:t>
            </a:r>
          </a:p>
          <a:p>
            <a:r>
              <a:rPr lang="en-GB" dirty="0"/>
              <a:t>Scalable</a:t>
            </a:r>
          </a:p>
          <a:p>
            <a:r>
              <a:rPr lang="en-GB" dirty="0"/>
              <a:t>Flexible</a:t>
            </a:r>
          </a:p>
          <a:p>
            <a:r>
              <a:rPr lang="en-GB" dirty="0"/>
              <a:t>Time and cost</a:t>
            </a:r>
          </a:p>
          <a:p>
            <a:endParaRPr lang="en-GB" dirty="0"/>
          </a:p>
        </p:txBody>
      </p:sp>
    </p:spTree>
    <p:extLst>
      <p:ext uri="{BB962C8B-B14F-4D97-AF65-F5344CB8AC3E}">
        <p14:creationId xmlns:p14="http://schemas.microsoft.com/office/powerpoint/2010/main" val="123321372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B9ADE-A94A-5BEA-351E-04FD4AD2BBDE}"/>
              </a:ext>
            </a:extLst>
          </p:cNvPr>
          <p:cNvSpPr>
            <a:spLocks noGrp="1"/>
          </p:cNvSpPr>
          <p:nvPr>
            <p:ph type="title"/>
          </p:nvPr>
        </p:nvSpPr>
        <p:spPr>
          <a:xfrm>
            <a:off x="1149484" y="2353625"/>
            <a:ext cx="9893031" cy="2626469"/>
          </a:xfrm>
        </p:spPr>
        <p:txBody>
          <a:bodyPr>
            <a:normAutofit fontScale="90000"/>
          </a:bodyPr>
          <a:lstStyle/>
          <a:p>
            <a:r>
              <a:rPr lang="en-GB" dirty="0"/>
              <a:t>Content analysis in </a:t>
            </a:r>
            <a:br>
              <a:rPr lang="en-GB" dirty="0"/>
            </a:br>
            <a:r>
              <a:rPr lang="en-GB" dirty="0"/>
              <a:t>academic research</a:t>
            </a:r>
            <a:br>
              <a:rPr lang="en-GB" dirty="0"/>
            </a:br>
            <a:br>
              <a:rPr lang="en-GB" dirty="0"/>
            </a:br>
            <a:r>
              <a:rPr lang="en-US" dirty="0"/>
              <a:t>Example 2</a:t>
            </a:r>
            <a:endParaRPr lang="en-GB" dirty="0"/>
          </a:p>
        </p:txBody>
      </p:sp>
    </p:spTree>
    <p:extLst>
      <p:ext uri="{BB962C8B-B14F-4D97-AF65-F5344CB8AC3E}">
        <p14:creationId xmlns:p14="http://schemas.microsoft.com/office/powerpoint/2010/main" val="13692856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A6EF386-5888-25B2-E490-14FD23D68644}"/>
              </a:ext>
            </a:extLst>
          </p:cNvPr>
          <p:cNvSpPr>
            <a:spLocks noGrp="1"/>
          </p:cNvSpPr>
          <p:nvPr>
            <p:ph type="sldNum" sz="quarter" idx="12"/>
          </p:nvPr>
        </p:nvSpPr>
        <p:spPr/>
        <p:txBody>
          <a:bodyPr/>
          <a:lstStyle/>
          <a:p>
            <a:fld id="{372769DB-CAE7-4C85-A9AF-7D4D8DE4CA22}" type="slidenum">
              <a:rPr lang="en-GB" smtClean="0"/>
              <a:t>61</a:t>
            </a:fld>
            <a:endParaRPr lang="en-GB" dirty="0"/>
          </a:p>
        </p:txBody>
      </p:sp>
      <p:pic>
        <p:nvPicPr>
          <p:cNvPr id="4" name="Picture 3" descr="Screenshot of a scholarly article titled &quot;What’s in a frame? A comparative content analysis of American, British, French, and Russian news articles&quot; published in the International Communication Gazette. The screenshot includes author names, affiliations, publication details, and a DOI link, highlighting the article's focus on cross-national media analysis.">
            <a:extLst>
              <a:ext uri="{FF2B5EF4-FFF2-40B4-BE49-F238E27FC236}">
                <a16:creationId xmlns:a16="http://schemas.microsoft.com/office/drawing/2014/main" id="{9C0FCCEE-97F5-53E5-C600-83F83BF918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13491" y="584790"/>
            <a:ext cx="8034679" cy="5397747"/>
          </a:xfrm>
          <a:prstGeom prst="rect">
            <a:avLst/>
          </a:prstGeom>
        </p:spPr>
      </p:pic>
    </p:spTree>
    <p:extLst>
      <p:ext uri="{BB962C8B-B14F-4D97-AF65-F5344CB8AC3E}">
        <p14:creationId xmlns:p14="http://schemas.microsoft.com/office/powerpoint/2010/main" val="47900075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6EF09DE-8D71-E3E4-7439-35E4B8BB6C6F}"/>
              </a:ext>
            </a:extLst>
          </p:cNvPr>
          <p:cNvSpPr/>
          <p:nvPr/>
        </p:nvSpPr>
        <p:spPr>
          <a:xfrm>
            <a:off x="0" y="0"/>
            <a:ext cx="12192000" cy="1154096"/>
          </a:xfrm>
          <a:prstGeom prst="rect">
            <a:avLst/>
          </a:prstGeom>
          <a:solidFill>
            <a:srgbClr val="F69B36"/>
          </a:solidFill>
          <a:ln>
            <a:solidFill>
              <a:srgbClr val="F69B3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6" name="Picture 5" descr="A close-up of a text&#10;&#10;Description automatically generated">
            <a:extLst>
              <a:ext uri="{FF2B5EF4-FFF2-40B4-BE49-F238E27FC236}">
                <a16:creationId xmlns:a16="http://schemas.microsoft.com/office/drawing/2014/main" id="{B229A458-AC76-4B66-AF87-2076CECA4D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26912" y="1423623"/>
            <a:ext cx="6865088" cy="3228841"/>
          </a:xfrm>
          <a:prstGeom prst="rect">
            <a:avLst/>
          </a:prstGeom>
        </p:spPr>
      </p:pic>
      <p:sp>
        <p:nvSpPr>
          <p:cNvPr id="2" name="Title 1">
            <a:extLst>
              <a:ext uri="{FF2B5EF4-FFF2-40B4-BE49-F238E27FC236}">
                <a16:creationId xmlns:a16="http://schemas.microsoft.com/office/drawing/2014/main" id="{C9B7C235-1045-1522-B359-5A0D3967485A}"/>
              </a:ext>
            </a:extLst>
          </p:cNvPr>
          <p:cNvSpPr>
            <a:spLocks noGrp="1"/>
          </p:cNvSpPr>
          <p:nvPr>
            <p:ph type="title"/>
          </p:nvPr>
        </p:nvSpPr>
        <p:spPr/>
        <p:txBody>
          <a:bodyPr/>
          <a:lstStyle/>
          <a:p>
            <a:r>
              <a:rPr lang="en-US" dirty="0" err="1"/>
              <a:t>Godefroidt</a:t>
            </a:r>
            <a:r>
              <a:rPr lang="en-US" dirty="0"/>
              <a:t> et al. (2016)</a:t>
            </a:r>
            <a:endParaRPr lang="en-GB" dirty="0"/>
          </a:p>
        </p:txBody>
      </p:sp>
      <p:sp>
        <p:nvSpPr>
          <p:cNvPr id="3" name="Content Placeholder 2">
            <a:extLst>
              <a:ext uri="{FF2B5EF4-FFF2-40B4-BE49-F238E27FC236}">
                <a16:creationId xmlns:a16="http://schemas.microsoft.com/office/drawing/2014/main" id="{21DB776C-8C2D-FE9D-3F01-891DC664CCE1}"/>
              </a:ext>
            </a:extLst>
          </p:cNvPr>
          <p:cNvSpPr>
            <a:spLocks noGrp="1"/>
          </p:cNvSpPr>
          <p:nvPr>
            <p:ph idx="1"/>
          </p:nvPr>
        </p:nvSpPr>
        <p:spPr>
          <a:xfrm>
            <a:off x="611334" y="2115694"/>
            <a:ext cx="10515600" cy="4351338"/>
          </a:xfrm>
        </p:spPr>
        <p:txBody>
          <a:bodyPr>
            <a:normAutofit lnSpcReduction="10000"/>
          </a:bodyPr>
          <a:lstStyle/>
          <a:p>
            <a:r>
              <a:rPr lang="en-US" b="1" dirty="0"/>
              <a:t>Agenda setting</a:t>
            </a:r>
          </a:p>
          <a:p>
            <a:r>
              <a:rPr lang="en-US" b="1" dirty="0"/>
              <a:t>Framing</a:t>
            </a:r>
          </a:p>
          <a:p>
            <a:endParaRPr lang="en-US" dirty="0"/>
          </a:p>
          <a:p>
            <a:endParaRPr lang="en-US" dirty="0"/>
          </a:p>
          <a:p>
            <a:r>
              <a:rPr lang="en-US" b="1" dirty="0"/>
              <a:t>Deductive quantitative </a:t>
            </a:r>
            <a:r>
              <a:rPr lang="en-US" dirty="0"/>
              <a:t>content analysis</a:t>
            </a:r>
          </a:p>
          <a:p>
            <a:r>
              <a:rPr lang="en-US" dirty="0"/>
              <a:t>News coverage of </a:t>
            </a:r>
            <a:r>
              <a:rPr lang="en-US" b="1" dirty="0"/>
              <a:t>Syrian civil war</a:t>
            </a:r>
            <a:endParaRPr lang="en-GB" b="1" dirty="0"/>
          </a:p>
          <a:p>
            <a:r>
              <a:rPr lang="en-GB" dirty="0"/>
              <a:t>Before and after </a:t>
            </a:r>
            <a:r>
              <a:rPr lang="en-GB" b="1" dirty="0"/>
              <a:t>chemical weapons attack</a:t>
            </a:r>
            <a:endParaRPr lang="en-US" b="1" dirty="0"/>
          </a:p>
        </p:txBody>
      </p:sp>
      <p:sp>
        <p:nvSpPr>
          <p:cNvPr id="5" name="Slide Number Placeholder 4">
            <a:extLst>
              <a:ext uri="{FF2B5EF4-FFF2-40B4-BE49-F238E27FC236}">
                <a16:creationId xmlns:a16="http://schemas.microsoft.com/office/drawing/2014/main" id="{26028601-A444-1F3A-EDD9-38A7CB3A16D7}"/>
              </a:ext>
            </a:extLst>
          </p:cNvPr>
          <p:cNvSpPr>
            <a:spLocks noGrp="1"/>
          </p:cNvSpPr>
          <p:nvPr>
            <p:ph type="sldNum" sz="quarter" idx="12"/>
          </p:nvPr>
        </p:nvSpPr>
        <p:spPr/>
        <p:txBody>
          <a:bodyPr/>
          <a:lstStyle/>
          <a:p>
            <a:fld id="{372769DB-CAE7-4C85-A9AF-7D4D8DE4CA22}" type="slidenum">
              <a:rPr lang="en-GB" smtClean="0"/>
              <a:t>62</a:t>
            </a:fld>
            <a:endParaRPr lang="en-GB" dirty="0"/>
          </a:p>
        </p:txBody>
      </p:sp>
    </p:spTree>
    <p:extLst>
      <p:ext uri="{BB962C8B-B14F-4D97-AF65-F5344CB8AC3E}">
        <p14:creationId xmlns:p14="http://schemas.microsoft.com/office/powerpoint/2010/main" val="421302611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4AD523A-4332-10E5-BC7A-ACA2336EC914}"/>
              </a:ext>
            </a:extLst>
          </p:cNvPr>
          <p:cNvSpPr/>
          <p:nvPr/>
        </p:nvSpPr>
        <p:spPr>
          <a:xfrm>
            <a:off x="0" y="0"/>
            <a:ext cx="12192000" cy="1154096"/>
          </a:xfrm>
          <a:prstGeom prst="rect">
            <a:avLst/>
          </a:prstGeom>
          <a:solidFill>
            <a:srgbClr val="F69B36"/>
          </a:solidFill>
          <a:ln>
            <a:solidFill>
              <a:srgbClr val="F69B3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C9B7C235-1045-1522-B359-5A0D3967485A}"/>
              </a:ext>
            </a:extLst>
          </p:cNvPr>
          <p:cNvSpPr>
            <a:spLocks noGrp="1"/>
          </p:cNvSpPr>
          <p:nvPr>
            <p:ph type="title"/>
          </p:nvPr>
        </p:nvSpPr>
        <p:spPr/>
        <p:txBody>
          <a:bodyPr/>
          <a:lstStyle/>
          <a:p>
            <a:r>
              <a:rPr lang="en-US" dirty="0"/>
              <a:t>Research Questions</a:t>
            </a:r>
            <a:endParaRPr lang="en-GB" dirty="0"/>
          </a:p>
        </p:txBody>
      </p:sp>
      <p:sp>
        <p:nvSpPr>
          <p:cNvPr id="5" name="Slide Number Placeholder 4">
            <a:extLst>
              <a:ext uri="{FF2B5EF4-FFF2-40B4-BE49-F238E27FC236}">
                <a16:creationId xmlns:a16="http://schemas.microsoft.com/office/drawing/2014/main" id="{26028601-A444-1F3A-EDD9-38A7CB3A16D7}"/>
              </a:ext>
            </a:extLst>
          </p:cNvPr>
          <p:cNvSpPr>
            <a:spLocks noGrp="1"/>
          </p:cNvSpPr>
          <p:nvPr>
            <p:ph type="sldNum" sz="quarter" idx="12"/>
          </p:nvPr>
        </p:nvSpPr>
        <p:spPr/>
        <p:txBody>
          <a:bodyPr/>
          <a:lstStyle/>
          <a:p>
            <a:fld id="{372769DB-CAE7-4C85-A9AF-7D4D8DE4CA22}" type="slidenum">
              <a:rPr lang="en-GB" smtClean="0"/>
              <a:t>63</a:t>
            </a:fld>
            <a:endParaRPr lang="en-GB" dirty="0"/>
          </a:p>
        </p:txBody>
      </p:sp>
      <p:sp>
        <p:nvSpPr>
          <p:cNvPr id="4" name="Content Placeholder 2">
            <a:extLst>
              <a:ext uri="{FF2B5EF4-FFF2-40B4-BE49-F238E27FC236}">
                <a16:creationId xmlns:a16="http://schemas.microsoft.com/office/drawing/2014/main" id="{95FF0E67-487F-424E-25F5-64C8E1ED27D5}"/>
              </a:ext>
            </a:extLst>
          </p:cNvPr>
          <p:cNvSpPr txBox="1">
            <a:spLocks/>
          </p:cNvSpPr>
          <p:nvPr/>
        </p:nvSpPr>
        <p:spPr>
          <a:xfrm>
            <a:off x="324255" y="1595424"/>
            <a:ext cx="8340518" cy="49506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40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buFont typeface="+mj-lt"/>
              <a:buAutoNum type="arabicPeriod"/>
            </a:pPr>
            <a:r>
              <a:rPr lang="en-US" sz="3600" b="1" dirty="0"/>
              <a:t>How much attention is paid to the Syrian war in newspaper coverage?</a:t>
            </a:r>
          </a:p>
          <a:p>
            <a:pPr marL="514350" indent="-514350">
              <a:buFont typeface="+mj-lt"/>
              <a:buAutoNum type="arabicPeriod"/>
            </a:pPr>
            <a:endParaRPr lang="en-US" sz="3600" b="1" dirty="0"/>
          </a:p>
          <a:p>
            <a:pPr marL="514350" indent="-514350">
              <a:buFont typeface="+mj-lt"/>
              <a:buAutoNum type="arabicPeriod"/>
            </a:pPr>
            <a:r>
              <a:rPr lang="en-US" sz="3600" b="1" dirty="0"/>
              <a:t>Which news frames do the newspapers frequently apply?</a:t>
            </a:r>
          </a:p>
          <a:p>
            <a:pPr marL="514350" indent="-514350">
              <a:buFont typeface="+mj-lt"/>
              <a:buAutoNum type="arabicPeriod"/>
            </a:pPr>
            <a:endParaRPr lang="en-US" sz="3600" b="1" dirty="0"/>
          </a:p>
          <a:p>
            <a:pPr marL="514350" indent="-514350">
              <a:buFont typeface="+mj-lt"/>
              <a:buAutoNum type="arabicPeriod"/>
            </a:pPr>
            <a:r>
              <a:rPr lang="en-US" sz="3600" b="1" dirty="0"/>
              <a:t>How are blame and solutions included in these frames?</a:t>
            </a:r>
            <a:endParaRPr lang="en-US" sz="3600" dirty="0"/>
          </a:p>
        </p:txBody>
      </p:sp>
    </p:spTree>
    <p:extLst>
      <p:ext uri="{BB962C8B-B14F-4D97-AF65-F5344CB8AC3E}">
        <p14:creationId xmlns:p14="http://schemas.microsoft.com/office/powerpoint/2010/main" val="352882986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490259A-5828-CB7A-11C5-0F8785FD339B}"/>
              </a:ext>
            </a:extLst>
          </p:cNvPr>
          <p:cNvSpPr/>
          <p:nvPr/>
        </p:nvSpPr>
        <p:spPr>
          <a:xfrm>
            <a:off x="0" y="0"/>
            <a:ext cx="12192000" cy="1154096"/>
          </a:xfrm>
          <a:prstGeom prst="rect">
            <a:avLst/>
          </a:prstGeom>
          <a:solidFill>
            <a:srgbClr val="F69B36"/>
          </a:solidFill>
          <a:ln>
            <a:solidFill>
              <a:srgbClr val="F69B3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C9B7C235-1045-1522-B359-5A0D3967485A}"/>
              </a:ext>
            </a:extLst>
          </p:cNvPr>
          <p:cNvSpPr>
            <a:spLocks noGrp="1"/>
          </p:cNvSpPr>
          <p:nvPr>
            <p:ph type="title"/>
          </p:nvPr>
        </p:nvSpPr>
        <p:spPr/>
        <p:txBody>
          <a:bodyPr/>
          <a:lstStyle/>
          <a:p>
            <a:r>
              <a:rPr lang="en-US" dirty="0"/>
              <a:t>Case selection</a:t>
            </a:r>
            <a:endParaRPr lang="en-GB" dirty="0"/>
          </a:p>
        </p:txBody>
      </p:sp>
      <p:sp>
        <p:nvSpPr>
          <p:cNvPr id="3" name="Content Placeholder 2">
            <a:extLst>
              <a:ext uri="{FF2B5EF4-FFF2-40B4-BE49-F238E27FC236}">
                <a16:creationId xmlns:a16="http://schemas.microsoft.com/office/drawing/2014/main" id="{21DB776C-8C2D-FE9D-3F01-891DC664CCE1}"/>
              </a:ext>
            </a:extLst>
          </p:cNvPr>
          <p:cNvSpPr>
            <a:spLocks noGrp="1"/>
          </p:cNvSpPr>
          <p:nvPr>
            <p:ph idx="1"/>
          </p:nvPr>
        </p:nvSpPr>
        <p:spPr>
          <a:xfrm>
            <a:off x="182101" y="1753335"/>
            <a:ext cx="6273783" cy="3282155"/>
          </a:xfrm>
        </p:spPr>
        <p:txBody>
          <a:bodyPr>
            <a:normAutofit/>
          </a:bodyPr>
          <a:lstStyle/>
          <a:p>
            <a:r>
              <a:rPr lang="en-US" sz="3600" b="1" dirty="0"/>
              <a:t>New York Times </a:t>
            </a:r>
            <a:r>
              <a:rPr lang="en-US" sz="3600" dirty="0"/>
              <a:t>(US)</a:t>
            </a:r>
          </a:p>
          <a:p>
            <a:r>
              <a:rPr lang="en-US" sz="3600" b="1" dirty="0"/>
              <a:t>The Telegraph </a:t>
            </a:r>
            <a:r>
              <a:rPr lang="en-US" sz="3600" dirty="0"/>
              <a:t>(UK)</a:t>
            </a:r>
          </a:p>
          <a:p>
            <a:r>
              <a:rPr lang="en-US" sz="3600" b="1" dirty="0"/>
              <a:t>Le Figaro </a:t>
            </a:r>
            <a:r>
              <a:rPr lang="en-US" sz="3600" dirty="0"/>
              <a:t>(France)</a:t>
            </a:r>
          </a:p>
          <a:p>
            <a:r>
              <a:rPr lang="en-US" sz="3600" b="1" dirty="0"/>
              <a:t>The Moscow Times </a:t>
            </a:r>
            <a:r>
              <a:rPr lang="en-US" sz="3600" dirty="0"/>
              <a:t>(Russia)</a:t>
            </a:r>
          </a:p>
        </p:txBody>
      </p:sp>
      <p:sp>
        <p:nvSpPr>
          <p:cNvPr id="5" name="Slide Number Placeholder 4">
            <a:extLst>
              <a:ext uri="{FF2B5EF4-FFF2-40B4-BE49-F238E27FC236}">
                <a16:creationId xmlns:a16="http://schemas.microsoft.com/office/drawing/2014/main" id="{26028601-A444-1F3A-EDD9-38A7CB3A16D7}"/>
              </a:ext>
            </a:extLst>
          </p:cNvPr>
          <p:cNvSpPr>
            <a:spLocks noGrp="1"/>
          </p:cNvSpPr>
          <p:nvPr>
            <p:ph type="sldNum" sz="quarter" idx="12"/>
          </p:nvPr>
        </p:nvSpPr>
        <p:spPr/>
        <p:txBody>
          <a:bodyPr/>
          <a:lstStyle/>
          <a:p>
            <a:fld id="{372769DB-CAE7-4C85-A9AF-7D4D8DE4CA22}" type="slidenum">
              <a:rPr lang="en-GB" smtClean="0"/>
              <a:t>64</a:t>
            </a:fld>
            <a:endParaRPr lang="en-GB" dirty="0"/>
          </a:p>
        </p:txBody>
      </p:sp>
      <p:sp>
        <p:nvSpPr>
          <p:cNvPr id="4" name="Content Placeholder 2">
            <a:extLst>
              <a:ext uri="{FF2B5EF4-FFF2-40B4-BE49-F238E27FC236}">
                <a16:creationId xmlns:a16="http://schemas.microsoft.com/office/drawing/2014/main" id="{95FF0E67-487F-424E-25F5-64C8E1ED27D5}"/>
              </a:ext>
            </a:extLst>
          </p:cNvPr>
          <p:cNvSpPr txBox="1">
            <a:spLocks/>
          </p:cNvSpPr>
          <p:nvPr/>
        </p:nvSpPr>
        <p:spPr>
          <a:xfrm>
            <a:off x="409781" y="4989490"/>
            <a:ext cx="11600118" cy="446115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40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3200" dirty="0"/>
              <a:t>Articles containing the following words:</a:t>
            </a:r>
          </a:p>
          <a:p>
            <a:pPr marL="0" indent="0">
              <a:buFont typeface="Arial" panose="020B0604020202020204" pitchFamily="34" charset="0"/>
              <a:buNone/>
            </a:pPr>
            <a:r>
              <a:rPr lang="en-US" sz="3200" b="1" dirty="0">
                <a:solidFill>
                  <a:srgbClr val="0070C0"/>
                </a:solidFill>
              </a:rPr>
              <a:t>uprising, rebellion, revolt, revolution, crisis, rebel, fight, war, or civil war and Syria, Syrian, or Assad </a:t>
            </a:r>
          </a:p>
        </p:txBody>
      </p:sp>
      <p:sp>
        <p:nvSpPr>
          <p:cNvPr id="9" name="Content Placeholder 2">
            <a:extLst>
              <a:ext uri="{FF2B5EF4-FFF2-40B4-BE49-F238E27FC236}">
                <a16:creationId xmlns:a16="http://schemas.microsoft.com/office/drawing/2014/main" id="{68607747-9640-9E14-1C5E-5BF628C103B4}"/>
              </a:ext>
            </a:extLst>
          </p:cNvPr>
          <p:cNvSpPr txBox="1">
            <a:spLocks/>
          </p:cNvSpPr>
          <p:nvPr/>
        </p:nvSpPr>
        <p:spPr>
          <a:xfrm>
            <a:off x="7401641" y="5076537"/>
            <a:ext cx="4466104" cy="104371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40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3600" dirty="0"/>
          </a:p>
        </p:txBody>
      </p:sp>
      <p:sp>
        <p:nvSpPr>
          <p:cNvPr id="8" name="Content Placeholder 2">
            <a:extLst>
              <a:ext uri="{FF2B5EF4-FFF2-40B4-BE49-F238E27FC236}">
                <a16:creationId xmlns:a16="http://schemas.microsoft.com/office/drawing/2014/main" id="{0D2BCEAC-1FA9-35F7-4932-7A6C597A06A4}"/>
              </a:ext>
            </a:extLst>
          </p:cNvPr>
          <p:cNvSpPr txBox="1">
            <a:spLocks/>
          </p:cNvSpPr>
          <p:nvPr/>
        </p:nvSpPr>
        <p:spPr>
          <a:xfrm>
            <a:off x="6923209" y="1737267"/>
            <a:ext cx="9889071" cy="423490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40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3600" b="1" dirty="0"/>
              <a:t>July-October 2013</a:t>
            </a:r>
            <a:endParaRPr lang="en-US" sz="3600" dirty="0"/>
          </a:p>
          <a:p>
            <a:r>
              <a:rPr lang="en-US" sz="3600" dirty="0"/>
              <a:t>Random sample 42 days </a:t>
            </a:r>
          </a:p>
          <a:p>
            <a:r>
              <a:rPr lang="en-US" sz="3600" dirty="0"/>
              <a:t>574 articles</a:t>
            </a:r>
          </a:p>
          <a:p>
            <a:r>
              <a:rPr lang="en-US" sz="3600" dirty="0"/>
              <a:t>Inter-coder checks</a:t>
            </a:r>
          </a:p>
        </p:txBody>
      </p:sp>
    </p:spTree>
    <p:extLst>
      <p:ext uri="{BB962C8B-B14F-4D97-AF65-F5344CB8AC3E}">
        <p14:creationId xmlns:p14="http://schemas.microsoft.com/office/powerpoint/2010/main" val="170289750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0FC04B6-28E1-9960-BEEC-F771633CE868}"/>
              </a:ext>
            </a:extLst>
          </p:cNvPr>
          <p:cNvSpPr>
            <a:spLocks noGrp="1"/>
          </p:cNvSpPr>
          <p:nvPr>
            <p:ph type="sldNum" sz="quarter" idx="12"/>
          </p:nvPr>
        </p:nvSpPr>
        <p:spPr/>
        <p:txBody>
          <a:bodyPr/>
          <a:lstStyle/>
          <a:p>
            <a:fld id="{372769DB-CAE7-4C85-A9AF-7D4D8DE4CA22}" type="slidenum">
              <a:rPr lang="en-GB" smtClean="0"/>
              <a:t>65</a:t>
            </a:fld>
            <a:endParaRPr lang="en-GB" dirty="0"/>
          </a:p>
        </p:txBody>
      </p:sp>
      <p:pic>
        <p:nvPicPr>
          <p:cNvPr id="4" name="Picture 3" descr="Table presenting factor loadings for framing items related to conflict and human interest frames across six factors labeled C, HI, EC, M, R, and N. Conflict frame items show highest loadings on factor C (up to .743), while human interest frame items load strongly on factor HI (up to .811), indicating distinct factor structures for each frame type.">
            <a:extLst>
              <a:ext uri="{FF2B5EF4-FFF2-40B4-BE49-F238E27FC236}">
                <a16:creationId xmlns:a16="http://schemas.microsoft.com/office/drawing/2014/main" id="{440BDE71-3D86-DD71-F497-5B1417A637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56392" y="67291"/>
            <a:ext cx="8665534" cy="6723418"/>
          </a:xfrm>
          <a:prstGeom prst="rect">
            <a:avLst/>
          </a:prstGeom>
        </p:spPr>
      </p:pic>
    </p:spTree>
    <p:extLst>
      <p:ext uri="{BB962C8B-B14F-4D97-AF65-F5344CB8AC3E}">
        <p14:creationId xmlns:p14="http://schemas.microsoft.com/office/powerpoint/2010/main" val="178404741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8BD6B31-0251-0E6D-7957-2F4D51465386}"/>
              </a:ext>
            </a:extLst>
          </p:cNvPr>
          <p:cNvSpPr/>
          <p:nvPr/>
        </p:nvSpPr>
        <p:spPr>
          <a:xfrm>
            <a:off x="0" y="0"/>
            <a:ext cx="12192000" cy="1154096"/>
          </a:xfrm>
          <a:prstGeom prst="rect">
            <a:avLst/>
          </a:prstGeom>
          <a:solidFill>
            <a:srgbClr val="F69B36"/>
          </a:solidFill>
          <a:ln>
            <a:solidFill>
              <a:srgbClr val="F69B3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C9B7C235-1045-1522-B359-5A0D3967485A}"/>
              </a:ext>
            </a:extLst>
          </p:cNvPr>
          <p:cNvSpPr>
            <a:spLocks noGrp="1"/>
          </p:cNvSpPr>
          <p:nvPr>
            <p:ph type="title"/>
          </p:nvPr>
        </p:nvSpPr>
        <p:spPr/>
        <p:txBody>
          <a:bodyPr/>
          <a:lstStyle/>
          <a:p>
            <a:r>
              <a:rPr lang="en-US" dirty="0"/>
              <a:t>Results</a:t>
            </a:r>
            <a:endParaRPr lang="en-GB" dirty="0"/>
          </a:p>
        </p:txBody>
      </p:sp>
      <p:sp>
        <p:nvSpPr>
          <p:cNvPr id="3" name="Content Placeholder 2">
            <a:extLst>
              <a:ext uri="{FF2B5EF4-FFF2-40B4-BE49-F238E27FC236}">
                <a16:creationId xmlns:a16="http://schemas.microsoft.com/office/drawing/2014/main" id="{21DB776C-8C2D-FE9D-3F01-891DC664CCE1}"/>
              </a:ext>
            </a:extLst>
          </p:cNvPr>
          <p:cNvSpPr>
            <a:spLocks noGrp="1"/>
          </p:cNvSpPr>
          <p:nvPr>
            <p:ph idx="1"/>
          </p:nvPr>
        </p:nvSpPr>
        <p:spPr>
          <a:xfrm>
            <a:off x="4526266" y="1787734"/>
            <a:ext cx="4020239" cy="4351338"/>
          </a:xfrm>
        </p:spPr>
        <p:txBody>
          <a:bodyPr>
            <a:normAutofit/>
          </a:bodyPr>
          <a:lstStyle/>
          <a:p>
            <a:pPr marL="0" indent="0">
              <a:buNone/>
            </a:pPr>
            <a:r>
              <a:rPr lang="en-US" sz="3600" b="1" dirty="0"/>
              <a:t>Downplayed</a:t>
            </a:r>
          </a:p>
          <a:p>
            <a:r>
              <a:rPr lang="en-US" sz="3600" dirty="0"/>
              <a:t>Morality</a:t>
            </a:r>
          </a:p>
          <a:p>
            <a:r>
              <a:rPr lang="en-US" sz="3600" dirty="0"/>
              <a:t>Human interest</a:t>
            </a:r>
          </a:p>
          <a:p>
            <a:r>
              <a:rPr lang="en-US" sz="3600" dirty="0"/>
              <a:t>Economic impact</a:t>
            </a:r>
          </a:p>
        </p:txBody>
      </p:sp>
      <p:sp>
        <p:nvSpPr>
          <p:cNvPr id="5" name="Slide Number Placeholder 4">
            <a:extLst>
              <a:ext uri="{FF2B5EF4-FFF2-40B4-BE49-F238E27FC236}">
                <a16:creationId xmlns:a16="http://schemas.microsoft.com/office/drawing/2014/main" id="{26028601-A444-1F3A-EDD9-38A7CB3A16D7}"/>
              </a:ext>
            </a:extLst>
          </p:cNvPr>
          <p:cNvSpPr>
            <a:spLocks noGrp="1"/>
          </p:cNvSpPr>
          <p:nvPr>
            <p:ph type="sldNum" sz="quarter" idx="12"/>
          </p:nvPr>
        </p:nvSpPr>
        <p:spPr/>
        <p:txBody>
          <a:bodyPr/>
          <a:lstStyle/>
          <a:p>
            <a:fld id="{372769DB-CAE7-4C85-A9AF-7D4D8DE4CA22}" type="slidenum">
              <a:rPr lang="en-GB" smtClean="0"/>
              <a:t>66</a:t>
            </a:fld>
            <a:endParaRPr lang="en-GB" dirty="0"/>
          </a:p>
        </p:txBody>
      </p:sp>
      <p:sp>
        <p:nvSpPr>
          <p:cNvPr id="6" name="Content Placeholder 2">
            <a:extLst>
              <a:ext uri="{FF2B5EF4-FFF2-40B4-BE49-F238E27FC236}">
                <a16:creationId xmlns:a16="http://schemas.microsoft.com/office/drawing/2014/main" id="{0DBD4F93-8D72-5C22-E68D-4B4D13269247}"/>
              </a:ext>
            </a:extLst>
          </p:cNvPr>
          <p:cNvSpPr txBox="1">
            <a:spLocks/>
          </p:cNvSpPr>
          <p:nvPr/>
        </p:nvSpPr>
        <p:spPr>
          <a:xfrm>
            <a:off x="506027" y="1787734"/>
            <a:ext cx="4020239"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40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3600" b="1" dirty="0" err="1"/>
              <a:t>Emphasised</a:t>
            </a:r>
            <a:endParaRPr lang="en-US" sz="3600" b="1" dirty="0"/>
          </a:p>
          <a:p>
            <a:r>
              <a:rPr lang="en-US" sz="3600" dirty="0" err="1"/>
              <a:t>Nationalisation</a:t>
            </a:r>
            <a:endParaRPr lang="en-US" sz="3600" dirty="0"/>
          </a:p>
          <a:p>
            <a:r>
              <a:rPr lang="en-US" sz="3600" dirty="0"/>
              <a:t>Responsibility</a:t>
            </a:r>
          </a:p>
          <a:p>
            <a:r>
              <a:rPr lang="en-US" sz="3600" dirty="0"/>
              <a:t>Conflict</a:t>
            </a:r>
          </a:p>
        </p:txBody>
      </p:sp>
      <p:sp>
        <p:nvSpPr>
          <p:cNvPr id="7" name="Content Placeholder 2">
            <a:extLst>
              <a:ext uri="{FF2B5EF4-FFF2-40B4-BE49-F238E27FC236}">
                <a16:creationId xmlns:a16="http://schemas.microsoft.com/office/drawing/2014/main" id="{1ABC461C-C050-0813-716C-506529E87323}"/>
              </a:ext>
            </a:extLst>
          </p:cNvPr>
          <p:cNvSpPr txBox="1">
            <a:spLocks/>
          </p:cNvSpPr>
          <p:nvPr/>
        </p:nvSpPr>
        <p:spPr>
          <a:xfrm>
            <a:off x="341694" y="5222250"/>
            <a:ext cx="12014637" cy="396241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40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600" b="1" dirty="0"/>
              <a:t>Lack of wider context in reporting</a:t>
            </a:r>
          </a:p>
          <a:p>
            <a:r>
              <a:rPr lang="en-US" sz="3600" b="1" dirty="0"/>
              <a:t>Solutions discussed in line with government aims</a:t>
            </a:r>
          </a:p>
        </p:txBody>
      </p:sp>
    </p:spTree>
    <p:extLst>
      <p:ext uri="{BB962C8B-B14F-4D97-AF65-F5344CB8AC3E}">
        <p14:creationId xmlns:p14="http://schemas.microsoft.com/office/powerpoint/2010/main" val="339936923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4CAD0-51CB-D746-8BBE-4EDD0B95AE7B}"/>
              </a:ext>
            </a:extLst>
          </p:cNvPr>
          <p:cNvSpPr>
            <a:spLocks noGrp="1"/>
          </p:cNvSpPr>
          <p:nvPr>
            <p:ph type="ctrTitle"/>
          </p:nvPr>
        </p:nvSpPr>
        <p:spPr/>
        <p:txBody>
          <a:bodyPr/>
          <a:lstStyle/>
          <a:p>
            <a:r>
              <a:rPr lang="en-US" dirty="0"/>
              <a:t>Week 11 &amp; Exam Prep</a:t>
            </a:r>
            <a:endParaRPr lang="en-GB" dirty="0"/>
          </a:p>
        </p:txBody>
      </p:sp>
      <p:sp>
        <p:nvSpPr>
          <p:cNvPr id="3" name="Subtitle 2">
            <a:extLst>
              <a:ext uri="{FF2B5EF4-FFF2-40B4-BE49-F238E27FC236}">
                <a16:creationId xmlns:a16="http://schemas.microsoft.com/office/drawing/2014/main" id="{744ABBA1-43B4-224E-18C9-B4EF78BE92A0}"/>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202244948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7A509F-97AB-58A6-27A2-386263C4C568}"/>
              </a:ext>
            </a:extLst>
          </p:cNvPr>
          <p:cNvSpPr>
            <a:spLocks noGrp="1"/>
          </p:cNvSpPr>
          <p:nvPr>
            <p:ph type="title"/>
          </p:nvPr>
        </p:nvSpPr>
        <p:spPr/>
        <p:txBody>
          <a:bodyPr/>
          <a:lstStyle/>
          <a:p>
            <a:r>
              <a:rPr lang="en-US" dirty="0"/>
              <a:t>Digital Exam</a:t>
            </a:r>
            <a:endParaRPr lang="en-GB" dirty="0"/>
          </a:p>
        </p:txBody>
      </p:sp>
      <p:sp>
        <p:nvSpPr>
          <p:cNvPr id="3" name="Content Placeholder 2">
            <a:extLst>
              <a:ext uri="{FF2B5EF4-FFF2-40B4-BE49-F238E27FC236}">
                <a16:creationId xmlns:a16="http://schemas.microsoft.com/office/drawing/2014/main" id="{A36398B9-7CF2-5B93-0C5C-4A584425AFEC}"/>
              </a:ext>
            </a:extLst>
          </p:cNvPr>
          <p:cNvSpPr>
            <a:spLocks noGrp="1"/>
          </p:cNvSpPr>
          <p:nvPr>
            <p:ph idx="1"/>
          </p:nvPr>
        </p:nvSpPr>
        <p:spPr/>
        <p:txBody>
          <a:bodyPr/>
          <a:lstStyle/>
          <a:p>
            <a:r>
              <a:rPr lang="en-US" dirty="0" err="1"/>
              <a:t>Inspera</a:t>
            </a:r>
            <a:r>
              <a:rPr lang="en-US" dirty="0"/>
              <a:t> digital exam on 13</a:t>
            </a:r>
            <a:r>
              <a:rPr lang="en-US" baseline="30000" dirty="0"/>
              <a:t>th</a:t>
            </a:r>
            <a:r>
              <a:rPr lang="en-US" dirty="0"/>
              <a:t> May</a:t>
            </a:r>
          </a:p>
          <a:p>
            <a:r>
              <a:rPr lang="en-US" dirty="0"/>
              <a:t>See canvas for assessment information</a:t>
            </a:r>
          </a:p>
          <a:p>
            <a:r>
              <a:rPr lang="en-US" dirty="0"/>
              <a:t>Check your individual timetable</a:t>
            </a:r>
          </a:p>
          <a:p>
            <a:r>
              <a:rPr lang="en-US" dirty="0"/>
              <a:t>Make sure you can log-in to </a:t>
            </a:r>
            <a:r>
              <a:rPr lang="en-US" dirty="0" err="1"/>
              <a:t>uni</a:t>
            </a:r>
            <a:r>
              <a:rPr lang="en-US" dirty="0"/>
              <a:t> computer</a:t>
            </a:r>
            <a:endParaRPr lang="en-GB" dirty="0"/>
          </a:p>
        </p:txBody>
      </p:sp>
      <p:sp>
        <p:nvSpPr>
          <p:cNvPr id="4" name="Slide Number Placeholder 3">
            <a:extLst>
              <a:ext uri="{FF2B5EF4-FFF2-40B4-BE49-F238E27FC236}">
                <a16:creationId xmlns:a16="http://schemas.microsoft.com/office/drawing/2014/main" id="{A56205A5-6F60-BA02-BEBC-48FAAD52E40A}"/>
              </a:ext>
            </a:extLst>
          </p:cNvPr>
          <p:cNvSpPr>
            <a:spLocks noGrp="1"/>
          </p:cNvSpPr>
          <p:nvPr>
            <p:ph type="sldNum" sz="quarter" idx="12"/>
          </p:nvPr>
        </p:nvSpPr>
        <p:spPr/>
        <p:txBody>
          <a:bodyPr/>
          <a:lstStyle/>
          <a:p>
            <a:fld id="{372769DB-CAE7-4C85-A9AF-7D4D8DE4CA22}" type="slidenum">
              <a:rPr lang="en-GB" smtClean="0"/>
              <a:t>68</a:t>
            </a:fld>
            <a:endParaRPr lang="en-GB" dirty="0"/>
          </a:p>
        </p:txBody>
      </p:sp>
    </p:spTree>
    <p:extLst>
      <p:ext uri="{BB962C8B-B14F-4D97-AF65-F5344CB8AC3E}">
        <p14:creationId xmlns:p14="http://schemas.microsoft.com/office/powerpoint/2010/main" val="9582051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E3AFCB-8206-C54A-2314-BB5D1DC861B2}"/>
              </a:ext>
            </a:extLst>
          </p:cNvPr>
          <p:cNvSpPr>
            <a:spLocks noGrp="1"/>
          </p:cNvSpPr>
          <p:nvPr>
            <p:ph type="title"/>
          </p:nvPr>
        </p:nvSpPr>
        <p:spPr/>
        <p:txBody>
          <a:bodyPr/>
          <a:lstStyle/>
          <a:p>
            <a:r>
              <a:rPr lang="en-GB" dirty="0"/>
              <a:t>Exam Notes</a:t>
            </a:r>
          </a:p>
        </p:txBody>
      </p:sp>
      <p:sp>
        <p:nvSpPr>
          <p:cNvPr id="3" name="Content Placeholder 2">
            <a:extLst>
              <a:ext uri="{FF2B5EF4-FFF2-40B4-BE49-F238E27FC236}">
                <a16:creationId xmlns:a16="http://schemas.microsoft.com/office/drawing/2014/main" id="{11AEEA67-4B2C-7F26-F34B-DF319801F2DD}"/>
              </a:ext>
            </a:extLst>
          </p:cNvPr>
          <p:cNvSpPr>
            <a:spLocks noGrp="1"/>
          </p:cNvSpPr>
          <p:nvPr>
            <p:ph idx="1"/>
          </p:nvPr>
        </p:nvSpPr>
        <p:spPr>
          <a:xfrm>
            <a:off x="838200" y="1849119"/>
            <a:ext cx="10515600" cy="3982403"/>
          </a:xfrm>
        </p:spPr>
        <p:txBody>
          <a:bodyPr>
            <a:normAutofit/>
          </a:bodyPr>
          <a:lstStyle/>
          <a:p>
            <a:pPr marL="0" indent="0">
              <a:buNone/>
            </a:pPr>
            <a:r>
              <a:rPr lang="en-GB" sz="2800" i="1" dirty="0"/>
              <a:t>“Candidates are permitted to bring typed notes of up to 1,000 words on A4 paper into the examination room. Write your student number clearly on your notes. At the end of the exam, you must leave your notes on your desk for collection by the invigilating staff to collect.”</a:t>
            </a:r>
          </a:p>
          <a:p>
            <a:pPr marL="0" indent="0">
              <a:buNone/>
            </a:pPr>
            <a:endParaRPr lang="en-GB" sz="2800" dirty="0"/>
          </a:p>
          <a:p>
            <a:pPr marL="0" indent="0">
              <a:buNone/>
            </a:pPr>
            <a:endParaRPr lang="en-GB" sz="2800" dirty="0"/>
          </a:p>
          <a:p>
            <a:r>
              <a:rPr lang="en-GB" sz="3600" dirty="0"/>
              <a:t>Write up notes specifically for the exam</a:t>
            </a:r>
          </a:p>
          <a:p>
            <a:r>
              <a:rPr lang="en-GB" sz="3600" dirty="0"/>
              <a:t>Do not leave printing the notes to the last minute!</a:t>
            </a:r>
          </a:p>
          <a:p>
            <a:pPr marL="0" indent="0">
              <a:buNone/>
            </a:pPr>
            <a:endParaRPr lang="en-GB" sz="2800" dirty="0"/>
          </a:p>
        </p:txBody>
      </p:sp>
      <p:sp>
        <p:nvSpPr>
          <p:cNvPr id="4" name="Slide Number Placeholder 3">
            <a:extLst>
              <a:ext uri="{FF2B5EF4-FFF2-40B4-BE49-F238E27FC236}">
                <a16:creationId xmlns:a16="http://schemas.microsoft.com/office/drawing/2014/main" id="{BEAFB906-D559-B7B9-361A-CD72C661BFA0}"/>
              </a:ext>
            </a:extLst>
          </p:cNvPr>
          <p:cNvSpPr>
            <a:spLocks noGrp="1"/>
          </p:cNvSpPr>
          <p:nvPr>
            <p:ph type="sldNum" sz="quarter" idx="12"/>
          </p:nvPr>
        </p:nvSpPr>
        <p:spPr/>
        <p:txBody>
          <a:bodyPr/>
          <a:lstStyle/>
          <a:p>
            <a:fld id="{372769DB-CAE7-4C85-A9AF-7D4D8DE4CA22}" type="slidenum">
              <a:rPr lang="en-GB" smtClean="0"/>
              <a:t>69</a:t>
            </a:fld>
            <a:endParaRPr lang="en-GB" dirty="0"/>
          </a:p>
        </p:txBody>
      </p:sp>
    </p:spTree>
    <p:extLst>
      <p:ext uri="{BB962C8B-B14F-4D97-AF65-F5344CB8AC3E}">
        <p14:creationId xmlns:p14="http://schemas.microsoft.com/office/powerpoint/2010/main" val="276479920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C83AC9-7BBF-67EE-1A19-5EE8BA8A6E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871816-75D1-CDC9-3C39-C12F4177755C}"/>
              </a:ext>
            </a:extLst>
          </p:cNvPr>
          <p:cNvSpPr>
            <a:spLocks noGrp="1"/>
          </p:cNvSpPr>
          <p:nvPr>
            <p:ph type="title"/>
          </p:nvPr>
        </p:nvSpPr>
        <p:spPr/>
        <p:txBody>
          <a:bodyPr/>
          <a:lstStyle/>
          <a:p>
            <a:r>
              <a:rPr lang="en-GB" dirty="0"/>
              <a:t>Referencing</a:t>
            </a:r>
          </a:p>
        </p:txBody>
      </p:sp>
      <p:sp>
        <p:nvSpPr>
          <p:cNvPr id="3" name="Content Placeholder 2">
            <a:extLst>
              <a:ext uri="{FF2B5EF4-FFF2-40B4-BE49-F238E27FC236}">
                <a16:creationId xmlns:a16="http://schemas.microsoft.com/office/drawing/2014/main" id="{1CAC1EA9-E2F2-69AE-9EB9-D041D4969BBE}"/>
              </a:ext>
            </a:extLst>
          </p:cNvPr>
          <p:cNvSpPr>
            <a:spLocks noGrp="1"/>
          </p:cNvSpPr>
          <p:nvPr>
            <p:ph idx="1"/>
          </p:nvPr>
        </p:nvSpPr>
        <p:spPr>
          <a:xfrm>
            <a:off x="828040" y="1578113"/>
            <a:ext cx="10713720" cy="4785361"/>
          </a:xfrm>
        </p:spPr>
        <p:txBody>
          <a:bodyPr>
            <a:normAutofit/>
          </a:bodyPr>
          <a:lstStyle/>
          <a:p>
            <a:r>
              <a:rPr lang="en-GB" sz="3600" dirty="0"/>
              <a:t>In exam conditions you are not expected to reference in the same way as the proposal assessment</a:t>
            </a:r>
          </a:p>
          <a:p>
            <a:r>
              <a:rPr lang="en-GB" sz="3600" dirty="0"/>
              <a:t>References are not mandatory</a:t>
            </a:r>
          </a:p>
          <a:p>
            <a:r>
              <a:rPr lang="en-GB" sz="3600" dirty="0"/>
              <a:t>Use them if you have them for general references (</a:t>
            </a:r>
            <a:r>
              <a:rPr lang="en-GB" sz="3600" dirty="0" err="1"/>
              <a:t>Halpering</a:t>
            </a:r>
            <a:r>
              <a:rPr lang="en-GB" sz="3600" dirty="0"/>
              <a:t> &amp; Heath, 2025)</a:t>
            </a:r>
          </a:p>
          <a:p>
            <a:r>
              <a:rPr lang="en-GB" sz="3600" dirty="0"/>
              <a:t>If you have quotes in your notes, can include page numbers if you have them</a:t>
            </a:r>
          </a:p>
          <a:p>
            <a:r>
              <a:rPr lang="en-GB" sz="3600" dirty="0"/>
              <a:t>You </a:t>
            </a:r>
            <a:r>
              <a:rPr lang="en-GB" sz="3600" b="1" dirty="0"/>
              <a:t>do not need to include a bibliography</a:t>
            </a:r>
          </a:p>
          <a:p>
            <a:pPr marL="0" indent="0">
              <a:buNone/>
            </a:pPr>
            <a:endParaRPr lang="en-GB" sz="2800" dirty="0"/>
          </a:p>
        </p:txBody>
      </p:sp>
      <p:sp>
        <p:nvSpPr>
          <p:cNvPr id="4" name="Slide Number Placeholder 3">
            <a:extLst>
              <a:ext uri="{FF2B5EF4-FFF2-40B4-BE49-F238E27FC236}">
                <a16:creationId xmlns:a16="http://schemas.microsoft.com/office/drawing/2014/main" id="{11E71CFD-12CD-1612-BB9E-CD957A237501}"/>
              </a:ext>
            </a:extLst>
          </p:cNvPr>
          <p:cNvSpPr>
            <a:spLocks noGrp="1"/>
          </p:cNvSpPr>
          <p:nvPr>
            <p:ph type="sldNum" sz="quarter" idx="12"/>
          </p:nvPr>
        </p:nvSpPr>
        <p:spPr/>
        <p:txBody>
          <a:bodyPr/>
          <a:lstStyle/>
          <a:p>
            <a:fld id="{372769DB-CAE7-4C85-A9AF-7D4D8DE4CA22}" type="slidenum">
              <a:rPr lang="en-GB" smtClean="0"/>
              <a:t>70</a:t>
            </a:fld>
            <a:endParaRPr lang="en-GB" dirty="0"/>
          </a:p>
        </p:txBody>
      </p:sp>
    </p:spTree>
    <p:extLst>
      <p:ext uri="{BB962C8B-B14F-4D97-AF65-F5344CB8AC3E}">
        <p14:creationId xmlns:p14="http://schemas.microsoft.com/office/powerpoint/2010/main" val="186368841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332BC-0736-8446-264F-46D285AA2477}"/>
              </a:ext>
            </a:extLst>
          </p:cNvPr>
          <p:cNvSpPr>
            <a:spLocks noGrp="1"/>
          </p:cNvSpPr>
          <p:nvPr>
            <p:ph type="title"/>
          </p:nvPr>
        </p:nvSpPr>
        <p:spPr/>
        <p:txBody>
          <a:bodyPr/>
          <a:lstStyle/>
          <a:p>
            <a:r>
              <a:rPr lang="en-US" dirty="0"/>
              <a:t>Week 11</a:t>
            </a:r>
            <a:endParaRPr lang="en-GB" dirty="0"/>
          </a:p>
        </p:txBody>
      </p:sp>
      <p:sp>
        <p:nvSpPr>
          <p:cNvPr id="3" name="Content Placeholder 2">
            <a:extLst>
              <a:ext uri="{FF2B5EF4-FFF2-40B4-BE49-F238E27FC236}">
                <a16:creationId xmlns:a16="http://schemas.microsoft.com/office/drawing/2014/main" id="{A554BA7A-4577-941D-9566-0E0A4707B54F}"/>
              </a:ext>
            </a:extLst>
          </p:cNvPr>
          <p:cNvSpPr>
            <a:spLocks noGrp="1"/>
          </p:cNvSpPr>
          <p:nvPr>
            <p:ph idx="1"/>
          </p:nvPr>
        </p:nvSpPr>
        <p:spPr>
          <a:xfrm>
            <a:off x="285750" y="1543050"/>
            <a:ext cx="11121390" cy="4820424"/>
          </a:xfrm>
        </p:spPr>
        <p:txBody>
          <a:bodyPr>
            <a:normAutofit fontScale="92500" lnSpcReduction="10000"/>
          </a:bodyPr>
          <a:lstStyle/>
          <a:p>
            <a:pPr marL="457200" lvl="1" indent="0">
              <a:buNone/>
            </a:pPr>
            <a:r>
              <a:rPr lang="en-US" b="1" dirty="0"/>
              <a:t>Lecture</a:t>
            </a:r>
          </a:p>
          <a:p>
            <a:pPr lvl="1"/>
            <a:r>
              <a:rPr lang="en-GB" dirty="0"/>
              <a:t>25 min going over exam topics and format, answering questions</a:t>
            </a:r>
          </a:p>
          <a:p>
            <a:pPr lvl="1"/>
            <a:r>
              <a:rPr lang="en-GB" dirty="0"/>
              <a:t>Short break, then 45 minutes where you can sit the practice exam under test conditions</a:t>
            </a:r>
          </a:p>
          <a:p>
            <a:pPr lvl="1"/>
            <a:endParaRPr lang="en-GB" dirty="0"/>
          </a:p>
          <a:p>
            <a:pPr marL="457200" lvl="1" indent="0">
              <a:buNone/>
            </a:pPr>
            <a:r>
              <a:rPr lang="en-GB" b="1" dirty="0"/>
              <a:t>Seminars</a:t>
            </a:r>
          </a:p>
          <a:p>
            <a:pPr lvl="1"/>
            <a:r>
              <a:rPr lang="en-GB" dirty="0"/>
              <a:t>Will be taken by Brian or Skyler</a:t>
            </a:r>
          </a:p>
          <a:p>
            <a:pPr lvl="1"/>
            <a:r>
              <a:rPr lang="en-GB" dirty="0"/>
              <a:t>No set readings or questions</a:t>
            </a:r>
          </a:p>
          <a:p>
            <a:pPr lvl="1"/>
            <a:r>
              <a:rPr lang="en-GB" dirty="0"/>
              <a:t>Can ask your module leaders any questions you have about the exam, or module topics</a:t>
            </a:r>
          </a:p>
          <a:p>
            <a:pPr lvl="1"/>
            <a:r>
              <a:rPr lang="en-GB" dirty="0"/>
              <a:t>Can also ask questions based on your practice exam</a:t>
            </a:r>
          </a:p>
        </p:txBody>
      </p:sp>
      <p:sp>
        <p:nvSpPr>
          <p:cNvPr id="4" name="Slide Number Placeholder 3">
            <a:extLst>
              <a:ext uri="{FF2B5EF4-FFF2-40B4-BE49-F238E27FC236}">
                <a16:creationId xmlns:a16="http://schemas.microsoft.com/office/drawing/2014/main" id="{6B64C140-DDB0-CC6E-911E-7A9599E1EB5E}"/>
              </a:ext>
            </a:extLst>
          </p:cNvPr>
          <p:cNvSpPr>
            <a:spLocks noGrp="1"/>
          </p:cNvSpPr>
          <p:nvPr>
            <p:ph type="sldNum" sz="quarter" idx="12"/>
          </p:nvPr>
        </p:nvSpPr>
        <p:spPr/>
        <p:txBody>
          <a:bodyPr/>
          <a:lstStyle/>
          <a:p>
            <a:fld id="{372769DB-CAE7-4C85-A9AF-7D4D8DE4CA22}" type="slidenum">
              <a:rPr lang="en-GB" smtClean="0"/>
              <a:t>71</a:t>
            </a:fld>
            <a:endParaRPr lang="en-GB" dirty="0"/>
          </a:p>
        </p:txBody>
      </p:sp>
    </p:spTree>
    <p:extLst>
      <p:ext uri="{BB962C8B-B14F-4D97-AF65-F5344CB8AC3E}">
        <p14:creationId xmlns:p14="http://schemas.microsoft.com/office/powerpoint/2010/main" val="34372092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2">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123AFCB4-6ED2-4A1B-B74C-8E17736BF60B}">
  <we:reference id="3e0fcce7-415c-4081-926c-b4e449c650e4" version="1.1.0.2" store="EXCatalog" storeType="EXCatalog"/>
  <we:alternateReferences>
    <we:reference id="WA200004709" version="1.1.0.2" store="en-GB"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4925</TotalTime>
  <Words>2160</Words>
  <Application>Microsoft Office PowerPoint</Application>
  <PresentationFormat>Widescreen</PresentationFormat>
  <Paragraphs>526</Paragraphs>
  <Slides>71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71</vt:i4>
      </vt:variant>
    </vt:vector>
  </HeadingPairs>
  <TitlesOfParts>
    <vt:vector size="79" baseType="lpstr">
      <vt:lpstr>Aharoni</vt:lpstr>
      <vt:lpstr>Arial</vt:lpstr>
      <vt:lpstr>Bierstadt</vt:lpstr>
      <vt:lpstr>Calibri</vt:lpstr>
      <vt:lpstr>Franklin Gothic Demi</vt:lpstr>
      <vt:lpstr>Gill Sans MT</vt:lpstr>
      <vt:lpstr>Symbol</vt:lpstr>
      <vt:lpstr>Office Theme</vt:lpstr>
      <vt:lpstr>Content Analysis (Part II)</vt:lpstr>
      <vt:lpstr>PowerPoint Presentation</vt:lpstr>
      <vt:lpstr>PowerPoint Presentation</vt:lpstr>
      <vt:lpstr>PowerPoint Presentation</vt:lpstr>
      <vt:lpstr>Recap</vt:lpstr>
      <vt:lpstr>What is content analysis</vt:lpstr>
      <vt:lpstr>Types of content analysis</vt:lpstr>
      <vt:lpstr>Stages of a content analysis</vt:lpstr>
      <vt:lpstr>Coming up</vt:lpstr>
      <vt:lpstr>This week</vt:lpstr>
      <vt:lpstr>Doing content analysis</vt:lpstr>
      <vt:lpstr>Considerations</vt:lpstr>
      <vt:lpstr>Organisng your files</vt:lpstr>
      <vt:lpstr>File Structure</vt:lpstr>
      <vt:lpstr>Data storage tips</vt:lpstr>
      <vt:lpstr>Software and Data</vt:lpstr>
      <vt:lpstr>Content analysis in practice</vt:lpstr>
      <vt:lpstr>Evaluating content analysis</vt:lpstr>
      <vt:lpstr>Evaluating content analysis</vt:lpstr>
      <vt:lpstr>Evaluating content analysis</vt:lpstr>
      <vt:lpstr>Validity</vt:lpstr>
      <vt:lpstr>Reliability</vt:lpstr>
      <vt:lpstr>Reliability</vt:lpstr>
      <vt:lpstr>Reliability</vt:lpstr>
      <vt:lpstr>Reliability</vt:lpstr>
      <vt:lpstr>Reliability</vt:lpstr>
      <vt:lpstr>Summary</vt:lpstr>
      <vt:lpstr>Content analysis in  academic research  Example 1</vt:lpstr>
      <vt:lpstr>PowerPoint Presentation</vt:lpstr>
      <vt:lpstr>Moffitt (2024)</vt:lpstr>
      <vt:lpstr>Moffitt (2024)</vt:lpstr>
      <vt:lpstr>PowerPoint Presentation</vt:lpstr>
      <vt:lpstr>PowerPoint Presentation</vt:lpstr>
      <vt:lpstr>PowerPoint Presentation</vt:lpstr>
      <vt:lpstr>PowerPoint Presentation</vt:lpstr>
      <vt:lpstr>PowerPoint Presentation</vt:lpstr>
      <vt:lpstr>Alternative approaches to text analysis</vt:lpstr>
      <vt:lpstr>Related methods</vt:lpstr>
      <vt:lpstr>Discourse analysis</vt:lpstr>
      <vt:lpstr>Discourse analysis</vt:lpstr>
      <vt:lpstr>PowerPoint Presentation</vt:lpstr>
      <vt:lpstr>PowerPoint Presentation</vt:lpstr>
      <vt:lpstr>PowerPoint Presentation</vt:lpstr>
      <vt:lpstr>Discourse analysis</vt:lpstr>
      <vt:lpstr>Quantitative text analysis</vt:lpstr>
      <vt:lpstr>Computational text analysis</vt:lpstr>
      <vt:lpstr>PowerPoint Presentation</vt:lpstr>
      <vt:lpstr>PowerPoint Presentation</vt:lpstr>
      <vt:lpstr>Validation</vt:lpstr>
      <vt:lpstr>Validation</vt:lpstr>
      <vt:lpstr>PowerPoint Presentation</vt:lpstr>
      <vt:lpstr>PowerPoint Presentation</vt:lpstr>
      <vt:lpstr>Validation</vt:lpstr>
      <vt:lpstr>PowerPoint Presentation</vt:lpstr>
      <vt:lpstr>PowerPoint Presentation</vt:lpstr>
      <vt:lpstr>PowerPoint Presentation</vt:lpstr>
      <vt:lpstr>PowerPoint Presentation</vt:lpstr>
      <vt:lpstr>PowerPoint Presentation</vt:lpstr>
      <vt:lpstr>Computational text analysis</vt:lpstr>
      <vt:lpstr>Content analysis in  academic research  Example 2</vt:lpstr>
      <vt:lpstr>PowerPoint Presentation</vt:lpstr>
      <vt:lpstr>Godefroidt et al. (2016)</vt:lpstr>
      <vt:lpstr>Research Questions</vt:lpstr>
      <vt:lpstr>Case selection</vt:lpstr>
      <vt:lpstr>PowerPoint Presentation</vt:lpstr>
      <vt:lpstr>Results</vt:lpstr>
      <vt:lpstr>Week 11 &amp; Exam Prep</vt:lpstr>
      <vt:lpstr>Digital Exam</vt:lpstr>
      <vt:lpstr>Exam Notes</vt:lpstr>
      <vt:lpstr>Referencing</vt:lpstr>
      <vt:lpstr>Week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1 – Lecture 2  Becoming a Political Researcher (POL2017)</dc:title>
  <dc:creator>brian boyle</dc:creator>
  <cp:lastModifiedBy>Brian Boyle</cp:lastModifiedBy>
  <cp:revision>600</cp:revision>
  <dcterms:created xsi:type="dcterms:W3CDTF">2023-12-20T10:52:04Z</dcterms:created>
  <dcterms:modified xsi:type="dcterms:W3CDTF">2026-04-27T11:33:18Z</dcterms:modified>
</cp:coreProperties>
</file>