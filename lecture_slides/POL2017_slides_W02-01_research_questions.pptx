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2"/>
  </p:notesMasterIdLst>
  <p:sldIdLst>
    <p:sldId id="279" r:id="rId2"/>
    <p:sldId id="314" r:id="rId3"/>
    <p:sldId id="281" r:id="rId4"/>
    <p:sldId id="289" r:id="rId5"/>
    <p:sldId id="280" r:id="rId6"/>
    <p:sldId id="283" r:id="rId7"/>
    <p:sldId id="299" r:id="rId8"/>
    <p:sldId id="284" r:id="rId9"/>
    <p:sldId id="291" r:id="rId10"/>
    <p:sldId id="292" r:id="rId11"/>
    <p:sldId id="293" r:id="rId12"/>
    <p:sldId id="308" r:id="rId13"/>
    <p:sldId id="294" r:id="rId14"/>
    <p:sldId id="285" r:id="rId15"/>
    <p:sldId id="295" r:id="rId16"/>
    <p:sldId id="296" r:id="rId17"/>
    <p:sldId id="307" r:id="rId18"/>
    <p:sldId id="310" r:id="rId19"/>
    <p:sldId id="286" r:id="rId20"/>
    <p:sldId id="302" r:id="rId21"/>
    <p:sldId id="287" r:id="rId22"/>
    <p:sldId id="311" r:id="rId23"/>
    <p:sldId id="312" r:id="rId24"/>
    <p:sldId id="313" r:id="rId25"/>
    <p:sldId id="303" r:id="rId26"/>
    <p:sldId id="304" r:id="rId27"/>
    <p:sldId id="306" r:id="rId28"/>
    <p:sldId id="305" r:id="rId29"/>
    <p:sldId id="288" r:id="rId30"/>
    <p:sldId id="30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6795"/>
    <a:srgbClr val="F48914"/>
    <a:srgbClr val="E76254"/>
    <a:srgbClr val="F7A953"/>
    <a:srgbClr val="F7AA58"/>
    <a:srgbClr val="B33F62"/>
    <a:srgbClr val="4C3957"/>
    <a:srgbClr val="A003E7"/>
    <a:srgbClr val="01A08A"/>
    <a:srgbClr val="203B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821" y="7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3F3E4C-7C94-4BF3-897F-69B76BF34905}" type="datetimeFigureOut">
              <a:rPr lang="en-GB" smtClean="0"/>
              <a:t>02/02/2026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859D84-7AD2-4F35-9177-9966E85B1D52}" type="slidenum">
              <a:rPr lang="en-GB" smtClean="0"/>
              <a:t>‹#›</a:t>
            </a:fld>
            <a:endParaRPr lang="en-GB"/>
          </a:p>
        </p:txBody>
      </p:sp>
    </p:spTree>
    <p:extLst>
      <p:ext uri="{BB962C8B-B14F-4D97-AF65-F5344CB8AC3E}">
        <p14:creationId xmlns:p14="http://schemas.microsoft.com/office/powerpoint/2010/main" val="3317241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070C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99D11-05BD-92B2-BEAC-72491257331F}"/>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19AF8DC6-ABE1-D783-93A6-EC8013C3B3B2}"/>
              </a:ext>
            </a:extLst>
          </p:cNvPr>
          <p:cNvSpPr>
            <a:spLocks noGrp="1"/>
          </p:cNvSpPr>
          <p:nvPr>
            <p:ph type="subTitle" idx="1"/>
          </p:nvPr>
        </p:nvSpPr>
        <p:spPr>
          <a:xfrm>
            <a:off x="1601822" y="4887337"/>
            <a:ext cx="9144000" cy="1655762"/>
          </a:xfrm>
        </p:spPr>
        <p:txBody>
          <a:bodyPr>
            <a:normAutofit/>
          </a:bodyPr>
          <a:lstStyle>
            <a:lvl1pPr marL="0" indent="0" algn="ctr">
              <a:buNone/>
              <a:defRPr sz="2800">
                <a:solidFill>
                  <a:schemeClr val="bg1"/>
                </a:solidFill>
                <a:latin typeface="Franklin Gothic Demi" panose="020B07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Tree>
    <p:extLst>
      <p:ext uri="{BB962C8B-B14F-4D97-AF65-F5344CB8AC3E}">
        <p14:creationId xmlns:p14="http://schemas.microsoft.com/office/powerpoint/2010/main" val="3458945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46CF2-3EBA-681F-12E2-047B13DC50D3}"/>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AF9307-5FB6-6290-DF8F-926071B849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3">
            <a:extLst>
              <a:ext uri="{FF2B5EF4-FFF2-40B4-BE49-F238E27FC236}">
                <a16:creationId xmlns:a16="http://schemas.microsoft.com/office/drawing/2014/main" id="{DB4A59CA-8A2F-AD9B-5DDF-633218821F88}"/>
              </a:ext>
            </a:extLst>
          </p:cNvPr>
          <p:cNvSpPr>
            <a:spLocks noGrp="1"/>
          </p:cNvSpPr>
          <p:nvPr>
            <p:ph type="ftr" sz="quarter" idx="11"/>
          </p:nvPr>
        </p:nvSpPr>
        <p:spPr>
          <a:xfrm>
            <a:off x="252918" y="6363474"/>
            <a:ext cx="3861881" cy="365125"/>
          </a:xfrm>
          <a:prstGeom prst="rect">
            <a:avLst/>
          </a:prstGeom>
        </p:spPr>
        <p:txBody>
          <a:bodyPr/>
          <a:lstStyle>
            <a:lvl1pPr algn="l">
              <a:defRPr/>
            </a:lvl1pPr>
          </a:lstStyle>
          <a:p>
            <a:r>
              <a:rPr lang="en-GB"/>
              <a:t>POL2017 W2 L1 – Research Questions</a:t>
            </a:r>
            <a:endParaRPr lang="en-GB" dirty="0"/>
          </a:p>
        </p:txBody>
      </p:sp>
      <p:sp>
        <p:nvSpPr>
          <p:cNvPr id="8" name="Slide Number Placeholder 4">
            <a:extLst>
              <a:ext uri="{FF2B5EF4-FFF2-40B4-BE49-F238E27FC236}">
                <a16:creationId xmlns:a16="http://schemas.microsoft.com/office/drawing/2014/main" id="{A87A51AF-A455-2D0A-339C-664F8D854363}"/>
              </a:ext>
            </a:extLst>
          </p:cNvPr>
          <p:cNvSpPr>
            <a:spLocks noGrp="1"/>
          </p:cNvSpPr>
          <p:nvPr>
            <p:ph type="sldNum" sz="quarter" idx="12"/>
          </p:nvPr>
        </p:nvSpPr>
        <p:spPr>
          <a:xfrm>
            <a:off x="9291536" y="6363474"/>
            <a:ext cx="2576209" cy="365125"/>
          </a:xfrm>
          <a:prstGeom prst="rect">
            <a:avLst/>
          </a:prstGeom>
        </p:spPr>
        <p:txBody>
          <a:bodyPr/>
          <a:lstStyle/>
          <a:p>
            <a:fld id="{372769DB-CAE7-4C85-A9AF-7D4D8DE4CA22}" type="slidenum">
              <a:rPr lang="en-GB" smtClean="0"/>
              <a:t>‹#›</a:t>
            </a:fld>
            <a:endParaRPr lang="en-GB" dirty="0"/>
          </a:p>
        </p:txBody>
      </p:sp>
    </p:spTree>
    <p:extLst>
      <p:ext uri="{BB962C8B-B14F-4D97-AF65-F5344CB8AC3E}">
        <p14:creationId xmlns:p14="http://schemas.microsoft.com/office/powerpoint/2010/main" val="3687587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98B581-4BB0-C834-81E4-E83B8806A139}"/>
              </a:ext>
            </a:extLst>
          </p:cNvPr>
          <p:cNvSpPr/>
          <p:nvPr userDrawn="1"/>
        </p:nvSpPr>
        <p:spPr>
          <a:xfrm>
            <a:off x="0" y="0"/>
            <a:ext cx="12192000" cy="6857999"/>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5887F5E-5F3C-BBF6-59D2-5719676BDADB}"/>
              </a:ext>
            </a:extLst>
          </p:cNvPr>
          <p:cNvSpPr>
            <a:spLocks noGrp="1"/>
          </p:cNvSpPr>
          <p:nvPr>
            <p:ph type="title"/>
          </p:nvPr>
        </p:nvSpPr>
        <p:spPr>
          <a:xfrm>
            <a:off x="1050587" y="1692613"/>
            <a:ext cx="9893031" cy="2626469"/>
          </a:xfrm>
        </p:spPr>
        <p:txBody>
          <a:bodyPr anchor="b">
            <a:normAutofit/>
          </a:bodyPr>
          <a:lstStyle>
            <a:lvl1pPr algn="ctr">
              <a:defRPr sz="6600"/>
            </a:lvl1pPr>
          </a:lstStyle>
          <a:p>
            <a:r>
              <a:rPr lang="en-US" dirty="0"/>
              <a:t>Click to edit Master title style</a:t>
            </a:r>
            <a:endParaRPr lang="en-GB" dirty="0"/>
          </a:p>
        </p:txBody>
      </p:sp>
    </p:spTree>
    <p:extLst>
      <p:ext uri="{BB962C8B-B14F-4D97-AF65-F5344CB8AC3E}">
        <p14:creationId xmlns:p14="http://schemas.microsoft.com/office/powerpoint/2010/main" val="3816117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39CC17-3D2F-D715-FA5A-BB4C8CAD31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5CAE4E8-6CDF-2FD9-BF6F-EF2C59AB9E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Footer Placeholder 3">
            <a:extLst>
              <a:ext uri="{FF2B5EF4-FFF2-40B4-BE49-F238E27FC236}">
                <a16:creationId xmlns:a16="http://schemas.microsoft.com/office/drawing/2014/main" id="{9E2D8FD2-D909-4FAE-DA6B-D318B8A2CC9F}"/>
              </a:ext>
            </a:extLst>
          </p:cNvPr>
          <p:cNvSpPr>
            <a:spLocks noGrp="1"/>
          </p:cNvSpPr>
          <p:nvPr>
            <p:ph type="ftr" sz="quarter" idx="11"/>
          </p:nvPr>
        </p:nvSpPr>
        <p:spPr>
          <a:xfrm>
            <a:off x="252918" y="6363474"/>
            <a:ext cx="3861881" cy="365125"/>
          </a:xfrm>
          <a:prstGeom prst="rect">
            <a:avLst/>
          </a:prstGeom>
        </p:spPr>
        <p:txBody>
          <a:bodyPr/>
          <a:lstStyle>
            <a:lvl1pPr algn="l">
              <a:defRPr/>
            </a:lvl1pPr>
          </a:lstStyle>
          <a:p>
            <a:r>
              <a:rPr lang="en-GB"/>
              <a:t>POL2017 W2 L1 – Research Questions</a:t>
            </a:r>
            <a:endParaRPr lang="en-GB" dirty="0"/>
          </a:p>
        </p:txBody>
      </p:sp>
      <p:sp>
        <p:nvSpPr>
          <p:cNvPr id="9" name="Slide Number Placeholder 4">
            <a:extLst>
              <a:ext uri="{FF2B5EF4-FFF2-40B4-BE49-F238E27FC236}">
                <a16:creationId xmlns:a16="http://schemas.microsoft.com/office/drawing/2014/main" id="{9ADC7A76-56B7-AEBA-F17D-ECA744CB75E8}"/>
              </a:ext>
            </a:extLst>
          </p:cNvPr>
          <p:cNvSpPr>
            <a:spLocks noGrp="1"/>
          </p:cNvSpPr>
          <p:nvPr>
            <p:ph type="sldNum" sz="quarter" idx="12"/>
          </p:nvPr>
        </p:nvSpPr>
        <p:spPr>
          <a:xfrm>
            <a:off x="9291536" y="6363474"/>
            <a:ext cx="2576209" cy="365125"/>
          </a:xfrm>
          <a:prstGeom prst="rect">
            <a:avLst/>
          </a:prstGeom>
        </p:spPr>
        <p:txBody>
          <a:bodyPr/>
          <a:lstStyle/>
          <a:p>
            <a:fld id="{372769DB-CAE7-4C85-A9AF-7D4D8DE4CA22}" type="slidenum">
              <a:rPr lang="en-GB" smtClean="0"/>
              <a:t>‹#›</a:t>
            </a:fld>
            <a:endParaRPr lang="en-GB" dirty="0"/>
          </a:p>
        </p:txBody>
      </p:sp>
      <p:sp>
        <p:nvSpPr>
          <p:cNvPr id="5" name="Title 1">
            <a:extLst>
              <a:ext uri="{FF2B5EF4-FFF2-40B4-BE49-F238E27FC236}">
                <a16:creationId xmlns:a16="http://schemas.microsoft.com/office/drawing/2014/main" id="{82C09436-7DF7-BDE9-CF95-052421BA3555}"/>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Tree>
    <p:extLst>
      <p:ext uri="{BB962C8B-B14F-4D97-AF65-F5344CB8AC3E}">
        <p14:creationId xmlns:p14="http://schemas.microsoft.com/office/powerpoint/2010/main" val="138431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7652BF6-ACFD-6764-A841-65A0CB3E20CE}"/>
              </a:ext>
            </a:extLst>
          </p:cNvPr>
          <p:cNvSpPr>
            <a:spLocks noGrp="1"/>
          </p:cNvSpPr>
          <p:nvPr>
            <p:ph type="body" idx="1"/>
          </p:nvPr>
        </p:nvSpPr>
        <p:spPr>
          <a:xfrm>
            <a:off x="839788" y="1681163"/>
            <a:ext cx="5157787" cy="823912"/>
          </a:xfrm>
        </p:spPr>
        <p:txBody>
          <a:bodyPr anchor="b">
            <a:no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12B3D76-2A5A-300F-8F0E-8830F95DFC1D}"/>
              </a:ext>
            </a:extLst>
          </p:cNvPr>
          <p:cNvSpPr>
            <a:spLocks noGrp="1"/>
          </p:cNvSpPr>
          <p:nvPr>
            <p:ph sz="half" idx="2"/>
          </p:nvPr>
        </p:nvSpPr>
        <p:spPr>
          <a:xfrm>
            <a:off x="839788" y="2505075"/>
            <a:ext cx="5157787" cy="3684588"/>
          </a:xfrm>
        </p:spPr>
        <p:txBody>
          <a:bodyPr/>
          <a:lstStyle>
            <a:lvl1pPr>
              <a:defRPr sz="32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1FB145A9-A05F-C1CB-E5C0-02A3BFF9A85B}"/>
              </a:ext>
            </a:extLst>
          </p:cNvPr>
          <p:cNvSpPr>
            <a:spLocks noGrp="1"/>
          </p:cNvSpPr>
          <p:nvPr>
            <p:ph type="body" sz="quarter" idx="3"/>
          </p:nvPr>
        </p:nvSpPr>
        <p:spPr>
          <a:xfrm>
            <a:off x="6172200" y="1681163"/>
            <a:ext cx="5183188" cy="823912"/>
          </a:xfrm>
        </p:spPr>
        <p:txBody>
          <a:bodyPr anchor="b">
            <a:no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25D071D9-E642-31AA-AE3F-69DEF1758E16}"/>
              </a:ext>
            </a:extLst>
          </p:cNvPr>
          <p:cNvSpPr>
            <a:spLocks noGrp="1"/>
          </p:cNvSpPr>
          <p:nvPr>
            <p:ph sz="quarter" idx="4"/>
          </p:nvPr>
        </p:nvSpPr>
        <p:spPr>
          <a:xfrm>
            <a:off x="6172200" y="2505075"/>
            <a:ext cx="5183188" cy="3684588"/>
          </a:xfrm>
        </p:spPr>
        <p:txBody>
          <a:bodyPr>
            <a:normAutofit/>
          </a:bodyPr>
          <a:lstStyle>
            <a:lvl1pPr>
              <a:defRPr sz="3200"/>
            </a:lvl1pPr>
            <a:lvl2pPr>
              <a:defRPr sz="3200"/>
            </a:lvl2pPr>
            <a:lvl3pPr>
              <a:defRPr sz="3200"/>
            </a:lvl3pPr>
            <a:lvl4pPr>
              <a:defRPr sz="3200"/>
            </a:lvl4pPr>
            <a:lvl5pPr>
              <a:defRPr sz="3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Footer Placeholder 3">
            <a:extLst>
              <a:ext uri="{FF2B5EF4-FFF2-40B4-BE49-F238E27FC236}">
                <a16:creationId xmlns:a16="http://schemas.microsoft.com/office/drawing/2014/main" id="{5ABF6DF7-3183-A9DF-C891-522AE460E439}"/>
              </a:ext>
            </a:extLst>
          </p:cNvPr>
          <p:cNvSpPr>
            <a:spLocks noGrp="1"/>
          </p:cNvSpPr>
          <p:nvPr>
            <p:ph type="ftr" sz="quarter" idx="11"/>
          </p:nvPr>
        </p:nvSpPr>
        <p:spPr>
          <a:xfrm>
            <a:off x="252918" y="6363474"/>
            <a:ext cx="3861881" cy="365125"/>
          </a:xfrm>
          <a:prstGeom prst="rect">
            <a:avLst/>
          </a:prstGeom>
        </p:spPr>
        <p:txBody>
          <a:bodyPr/>
          <a:lstStyle>
            <a:lvl1pPr algn="l">
              <a:defRPr/>
            </a:lvl1pPr>
          </a:lstStyle>
          <a:p>
            <a:r>
              <a:rPr lang="en-GB"/>
              <a:t>POL2017 W2 L1 – Research Questions</a:t>
            </a:r>
            <a:endParaRPr lang="en-GB" dirty="0"/>
          </a:p>
        </p:txBody>
      </p:sp>
      <p:sp>
        <p:nvSpPr>
          <p:cNvPr id="11" name="Slide Number Placeholder 4">
            <a:extLst>
              <a:ext uri="{FF2B5EF4-FFF2-40B4-BE49-F238E27FC236}">
                <a16:creationId xmlns:a16="http://schemas.microsoft.com/office/drawing/2014/main" id="{9B3DE170-4110-D1C3-D06E-5D7D884C6C57}"/>
              </a:ext>
            </a:extLst>
          </p:cNvPr>
          <p:cNvSpPr>
            <a:spLocks noGrp="1"/>
          </p:cNvSpPr>
          <p:nvPr>
            <p:ph type="sldNum" sz="quarter" idx="12"/>
          </p:nvPr>
        </p:nvSpPr>
        <p:spPr>
          <a:xfrm>
            <a:off x="9291536" y="6363474"/>
            <a:ext cx="2576209" cy="365125"/>
          </a:xfrm>
          <a:prstGeom prst="rect">
            <a:avLst/>
          </a:prstGeom>
        </p:spPr>
        <p:txBody>
          <a:bodyPr/>
          <a:lstStyle/>
          <a:p>
            <a:fld id="{372769DB-CAE7-4C85-A9AF-7D4D8DE4CA22}" type="slidenum">
              <a:rPr lang="en-GB" smtClean="0"/>
              <a:t>‹#›</a:t>
            </a:fld>
            <a:endParaRPr lang="en-GB" dirty="0"/>
          </a:p>
        </p:txBody>
      </p:sp>
      <p:sp>
        <p:nvSpPr>
          <p:cNvPr id="7" name="Title 1">
            <a:extLst>
              <a:ext uri="{FF2B5EF4-FFF2-40B4-BE49-F238E27FC236}">
                <a16:creationId xmlns:a16="http://schemas.microsoft.com/office/drawing/2014/main" id="{22E5BA71-C08F-1D0F-0F81-B9192A0C0D28}"/>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Tree>
    <p:extLst>
      <p:ext uri="{BB962C8B-B14F-4D97-AF65-F5344CB8AC3E}">
        <p14:creationId xmlns:p14="http://schemas.microsoft.com/office/powerpoint/2010/main" val="436717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59C097-32A5-A687-E53B-70511CAF290F}"/>
              </a:ext>
            </a:extLst>
          </p:cNvPr>
          <p:cNvSpPr>
            <a:spLocks noGrp="1"/>
          </p:cNvSpPr>
          <p:nvPr>
            <p:ph type="ftr" sz="quarter" idx="11"/>
          </p:nvPr>
        </p:nvSpPr>
        <p:spPr>
          <a:xfrm>
            <a:off x="252918" y="6363474"/>
            <a:ext cx="3861881" cy="365125"/>
          </a:xfrm>
          <a:prstGeom prst="rect">
            <a:avLst/>
          </a:prstGeom>
        </p:spPr>
        <p:txBody>
          <a:bodyPr/>
          <a:lstStyle>
            <a:lvl1pPr algn="l">
              <a:defRPr/>
            </a:lvl1pPr>
          </a:lstStyle>
          <a:p>
            <a:r>
              <a:rPr lang="en-GB"/>
              <a:t>POL2017 W2 L1 – Research Questions</a:t>
            </a:r>
            <a:endParaRPr lang="en-GB" dirty="0"/>
          </a:p>
        </p:txBody>
      </p:sp>
      <p:sp>
        <p:nvSpPr>
          <p:cNvPr id="5" name="Slide Number Placeholder 4">
            <a:extLst>
              <a:ext uri="{FF2B5EF4-FFF2-40B4-BE49-F238E27FC236}">
                <a16:creationId xmlns:a16="http://schemas.microsoft.com/office/drawing/2014/main" id="{5F39E005-ECD2-D8B0-F2A6-7FF12C769CCB}"/>
              </a:ext>
            </a:extLst>
          </p:cNvPr>
          <p:cNvSpPr>
            <a:spLocks noGrp="1"/>
          </p:cNvSpPr>
          <p:nvPr>
            <p:ph type="sldNum" sz="quarter" idx="12"/>
          </p:nvPr>
        </p:nvSpPr>
        <p:spPr>
          <a:xfrm>
            <a:off x="9291536" y="6363474"/>
            <a:ext cx="2576209" cy="365125"/>
          </a:xfrm>
          <a:prstGeom prst="rect">
            <a:avLst/>
          </a:prstGeom>
        </p:spPr>
        <p:txBody>
          <a:bodyPr/>
          <a:lstStyle/>
          <a:p>
            <a:fld id="{372769DB-CAE7-4C85-A9AF-7D4D8DE4CA22}" type="slidenum">
              <a:rPr lang="en-GB" smtClean="0"/>
              <a:t>‹#›</a:t>
            </a:fld>
            <a:endParaRPr lang="en-GB" dirty="0"/>
          </a:p>
        </p:txBody>
      </p:sp>
      <p:sp>
        <p:nvSpPr>
          <p:cNvPr id="3" name="Title 1">
            <a:extLst>
              <a:ext uri="{FF2B5EF4-FFF2-40B4-BE49-F238E27FC236}">
                <a16:creationId xmlns:a16="http://schemas.microsoft.com/office/drawing/2014/main" id="{F92392D4-0138-ECBD-532E-276BBF1ADD4F}"/>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Tree>
    <p:extLst>
      <p:ext uri="{BB962C8B-B14F-4D97-AF65-F5344CB8AC3E}">
        <p14:creationId xmlns:p14="http://schemas.microsoft.com/office/powerpoint/2010/main" val="3481153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12EB5B-91EF-4908-4A2A-172B36FE1DF3}"/>
              </a:ext>
            </a:extLst>
          </p:cNvPr>
          <p:cNvSpPr/>
          <p:nvPr userDrawn="1"/>
        </p:nvSpPr>
        <p:spPr>
          <a:xfrm>
            <a:off x="0" y="0"/>
            <a:ext cx="12192000" cy="685799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8B6E87AB-CAA0-4BDE-E584-6A2A21EB30BE}"/>
              </a:ext>
            </a:extLst>
          </p:cNvPr>
          <p:cNvSpPr>
            <a:spLocks noGrp="1"/>
          </p:cNvSpPr>
          <p:nvPr>
            <p:ph type="sldNum" sz="quarter" idx="12"/>
          </p:nvPr>
        </p:nvSpPr>
        <p:spPr>
          <a:xfrm>
            <a:off x="9028889" y="6356349"/>
            <a:ext cx="2743200" cy="365125"/>
          </a:xfrm>
          <a:prstGeom prst="rect">
            <a:avLst/>
          </a:prstGeom>
        </p:spPr>
        <p:txBody>
          <a:bodyPr/>
          <a:lstStyle/>
          <a:p>
            <a:fld id="{372769DB-CAE7-4C85-A9AF-7D4D8DE4CA22}" type="slidenum">
              <a:rPr lang="en-GB" smtClean="0"/>
              <a:t>‹#›</a:t>
            </a:fld>
            <a:endParaRPr lang="en-GB" dirty="0"/>
          </a:p>
        </p:txBody>
      </p:sp>
    </p:spTree>
    <p:extLst>
      <p:ext uri="{BB962C8B-B14F-4D97-AF65-F5344CB8AC3E}">
        <p14:creationId xmlns:p14="http://schemas.microsoft.com/office/powerpoint/2010/main" val="193971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3A148E-F221-49F5-8FAD-8F9979F79DB1}"/>
              </a:ext>
            </a:extLst>
          </p:cNvPr>
          <p:cNvSpPr>
            <a:spLocks noGrp="1"/>
          </p:cNvSpPr>
          <p:nvPr>
            <p:ph idx="1"/>
          </p:nvPr>
        </p:nvSpPr>
        <p:spPr>
          <a:xfrm>
            <a:off x="5000017" y="1489848"/>
            <a:ext cx="6491558" cy="4873625"/>
          </a:xfrm>
        </p:spPr>
        <p:txBody>
          <a:bodyPr>
            <a:normAutofit/>
          </a:bodyPr>
          <a:lstStyle>
            <a:lvl1pPr>
              <a:defRPr sz="3200"/>
            </a:lvl1pPr>
            <a:lvl2pPr>
              <a:defRPr sz="3200"/>
            </a:lvl2pPr>
            <a:lvl3pPr>
              <a:defRPr sz="3200"/>
            </a:lvl3pPr>
            <a:lvl4pPr>
              <a:defRPr sz="3200"/>
            </a:lvl4pPr>
            <a:lvl5pPr>
              <a:defRPr sz="32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EBFCA531-6799-0A7D-BB52-DE792E83A6A2}"/>
              </a:ext>
            </a:extLst>
          </p:cNvPr>
          <p:cNvSpPr>
            <a:spLocks noGrp="1"/>
          </p:cNvSpPr>
          <p:nvPr>
            <p:ph type="body" sz="half" idx="2"/>
          </p:nvPr>
        </p:nvSpPr>
        <p:spPr>
          <a:xfrm>
            <a:off x="839788" y="2057400"/>
            <a:ext cx="3932237" cy="3811588"/>
          </a:xfrm>
        </p:spPr>
        <p:txBody>
          <a:bodyPr>
            <a:normAutofit/>
          </a:bodyPr>
          <a:lstStyle>
            <a:lvl1pPr marL="0" indent="0">
              <a:buNone/>
              <a:defRPr sz="2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a:extLst>
              <a:ext uri="{FF2B5EF4-FFF2-40B4-BE49-F238E27FC236}">
                <a16:creationId xmlns:a16="http://schemas.microsoft.com/office/drawing/2014/main" id="{855C95B6-27F8-3A53-C994-DD92E5F860BD}"/>
              </a:ext>
            </a:extLst>
          </p:cNvPr>
          <p:cNvSpPr>
            <a:spLocks noGrp="1"/>
          </p:cNvSpPr>
          <p:nvPr>
            <p:ph type="ftr" sz="quarter" idx="11"/>
          </p:nvPr>
        </p:nvSpPr>
        <p:spPr>
          <a:xfrm>
            <a:off x="0" y="6363474"/>
            <a:ext cx="4114800" cy="365125"/>
          </a:xfrm>
          <a:prstGeom prst="rect">
            <a:avLst/>
          </a:prstGeom>
        </p:spPr>
        <p:txBody>
          <a:bodyPr/>
          <a:lstStyle/>
          <a:p>
            <a:r>
              <a:rPr lang="en-GB"/>
              <a:t>POL2017 W2 L1 – Research Questions</a:t>
            </a:r>
            <a:endParaRPr lang="en-GB" dirty="0"/>
          </a:p>
        </p:txBody>
      </p:sp>
      <p:sp>
        <p:nvSpPr>
          <p:cNvPr id="7" name="Slide Number Placeholder 6">
            <a:extLst>
              <a:ext uri="{FF2B5EF4-FFF2-40B4-BE49-F238E27FC236}">
                <a16:creationId xmlns:a16="http://schemas.microsoft.com/office/drawing/2014/main" id="{02493E98-5D4C-EB9B-5697-C0ED4B9F262C}"/>
              </a:ext>
            </a:extLst>
          </p:cNvPr>
          <p:cNvSpPr>
            <a:spLocks noGrp="1"/>
          </p:cNvSpPr>
          <p:nvPr>
            <p:ph type="sldNum" sz="quarter" idx="12"/>
          </p:nvPr>
        </p:nvSpPr>
        <p:spPr>
          <a:xfrm>
            <a:off x="9291536" y="6363474"/>
            <a:ext cx="2743200" cy="365125"/>
          </a:xfrm>
          <a:prstGeom prst="rect">
            <a:avLst/>
          </a:prstGeom>
        </p:spPr>
        <p:txBody>
          <a:bodyPr/>
          <a:lstStyle/>
          <a:p>
            <a:fld id="{372769DB-CAE7-4C85-A9AF-7D4D8DE4CA22}" type="slidenum">
              <a:rPr lang="en-GB" smtClean="0"/>
              <a:t>‹#›</a:t>
            </a:fld>
            <a:endParaRPr lang="en-GB"/>
          </a:p>
        </p:txBody>
      </p:sp>
      <p:sp>
        <p:nvSpPr>
          <p:cNvPr id="5" name="Title 1">
            <a:extLst>
              <a:ext uri="{FF2B5EF4-FFF2-40B4-BE49-F238E27FC236}">
                <a16:creationId xmlns:a16="http://schemas.microsoft.com/office/drawing/2014/main" id="{ACC033A0-C9EA-ED54-3B72-4192C4F04538}"/>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Tree>
    <p:extLst>
      <p:ext uri="{BB962C8B-B14F-4D97-AF65-F5344CB8AC3E}">
        <p14:creationId xmlns:p14="http://schemas.microsoft.com/office/powerpoint/2010/main" val="645693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DEE3-635D-CB9C-9911-5F287B56C8B8}"/>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
        <p:nvSpPr>
          <p:cNvPr id="3" name="Picture Placeholder 2">
            <a:extLst>
              <a:ext uri="{FF2B5EF4-FFF2-40B4-BE49-F238E27FC236}">
                <a16:creationId xmlns:a16="http://schemas.microsoft.com/office/drawing/2014/main" id="{287404D5-B2D3-F6C7-A964-A19846114627}"/>
              </a:ext>
            </a:extLst>
          </p:cNvPr>
          <p:cNvSpPr>
            <a:spLocks noGrp="1"/>
          </p:cNvSpPr>
          <p:nvPr>
            <p:ph type="pic" idx="1"/>
          </p:nvPr>
        </p:nvSpPr>
        <p:spPr>
          <a:xfrm>
            <a:off x="4309353" y="1352145"/>
            <a:ext cx="7402749" cy="500420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BC72E5A9-E23F-5DEE-AF48-F3FF759A3395}"/>
              </a:ext>
            </a:extLst>
          </p:cNvPr>
          <p:cNvSpPr>
            <a:spLocks noGrp="1"/>
          </p:cNvSpPr>
          <p:nvPr>
            <p:ph type="body" sz="half" idx="2"/>
          </p:nvPr>
        </p:nvSpPr>
        <p:spPr>
          <a:xfrm>
            <a:off x="242887" y="1916349"/>
            <a:ext cx="3871913" cy="3959156"/>
          </a:xfrm>
        </p:spPr>
        <p:txBody>
          <a:bodyPr>
            <a:normAutofit/>
          </a:bodyPr>
          <a:lstStyle>
            <a:lvl1pPr marL="0" indent="0">
              <a:buNone/>
              <a:defRPr sz="2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a:extLst>
              <a:ext uri="{FF2B5EF4-FFF2-40B4-BE49-F238E27FC236}">
                <a16:creationId xmlns:a16="http://schemas.microsoft.com/office/drawing/2014/main" id="{0A564931-9660-71DE-C324-782959E138C0}"/>
              </a:ext>
            </a:extLst>
          </p:cNvPr>
          <p:cNvSpPr>
            <a:spLocks noGrp="1"/>
          </p:cNvSpPr>
          <p:nvPr>
            <p:ph type="ftr" sz="quarter" idx="11"/>
          </p:nvPr>
        </p:nvSpPr>
        <p:spPr>
          <a:xfrm>
            <a:off x="0" y="6363473"/>
            <a:ext cx="4114800" cy="365125"/>
          </a:xfrm>
          <a:prstGeom prst="rect">
            <a:avLst/>
          </a:prstGeom>
        </p:spPr>
        <p:txBody>
          <a:bodyPr/>
          <a:lstStyle/>
          <a:p>
            <a:r>
              <a:rPr lang="en-GB"/>
              <a:t>POL2017 W2 L1 – Research Questions</a:t>
            </a:r>
            <a:endParaRPr lang="en-GB" dirty="0"/>
          </a:p>
        </p:txBody>
      </p:sp>
      <p:sp>
        <p:nvSpPr>
          <p:cNvPr id="7" name="Slide Number Placeholder 6">
            <a:extLst>
              <a:ext uri="{FF2B5EF4-FFF2-40B4-BE49-F238E27FC236}">
                <a16:creationId xmlns:a16="http://schemas.microsoft.com/office/drawing/2014/main" id="{0974101F-C579-3FA8-15A9-1156DC1C4485}"/>
              </a:ext>
            </a:extLst>
          </p:cNvPr>
          <p:cNvSpPr>
            <a:spLocks noGrp="1"/>
          </p:cNvSpPr>
          <p:nvPr>
            <p:ph type="sldNum" sz="quarter" idx="12"/>
          </p:nvPr>
        </p:nvSpPr>
        <p:spPr>
          <a:xfrm>
            <a:off x="9291536" y="6363474"/>
            <a:ext cx="2743200" cy="365125"/>
          </a:xfrm>
          <a:prstGeom prst="rect">
            <a:avLst/>
          </a:prstGeom>
        </p:spPr>
        <p:txBody>
          <a:bodyPr/>
          <a:lstStyle/>
          <a:p>
            <a:fld id="{372769DB-CAE7-4C85-A9AF-7D4D8DE4CA22}" type="slidenum">
              <a:rPr lang="en-GB" smtClean="0"/>
              <a:t>‹#›</a:t>
            </a:fld>
            <a:endParaRPr lang="en-GB"/>
          </a:p>
        </p:txBody>
      </p:sp>
    </p:spTree>
    <p:extLst>
      <p:ext uri="{BB962C8B-B14F-4D97-AF65-F5344CB8AC3E}">
        <p14:creationId xmlns:p14="http://schemas.microsoft.com/office/powerpoint/2010/main" val="2516025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022171F-7F37-458B-E310-C64CC24B9571}"/>
              </a:ext>
            </a:extLst>
          </p:cNvPr>
          <p:cNvSpPr/>
          <p:nvPr userDrawn="1"/>
        </p:nvSpPr>
        <p:spPr>
          <a:xfrm>
            <a:off x="0" y="0"/>
            <a:ext cx="12192000" cy="1154096"/>
          </a:xfrm>
          <a:prstGeom prst="rect">
            <a:avLst/>
          </a:prstGeom>
          <a:solidFill>
            <a:srgbClr val="F7A855"/>
          </a:solidFill>
          <a:ln>
            <a:solidFill>
              <a:srgbClr val="F7A8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0EB3B69C-5102-F7EC-ACA1-B357C88005B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367444F-E134-DF1E-A1B3-041F3CB38036}"/>
              </a:ext>
            </a:extLst>
          </p:cNvPr>
          <p:cNvSpPr>
            <a:spLocks noGrp="1"/>
          </p:cNvSpPr>
          <p:nvPr>
            <p:ph type="body" orient="vert" idx="1"/>
          </p:nvPr>
        </p:nvSpPr>
        <p:spPr>
          <a:xfrm>
            <a:off x="6461760" y="1825625"/>
            <a:ext cx="4892040" cy="43513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A3D3E8F7-DFA2-87D3-246E-6EDA78447C5E}"/>
              </a:ext>
            </a:extLst>
          </p:cNvPr>
          <p:cNvSpPr>
            <a:spLocks noGrp="1"/>
          </p:cNvSpPr>
          <p:nvPr>
            <p:ph type="ftr" sz="quarter" idx="11"/>
          </p:nvPr>
        </p:nvSpPr>
        <p:spPr>
          <a:xfrm>
            <a:off x="0" y="6363474"/>
            <a:ext cx="4114800" cy="365125"/>
          </a:xfrm>
          <a:prstGeom prst="rect">
            <a:avLst/>
          </a:prstGeom>
        </p:spPr>
        <p:txBody>
          <a:bodyPr/>
          <a:lstStyle/>
          <a:p>
            <a:r>
              <a:rPr lang="en-GB"/>
              <a:t>POL2017 W2 L1 – Research Questions</a:t>
            </a:r>
            <a:endParaRPr lang="en-GB" dirty="0"/>
          </a:p>
        </p:txBody>
      </p:sp>
      <p:sp>
        <p:nvSpPr>
          <p:cNvPr id="6" name="Slide Number Placeholder 5">
            <a:extLst>
              <a:ext uri="{FF2B5EF4-FFF2-40B4-BE49-F238E27FC236}">
                <a16:creationId xmlns:a16="http://schemas.microsoft.com/office/drawing/2014/main" id="{0084D201-4FE7-45F0-EE4D-E77E00679242}"/>
              </a:ext>
            </a:extLst>
          </p:cNvPr>
          <p:cNvSpPr>
            <a:spLocks noGrp="1"/>
          </p:cNvSpPr>
          <p:nvPr>
            <p:ph type="sldNum" sz="quarter" idx="12"/>
          </p:nvPr>
        </p:nvSpPr>
        <p:spPr>
          <a:xfrm>
            <a:off x="9291536" y="6363474"/>
            <a:ext cx="2743200" cy="365125"/>
          </a:xfrm>
          <a:prstGeom prst="rect">
            <a:avLst/>
          </a:prstGeom>
        </p:spPr>
        <p:txBody>
          <a:bodyPr/>
          <a:lstStyle/>
          <a:p>
            <a:fld id="{372769DB-CAE7-4C85-A9AF-7D4D8DE4CA22}" type="slidenum">
              <a:rPr lang="en-GB" smtClean="0"/>
              <a:t>‹#›</a:t>
            </a:fld>
            <a:endParaRPr lang="en-GB"/>
          </a:p>
        </p:txBody>
      </p:sp>
      <p:sp>
        <p:nvSpPr>
          <p:cNvPr id="7" name="Rectangle 6">
            <a:extLst>
              <a:ext uri="{FF2B5EF4-FFF2-40B4-BE49-F238E27FC236}">
                <a16:creationId xmlns:a16="http://schemas.microsoft.com/office/drawing/2014/main" id="{588B5922-6DD0-09AE-40A9-EC242DC6857E}"/>
              </a:ext>
            </a:extLst>
          </p:cNvPr>
          <p:cNvSpPr/>
          <p:nvPr userDrawn="1"/>
        </p:nvSpPr>
        <p:spPr>
          <a:xfrm>
            <a:off x="2892797" y="2152258"/>
            <a:ext cx="553279" cy="503721"/>
          </a:xfrm>
          <a:prstGeom prst="rect">
            <a:avLst/>
          </a:prstGeom>
          <a:solidFill>
            <a:srgbClr val="F7A8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C14B5CBE-ECB8-D850-33FA-52C867A9611F}"/>
              </a:ext>
            </a:extLst>
          </p:cNvPr>
          <p:cNvSpPr/>
          <p:nvPr userDrawn="1"/>
        </p:nvSpPr>
        <p:spPr>
          <a:xfrm>
            <a:off x="2892799" y="2955421"/>
            <a:ext cx="553278" cy="503721"/>
          </a:xfrm>
          <a:prstGeom prst="rect">
            <a:avLst/>
          </a:prstGeom>
          <a:solidFill>
            <a:srgbClr val="FEF0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A57FF8C6-A5E1-9C6A-E79E-405B34F814DD}"/>
              </a:ext>
            </a:extLst>
          </p:cNvPr>
          <p:cNvSpPr/>
          <p:nvPr userDrawn="1"/>
        </p:nvSpPr>
        <p:spPr>
          <a:xfrm>
            <a:off x="1827621" y="2955421"/>
            <a:ext cx="553278" cy="502377"/>
          </a:xfrm>
          <a:prstGeom prst="rect">
            <a:avLst/>
          </a:prstGeom>
          <a:solidFill>
            <a:srgbClr val="72BC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2869F75A-002C-2529-CB1D-D09D74F122F8}"/>
              </a:ext>
            </a:extLst>
          </p:cNvPr>
          <p:cNvSpPr/>
          <p:nvPr userDrawn="1"/>
        </p:nvSpPr>
        <p:spPr>
          <a:xfrm>
            <a:off x="3836982" y="2154668"/>
            <a:ext cx="553277" cy="501311"/>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E80ED7E-B825-169D-5F98-6B2CD58FDAA0}"/>
              </a:ext>
            </a:extLst>
          </p:cNvPr>
          <p:cNvSpPr/>
          <p:nvPr userDrawn="1"/>
        </p:nvSpPr>
        <p:spPr>
          <a:xfrm>
            <a:off x="1827621" y="2137131"/>
            <a:ext cx="553278" cy="502377"/>
          </a:xfrm>
          <a:prstGeom prst="rect">
            <a:avLst/>
          </a:prstGeom>
          <a:solidFill>
            <a:srgbClr val="37679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00DC89A4-D434-533C-A09D-9183CB354F82}"/>
              </a:ext>
            </a:extLst>
          </p:cNvPr>
          <p:cNvSpPr/>
          <p:nvPr userDrawn="1"/>
        </p:nvSpPr>
        <p:spPr>
          <a:xfrm>
            <a:off x="3836982" y="2955421"/>
            <a:ext cx="553278" cy="518784"/>
          </a:xfrm>
          <a:prstGeom prst="rect">
            <a:avLst/>
          </a:prstGeom>
          <a:solidFill>
            <a:srgbClr val="FCE2D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653F9D73-E78B-94A1-E5C2-22FA154344C3}"/>
              </a:ext>
            </a:extLst>
          </p:cNvPr>
          <p:cNvSpPr/>
          <p:nvPr userDrawn="1"/>
        </p:nvSpPr>
        <p:spPr>
          <a:xfrm>
            <a:off x="2922271" y="4151748"/>
            <a:ext cx="553279" cy="503721"/>
          </a:xfrm>
          <a:prstGeom prst="rect">
            <a:avLst/>
          </a:prstGeom>
          <a:solidFill>
            <a:srgbClr val="F7A8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05E5E622-FB98-73DB-5586-C0ADCB995613}"/>
              </a:ext>
            </a:extLst>
          </p:cNvPr>
          <p:cNvSpPr/>
          <p:nvPr userDrawn="1"/>
        </p:nvSpPr>
        <p:spPr>
          <a:xfrm>
            <a:off x="2922273" y="4954911"/>
            <a:ext cx="553278" cy="503721"/>
          </a:xfrm>
          <a:prstGeom prst="rect">
            <a:avLst/>
          </a:prstGeom>
          <a:solidFill>
            <a:srgbClr val="E5860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6FA642DA-A018-C45D-85CD-175791132943}"/>
              </a:ext>
            </a:extLst>
          </p:cNvPr>
          <p:cNvSpPr/>
          <p:nvPr userDrawn="1"/>
        </p:nvSpPr>
        <p:spPr>
          <a:xfrm>
            <a:off x="1857095" y="4954911"/>
            <a:ext cx="553278" cy="502377"/>
          </a:xfrm>
          <a:prstGeom prst="rect">
            <a:avLst/>
          </a:prstGeom>
          <a:solidFill>
            <a:srgbClr val="F2AB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F49973BA-C0E1-9DB6-F14F-F326ED0C8700}"/>
              </a:ext>
            </a:extLst>
          </p:cNvPr>
          <p:cNvSpPr/>
          <p:nvPr userDrawn="1"/>
        </p:nvSpPr>
        <p:spPr>
          <a:xfrm>
            <a:off x="3866456" y="4154158"/>
            <a:ext cx="553277" cy="501311"/>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ectangle 16">
            <a:extLst>
              <a:ext uri="{FF2B5EF4-FFF2-40B4-BE49-F238E27FC236}">
                <a16:creationId xmlns:a16="http://schemas.microsoft.com/office/drawing/2014/main" id="{76422483-2999-7D3D-422B-23683B72C1E1}"/>
              </a:ext>
            </a:extLst>
          </p:cNvPr>
          <p:cNvSpPr/>
          <p:nvPr userDrawn="1"/>
        </p:nvSpPr>
        <p:spPr>
          <a:xfrm>
            <a:off x="1857095" y="4136621"/>
            <a:ext cx="553278" cy="502377"/>
          </a:xfrm>
          <a:prstGeom prst="rect">
            <a:avLst/>
          </a:prstGeom>
          <a:solidFill>
            <a:srgbClr val="EBCC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CBDA8352-04A8-CA95-2A5A-CBD134AE176C}"/>
              </a:ext>
            </a:extLst>
          </p:cNvPr>
          <p:cNvSpPr/>
          <p:nvPr userDrawn="1"/>
        </p:nvSpPr>
        <p:spPr>
          <a:xfrm>
            <a:off x="3866456" y="4954911"/>
            <a:ext cx="553278" cy="518784"/>
          </a:xfrm>
          <a:prstGeom prst="rect">
            <a:avLst/>
          </a:prstGeom>
          <a:solidFill>
            <a:srgbClr val="01A0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10073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B9C93C-C147-D2FF-6AFC-7E7BE5466FA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6217830-FCB5-9878-FF2A-D2CDEE77AC2C}"/>
              </a:ext>
            </a:extLst>
          </p:cNvPr>
          <p:cNvSpPr>
            <a:spLocks noGrp="1"/>
          </p:cNvSpPr>
          <p:nvPr>
            <p:ph type="body" orient="vert" idx="1"/>
          </p:nvPr>
        </p:nvSpPr>
        <p:spPr>
          <a:xfrm>
            <a:off x="3322320" y="365125"/>
            <a:ext cx="525018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22D0C7C-F16C-C08B-4592-407E9C6577DA}"/>
              </a:ext>
            </a:extLst>
          </p:cNvPr>
          <p:cNvSpPr>
            <a:spLocks noGrp="1"/>
          </p:cNvSpPr>
          <p:nvPr>
            <p:ph type="dt" sz="half" idx="10"/>
          </p:nvPr>
        </p:nvSpPr>
        <p:spPr>
          <a:xfrm>
            <a:off x="838200" y="6356350"/>
            <a:ext cx="2743200" cy="365125"/>
          </a:xfrm>
          <a:prstGeom prst="rect">
            <a:avLst/>
          </a:prstGeom>
        </p:spPr>
        <p:txBody>
          <a:bodyPr/>
          <a:lstStyle/>
          <a:p>
            <a:endParaRPr lang="en-GB"/>
          </a:p>
        </p:txBody>
      </p:sp>
      <p:sp>
        <p:nvSpPr>
          <p:cNvPr id="5" name="Footer Placeholder 4">
            <a:extLst>
              <a:ext uri="{FF2B5EF4-FFF2-40B4-BE49-F238E27FC236}">
                <a16:creationId xmlns:a16="http://schemas.microsoft.com/office/drawing/2014/main" id="{BE4DD17E-38FC-A1A4-51ED-35464F773CA6}"/>
              </a:ext>
            </a:extLst>
          </p:cNvPr>
          <p:cNvSpPr>
            <a:spLocks noGrp="1"/>
          </p:cNvSpPr>
          <p:nvPr>
            <p:ph type="ftr" sz="quarter" idx="11"/>
          </p:nvPr>
        </p:nvSpPr>
        <p:spPr>
          <a:xfrm>
            <a:off x="0" y="6363473"/>
            <a:ext cx="4114800" cy="365125"/>
          </a:xfrm>
          <a:prstGeom prst="rect">
            <a:avLst/>
          </a:prstGeom>
        </p:spPr>
        <p:txBody>
          <a:bodyPr/>
          <a:lstStyle/>
          <a:p>
            <a:r>
              <a:rPr lang="en-GB"/>
              <a:t>POL2017 W2 L1 – Research Questions</a:t>
            </a:r>
          </a:p>
        </p:txBody>
      </p:sp>
      <p:sp>
        <p:nvSpPr>
          <p:cNvPr id="6" name="Slide Number Placeholder 5">
            <a:extLst>
              <a:ext uri="{FF2B5EF4-FFF2-40B4-BE49-F238E27FC236}">
                <a16:creationId xmlns:a16="http://schemas.microsoft.com/office/drawing/2014/main" id="{56BC4716-9DDB-6984-A8BE-8D9E1ACA7B34}"/>
              </a:ext>
            </a:extLst>
          </p:cNvPr>
          <p:cNvSpPr>
            <a:spLocks noGrp="1"/>
          </p:cNvSpPr>
          <p:nvPr>
            <p:ph type="sldNum" sz="quarter" idx="12"/>
          </p:nvPr>
        </p:nvSpPr>
        <p:spPr>
          <a:xfrm>
            <a:off x="9291536" y="6363474"/>
            <a:ext cx="2743200" cy="365125"/>
          </a:xfrm>
          <a:prstGeom prst="rect">
            <a:avLst/>
          </a:prstGeom>
        </p:spPr>
        <p:txBody>
          <a:bodyPr/>
          <a:lstStyle/>
          <a:p>
            <a:fld id="{372769DB-CAE7-4C85-A9AF-7D4D8DE4CA22}" type="slidenum">
              <a:rPr lang="en-GB" smtClean="0"/>
              <a:t>‹#›</a:t>
            </a:fld>
            <a:endParaRPr lang="en-GB"/>
          </a:p>
        </p:txBody>
      </p:sp>
      <p:sp>
        <p:nvSpPr>
          <p:cNvPr id="7" name="Rectangle 6">
            <a:extLst>
              <a:ext uri="{FF2B5EF4-FFF2-40B4-BE49-F238E27FC236}">
                <a16:creationId xmlns:a16="http://schemas.microsoft.com/office/drawing/2014/main" id="{F841951A-8D87-4F43-FC6B-A657181FC6FF}"/>
              </a:ext>
            </a:extLst>
          </p:cNvPr>
          <p:cNvSpPr/>
          <p:nvPr userDrawn="1"/>
        </p:nvSpPr>
        <p:spPr>
          <a:xfrm>
            <a:off x="0" y="0"/>
            <a:ext cx="12192000" cy="1154096"/>
          </a:xfrm>
          <a:prstGeom prst="rect">
            <a:avLst/>
          </a:prstGeom>
          <a:solidFill>
            <a:srgbClr val="01A0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AC5C020D-E67A-E299-C503-6697E5A42110}"/>
              </a:ext>
            </a:extLst>
          </p:cNvPr>
          <p:cNvSpPr/>
          <p:nvPr userDrawn="1"/>
        </p:nvSpPr>
        <p:spPr>
          <a:xfrm>
            <a:off x="1626737" y="2243698"/>
            <a:ext cx="553279" cy="503721"/>
          </a:xfrm>
          <a:prstGeom prst="rect">
            <a:avLst/>
          </a:prstGeom>
          <a:solidFill>
            <a:srgbClr val="F7A8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90AA7976-0675-37B6-6301-B5E08A25B6EE}"/>
              </a:ext>
            </a:extLst>
          </p:cNvPr>
          <p:cNvSpPr/>
          <p:nvPr userDrawn="1"/>
        </p:nvSpPr>
        <p:spPr>
          <a:xfrm>
            <a:off x="1626739" y="3046861"/>
            <a:ext cx="553278" cy="503721"/>
          </a:xfrm>
          <a:prstGeom prst="rect">
            <a:avLst/>
          </a:prstGeom>
          <a:solidFill>
            <a:srgbClr val="FEF0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2E80848C-7A3C-EDDF-7749-D9687FA7D534}"/>
              </a:ext>
            </a:extLst>
          </p:cNvPr>
          <p:cNvSpPr/>
          <p:nvPr userDrawn="1"/>
        </p:nvSpPr>
        <p:spPr>
          <a:xfrm>
            <a:off x="561561" y="3046861"/>
            <a:ext cx="553278" cy="502377"/>
          </a:xfrm>
          <a:prstGeom prst="rect">
            <a:avLst/>
          </a:prstGeom>
          <a:solidFill>
            <a:srgbClr val="72BC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C90161F2-63FE-D7D0-C071-2CB3FADFBD2A}"/>
              </a:ext>
            </a:extLst>
          </p:cNvPr>
          <p:cNvSpPr/>
          <p:nvPr userDrawn="1"/>
        </p:nvSpPr>
        <p:spPr>
          <a:xfrm>
            <a:off x="2570922" y="2246108"/>
            <a:ext cx="553277" cy="501311"/>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11">
            <a:extLst>
              <a:ext uri="{FF2B5EF4-FFF2-40B4-BE49-F238E27FC236}">
                <a16:creationId xmlns:a16="http://schemas.microsoft.com/office/drawing/2014/main" id="{066C6C8B-7D04-F1DC-88ED-4B4EE5498B39}"/>
              </a:ext>
            </a:extLst>
          </p:cNvPr>
          <p:cNvSpPr/>
          <p:nvPr userDrawn="1"/>
        </p:nvSpPr>
        <p:spPr>
          <a:xfrm>
            <a:off x="561561" y="2228571"/>
            <a:ext cx="553278" cy="502377"/>
          </a:xfrm>
          <a:prstGeom prst="rect">
            <a:avLst/>
          </a:prstGeom>
          <a:solidFill>
            <a:srgbClr val="37679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E9492BF5-494B-4BE4-709D-FB2112364DD6}"/>
              </a:ext>
            </a:extLst>
          </p:cNvPr>
          <p:cNvSpPr/>
          <p:nvPr userDrawn="1"/>
        </p:nvSpPr>
        <p:spPr>
          <a:xfrm>
            <a:off x="2570922" y="3046861"/>
            <a:ext cx="553278" cy="518784"/>
          </a:xfrm>
          <a:prstGeom prst="rect">
            <a:avLst/>
          </a:prstGeom>
          <a:solidFill>
            <a:srgbClr val="FCE2D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327DFB5F-12A2-63A9-95E9-BB741AD5BE28}"/>
              </a:ext>
            </a:extLst>
          </p:cNvPr>
          <p:cNvSpPr/>
          <p:nvPr userDrawn="1"/>
        </p:nvSpPr>
        <p:spPr>
          <a:xfrm>
            <a:off x="1656211" y="4243188"/>
            <a:ext cx="553279" cy="503721"/>
          </a:xfrm>
          <a:prstGeom prst="rect">
            <a:avLst/>
          </a:prstGeom>
          <a:solidFill>
            <a:srgbClr val="F7A8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3B5871CD-4399-36A1-3253-4B0BB32C4D3D}"/>
              </a:ext>
            </a:extLst>
          </p:cNvPr>
          <p:cNvSpPr/>
          <p:nvPr userDrawn="1"/>
        </p:nvSpPr>
        <p:spPr>
          <a:xfrm>
            <a:off x="1656213" y="5046351"/>
            <a:ext cx="553278" cy="503721"/>
          </a:xfrm>
          <a:prstGeom prst="rect">
            <a:avLst/>
          </a:prstGeom>
          <a:solidFill>
            <a:srgbClr val="E5860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D46D2525-DFE5-C548-4358-DBBB03B838EE}"/>
              </a:ext>
            </a:extLst>
          </p:cNvPr>
          <p:cNvSpPr/>
          <p:nvPr userDrawn="1"/>
        </p:nvSpPr>
        <p:spPr>
          <a:xfrm>
            <a:off x="591035" y="5046351"/>
            <a:ext cx="553278" cy="502377"/>
          </a:xfrm>
          <a:prstGeom prst="rect">
            <a:avLst/>
          </a:prstGeom>
          <a:solidFill>
            <a:srgbClr val="F2AB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E6748769-125E-C9B7-16F9-5C2B1EB7A452}"/>
              </a:ext>
            </a:extLst>
          </p:cNvPr>
          <p:cNvSpPr/>
          <p:nvPr userDrawn="1"/>
        </p:nvSpPr>
        <p:spPr>
          <a:xfrm>
            <a:off x="2600396" y="4245598"/>
            <a:ext cx="553277" cy="501311"/>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tangle 17">
            <a:extLst>
              <a:ext uri="{FF2B5EF4-FFF2-40B4-BE49-F238E27FC236}">
                <a16:creationId xmlns:a16="http://schemas.microsoft.com/office/drawing/2014/main" id="{E3133E4F-DF31-F074-FDA8-6D6D35FFF0B4}"/>
              </a:ext>
            </a:extLst>
          </p:cNvPr>
          <p:cNvSpPr/>
          <p:nvPr userDrawn="1"/>
        </p:nvSpPr>
        <p:spPr>
          <a:xfrm>
            <a:off x="591035" y="4228061"/>
            <a:ext cx="553278" cy="502377"/>
          </a:xfrm>
          <a:prstGeom prst="rect">
            <a:avLst/>
          </a:prstGeom>
          <a:solidFill>
            <a:srgbClr val="EBCC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A6DE0CA1-4658-0FB9-A733-3BE9DDB4D172}"/>
              </a:ext>
            </a:extLst>
          </p:cNvPr>
          <p:cNvSpPr/>
          <p:nvPr userDrawn="1"/>
        </p:nvSpPr>
        <p:spPr>
          <a:xfrm>
            <a:off x="2600396" y="5046351"/>
            <a:ext cx="553278" cy="518784"/>
          </a:xfrm>
          <a:prstGeom prst="rect">
            <a:avLst/>
          </a:prstGeom>
          <a:solidFill>
            <a:srgbClr val="01A0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45211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vox Question Bas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6C5E4-F653-D1E5-781B-5C80DA9A1FD7}"/>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CA4B1EFF-8603-5BC3-A16F-837AA235F13A}"/>
              </a:ext>
            </a:extLst>
          </p:cNvPr>
          <p:cNvSpPr>
            <a:spLocks noGrp="1"/>
          </p:cNvSpPr>
          <p:nvPr>
            <p:ph type="dt" sz="half" idx="10"/>
          </p:nvPr>
        </p:nvSpPr>
        <p:spPr/>
        <p:txBody>
          <a:bodyPr/>
          <a:lstStyle/>
          <a:p>
            <a:endParaRPr lang="en-FI"/>
          </a:p>
        </p:txBody>
      </p:sp>
      <p:sp>
        <p:nvSpPr>
          <p:cNvPr id="4" name="Footer Placeholder 3">
            <a:extLst>
              <a:ext uri="{FF2B5EF4-FFF2-40B4-BE49-F238E27FC236}">
                <a16:creationId xmlns:a16="http://schemas.microsoft.com/office/drawing/2014/main" id="{C1DFCB76-F866-AFF2-45A8-D75DD768A349}"/>
              </a:ext>
            </a:extLst>
          </p:cNvPr>
          <p:cNvSpPr>
            <a:spLocks noGrp="1"/>
          </p:cNvSpPr>
          <p:nvPr>
            <p:ph type="ftr" sz="quarter" idx="11"/>
          </p:nvPr>
        </p:nvSpPr>
        <p:spPr/>
        <p:txBody>
          <a:bodyPr/>
          <a:lstStyle/>
          <a:p>
            <a:r>
              <a:rPr lang="en-US"/>
              <a:t>POL2017 W2 L1 – Research Questions</a:t>
            </a:r>
            <a:endParaRPr lang="en-FI"/>
          </a:p>
        </p:txBody>
      </p:sp>
      <p:sp>
        <p:nvSpPr>
          <p:cNvPr id="5" name="Slide Number Placeholder 4">
            <a:extLst>
              <a:ext uri="{FF2B5EF4-FFF2-40B4-BE49-F238E27FC236}">
                <a16:creationId xmlns:a16="http://schemas.microsoft.com/office/drawing/2014/main" id="{E8577D54-9E7B-8CA3-C7DA-9BF166CA6240}"/>
              </a:ext>
            </a:extLst>
          </p:cNvPr>
          <p:cNvSpPr>
            <a:spLocks noGrp="1"/>
          </p:cNvSpPr>
          <p:nvPr>
            <p:ph type="sldNum" sz="quarter" idx="12"/>
          </p:nvPr>
        </p:nvSpPr>
        <p:spPr/>
        <p:txBody>
          <a:bodyPr/>
          <a:lstStyle/>
          <a:p>
            <a:fld id="{C4DDFEFA-D601-40AB-9EFD-121C9BFF3B2B}" type="slidenum">
              <a:rPr lang="en-FI" smtClean="0"/>
              <a:t>‹#›</a:t>
            </a:fld>
            <a:endParaRPr lang="en-FI"/>
          </a:p>
        </p:txBody>
      </p:sp>
      <p:sp>
        <p:nvSpPr>
          <p:cNvPr id="7" name="Content Placeholder 6">
            <a:extLst>
              <a:ext uri="{FF2B5EF4-FFF2-40B4-BE49-F238E27FC236}">
                <a16:creationId xmlns:a16="http://schemas.microsoft.com/office/drawing/2014/main" id="{23589107-4708-E9D3-0A18-B23A231F8127}"/>
              </a:ext>
            </a:extLst>
          </p:cNvPr>
          <p:cNvSpPr>
            <a:spLocks noGrp="1"/>
          </p:cNvSpPr>
          <p:nvPr>
            <p:ph sz="quarter" idx="13"/>
          </p:nvPr>
        </p:nvSpPr>
        <p:spPr>
          <a:xfrm>
            <a:off x="838200" y="1798321"/>
            <a:ext cx="10515600" cy="4399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3018844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fld id="{1663657D-8E22-4681-BD7E-16E8F6F56673}" type="datetimeFigureOut">
              <a:rPr lang="en-FI" smtClean="0"/>
              <a:t>02/02/2026</a:t>
            </a:fld>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838200" y="1798320"/>
            <a:ext cx="105156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3404170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5E911-D491-9FF0-A994-C6B793C0EB5E}"/>
              </a:ext>
            </a:extLst>
          </p:cNvPr>
          <p:cNvSpPr/>
          <p:nvPr userDrawn="1"/>
        </p:nvSpPr>
        <p:spPr>
          <a:xfrm>
            <a:off x="0" y="0"/>
            <a:ext cx="12192000" cy="1154097"/>
          </a:xfrm>
          <a:prstGeom prst="rect">
            <a:avLst/>
          </a:prstGeom>
          <a:solidFill>
            <a:srgbClr val="0070C0"/>
          </a:solidFill>
          <a:ln>
            <a:solidFill>
              <a:srgbClr val="3767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a:extLst>
              <a:ext uri="{FF2B5EF4-FFF2-40B4-BE49-F238E27FC236}">
                <a16:creationId xmlns:a16="http://schemas.microsoft.com/office/drawing/2014/main" id="{120A8125-450B-C759-EE28-E4766E4DADFD}"/>
              </a:ext>
            </a:extLst>
          </p:cNvPr>
          <p:cNvSpPr>
            <a:spLocks noGrp="1"/>
          </p:cNvSpPr>
          <p:nvPr>
            <p:ph type="title"/>
          </p:nvPr>
        </p:nvSpPr>
        <p:spPr>
          <a:xfrm>
            <a:off x="506027" y="93257"/>
            <a:ext cx="11685973" cy="1154096"/>
          </a:xfrm>
          <a:prstGeom prst="rect">
            <a:avLst/>
          </a:prstGeom>
          <a:noFill/>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05F57A63-E583-0606-820E-D2535190E3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Footer Placeholder 3">
            <a:extLst>
              <a:ext uri="{FF2B5EF4-FFF2-40B4-BE49-F238E27FC236}">
                <a16:creationId xmlns:a16="http://schemas.microsoft.com/office/drawing/2014/main" id="{A76EF038-572C-E3A7-507B-C8F667377E7D}"/>
              </a:ext>
            </a:extLst>
          </p:cNvPr>
          <p:cNvSpPr>
            <a:spLocks noGrp="1"/>
          </p:cNvSpPr>
          <p:nvPr>
            <p:ph type="ftr" sz="quarter" idx="3"/>
          </p:nvPr>
        </p:nvSpPr>
        <p:spPr>
          <a:xfrm>
            <a:off x="252918" y="6363474"/>
            <a:ext cx="3861881" cy="365125"/>
          </a:xfrm>
          <a:prstGeom prst="rect">
            <a:avLst/>
          </a:prstGeom>
        </p:spPr>
        <p:txBody>
          <a:bodyPr/>
          <a:lstStyle>
            <a:lvl1pPr algn="l">
              <a:defRPr sz="1400">
                <a:latin typeface="Gill Sans MT" panose="020B0502020104020203" pitchFamily="34" charset="0"/>
              </a:defRPr>
            </a:lvl1pPr>
          </a:lstStyle>
          <a:p>
            <a:r>
              <a:rPr lang="en-GB"/>
              <a:t>POL2017 W2 L1 – Research Questions</a:t>
            </a:r>
            <a:endParaRPr lang="en-GB" dirty="0"/>
          </a:p>
        </p:txBody>
      </p:sp>
      <p:sp>
        <p:nvSpPr>
          <p:cNvPr id="10" name="Slide Number Placeholder 4">
            <a:extLst>
              <a:ext uri="{FF2B5EF4-FFF2-40B4-BE49-F238E27FC236}">
                <a16:creationId xmlns:a16="http://schemas.microsoft.com/office/drawing/2014/main" id="{422A7349-2727-7A03-4940-F40F76DE81F9}"/>
              </a:ext>
            </a:extLst>
          </p:cNvPr>
          <p:cNvSpPr>
            <a:spLocks noGrp="1"/>
          </p:cNvSpPr>
          <p:nvPr>
            <p:ph type="sldNum" sz="quarter" idx="4"/>
          </p:nvPr>
        </p:nvSpPr>
        <p:spPr>
          <a:xfrm>
            <a:off x="9291536" y="6363474"/>
            <a:ext cx="2576209" cy="365125"/>
          </a:xfrm>
          <a:prstGeom prst="rect">
            <a:avLst/>
          </a:prstGeom>
        </p:spPr>
        <p:txBody>
          <a:bodyPr/>
          <a:lstStyle>
            <a:lvl1pPr algn="r">
              <a:defRPr sz="1400">
                <a:latin typeface="Gill Sans MT" panose="020B0502020104020203" pitchFamily="34" charset="0"/>
              </a:defRPr>
            </a:lvl1pPr>
          </a:lstStyle>
          <a:p>
            <a:fld id="{372769DB-CAE7-4C85-A9AF-7D4D8DE4CA22}" type="slidenum">
              <a:rPr lang="en-GB" smtClean="0"/>
              <a:pPr/>
              <a:t>‹#›</a:t>
            </a:fld>
            <a:endParaRPr lang="en-GB" dirty="0"/>
          </a:p>
        </p:txBody>
      </p:sp>
    </p:spTree>
    <p:extLst>
      <p:ext uri="{BB962C8B-B14F-4D97-AF65-F5344CB8AC3E}">
        <p14:creationId xmlns:p14="http://schemas.microsoft.com/office/powerpoint/2010/main" val="145437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6000" kern="1200">
          <a:solidFill>
            <a:schemeClr val="bg1"/>
          </a:solidFill>
          <a:latin typeface="Franklin Gothic Demi" panose="020B07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hyperlink" Target="https://doi.org/10.1177/0192512120947458" TargetMode="External"/><Relationship Id="rId2" Type="http://schemas.openxmlformats.org/officeDocument/2006/relationships/hyperlink" Target="https://doi.org/10.1016/j.electstud.2009.11.00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993F3-E80D-4684-85BC-E4E24E79F73A}"/>
              </a:ext>
            </a:extLst>
          </p:cNvPr>
          <p:cNvSpPr>
            <a:spLocks noGrp="1"/>
          </p:cNvSpPr>
          <p:nvPr>
            <p:ph type="ctrTitle"/>
          </p:nvPr>
        </p:nvSpPr>
        <p:spPr/>
        <p:txBody>
          <a:bodyPr/>
          <a:lstStyle/>
          <a:p>
            <a:r>
              <a:rPr lang="en-GB" dirty="0"/>
              <a:t>Research Questions</a:t>
            </a:r>
          </a:p>
        </p:txBody>
      </p:sp>
      <p:sp>
        <p:nvSpPr>
          <p:cNvPr id="3" name="Subtitle 2">
            <a:extLst>
              <a:ext uri="{FF2B5EF4-FFF2-40B4-BE49-F238E27FC236}">
                <a16:creationId xmlns:a16="http://schemas.microsoft.com/office/drawing/2014/main" id="{8E363FEF-E855-8DC3-5C0C-1B3D78422314}"/>
              </a:ext>
            </a:extLst>
          </p:cNvPr>
          <p:cNvSpPr>
            <a:spLocks noGrp="1"/>
          </p:cNvSpPr>
          <p:nvPr>
            <p:ph type="subTitle" idx="1"/>
          </p:nvPr>
        </p:nvSpPr>
        <p:spPr/>
        <p:txBody>
          <a:bodyPr/>
          <a:lstStyle/>
          <a:p>
            <a:r>
              <a:rPr lang="en-GB" dirty="0"/>
              <a:t>Week 2  Lecture I</a:t>
            </a:r>
          </a:p>
          <a:p>
            <a:r>
              <a:rPr lang="en-GB" dirty="0"/>
              <a:t>Becoming a Political Researcher (POL2017)</a:t>
            </a:r>
          </a:p>
        </p:txBody>
      </p:sp>
    </p:spTree>
    <p:extLst>
      <p:ext uri="{BB962C8B-B14F-4D97-AF65-F5344CB8AC3E}">
        <p14:creationId xmlns:p14="http://schemas.microsoft.com/office/powerpoint/2010/main" val="2897853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C10502-CFD9-466E-1E21-8750354D24B9}"/>
              </a:ext>
            </a:extLst>
          </p:cNvPr>
          <p:cNvSpPr>
            <a:spLocks noGrp="1"/>
          </p:cNvSpPr>
          <p:nvPr>
            <p:ph type="sldNum" sz="quarter" idx="12"/>
          </p:nvPr>
        </p:nvSpPr>
        <p:spPr/>
        <p:txBody>
          <a:bodyPr/>
          <a:lstStyle/>
          <a:p>
            <a:fld id="{372769DB-CAE7-4C85-A9AF-7D4D8DE4CA22}" type="slidenum">
              <a:rPr lang="en-GB" smtClean="0"/>
              <a:t>2</a:t>
            </a:fld>
            <a:endParaRPr lang="en-GB" dirty="0"/>
          </a:p>
        </p:txBody>
      </p:sp>
      <p:graphicFrame>
        <p:nvGraphicFramePr>
          <p:cNvPr id="3" name="Object 2">
            <a:extLst>
              <a:ext uri="{FF2B5EF4-FFF2-40B4-BE49-F238E27FC236}">
                <a16:creationId xmlns:a16="http://schemas.microsoft.com/office/drawing/2014/main" id="{34F2B905-68C9-73DB-C57E-A6AAF36B805F}"/>
              </a:ext>
            </a:extLst>
          </p:cNvPr>
          <p:cNvGraphicFramePr>
            <a:graphicFrameLocks noChangeAspect="1"/>
          </p:cNvGraphicFramePr>
          <p:nvPr>
            <p:extLst>
              <p:ext uri="{D42A27DB-BD31-4B8C-83A1-F6EECF244321}">
                <p14:modId xmlns:p14="http://schemas.microsoft.com/office/powerpoint/2010/main" val="949801359"/>
              </p:ext>
            </p:extLst>
          </p:nvPr>
        </p:nvGraphicFramePr>
        <p:xfrm>
          <a:off x="0" y="0"/>
          <a:ext cx="12192000" cy="6858000"/>
        </p:xfrm>
        <a:graphic>
          <a:graphicData uri="http://schemas.openxmlformats.org/presentationml/2006/ole">
            <mc:AlternateContent xmlns:mc="http://schemas.openxmlformats.org/markup-compatibility/2006">
              <mc:Choice xmlns:v="urn:schemas-microsoft-com:vml" Requires="v">
                <p:oleObj name="Acrobat Document" r:id="rId2" imgW="7315200" imgH="4114800" progId="Acrobat.Document.DC">
                  <p:embed/>
                </p:oleObj>
              </mc:Choice>
              <mc:Fallback>
                <p:oleObj name="Acrobat Document" r:id="rId2" imgW="7315200" imgH="4114800" progId="Acrobat.Document.DC">
                  <p:embed/>
                  <p:pic>
                    <p:nvPicPr>
                      <p:cNvPr id="0" name=""/>
                      <p:cNvPicPr/>
                      <p:nvPr/>
                    </p:nvPicPr>
                    <p:blipFill>
                      <a:blip r:embed="rId3"/>
                      <a:stretch>
                        <a:fillRect/>
                      </a:stretch>
                    </p:blipFill>
                    <p:spPr>
                      <a:xfrm>
                        <a:off x="0" y="0"/>
                        <a:ext cx="12192000" cy="6858000"/>
                      </a:xfrm>
                      <a:prstGeom prst="rect">
                        <a:avLst/>
                      </a:prstGeom>
                    </p:spPr>
                  </p:pic>
                </p:oleObj>
              </mc:Fallback>
            </mc:AlternateContent>
          </a:graphicData>
        </a:graphic>
      </p:graphicFrame>
    </p:spTree>
    <p:extLst>
      <p:ext uri="{BB962C8B-B14F-4D97-AF65-F5344CB8AC3E}">
        <p14:creationId xmlns:p14="http://schemas.microsoft.com/office/powerpoint/2010/main" val="349195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622D-2EC8-2A37-672A-06BBDF1F0AE8}"/>
              </a:ext>
            </a:extLst>
          </p:cNvPr>
          <p:cNvSpPr>
            <a:spLocks noGrp="1"/>
          </p:cNvSpPr>
          <p:nvPr>
            <p:ph type="title"/>
          </p:nvPr>
        </p:nvSpPr>
        <p:spPr/>
        <p:txBody>
          <a:bodyPr/>
          <a:lstStyle/>
          <a:p>
            <a:r>
              <a:rPr lang="en-GB" dirty="0"/>
              <a:t>Recap</a:t>
            </a:r>
          </a:p>
        </p:txBody>
      </p:sp>
      <p:sp>
        <p:nvSpPr>
          <p:cNvPr id="3" name="Content Placeholder 2">
            <a:extLst>
              <a:ext uri="{FF2B5EF4-FFF2-40B4-BE49-F238E27FC236}">
                <a16:creationId xmlns:a16="http://schemas.microsoft.com/office/drawing/2014/main" id="{D09B2368-6F65-7B72-819C-166A59540D90}"/>
              </a:ext>
            </a:extLst>
          </p:cNvPr>
          <p:cNvSpPr>
            <a:spLocks noGrp="1"/>
          </p:cNvSpPr>
          <p:nvPr>
            <p:ph idx="1"/>
          </p:nvPr>
        </p:nvSpPr>
        <p:spPr/>
        <p:txBody>
          <a:bodyPr/>
          <a:lstStyle/>
          <a:p>
            <a:r>
              <a:rPr lang="en-GB" dirty="0"/>
              <a:t>Ontology</a:t>
            </a:r>
          </a:p>
          <a:p>
            <a:pPr lvl="1"/>
            <a:r>
              <a:rPr lang="en-GB" dirty="0"/>
              <a:t>What exists?</a:t>
            </a:r>
          </a:p>
          <a:p>
            <a:pPr marL="0" indent="0">
              <a:buNone/>
            </a:pPr>
            <a:endParaRPr lang="en-GB" dirty="0"/>
          </a:p>
          <a:p>
            <a:r>
              <a:rPr lang="en-GB" dirty="0"/>
              <a:t>Epistemology</a:t>
            </a:r>
          </a:p>
          <a:p>
            <a:pPr lvl="1"/>
            <a:r>
              <a:rPr lang="en-GB" dirty="0"/>
              <a:t>What is knowable?</a:t>
            </a:r>
          </a:p>
          <a:p>
            <a:pPr lvl="1"/>
            <a:endParaRPr lang="en-GB" dirty="0"/>
          </a:p>
        </p:txBody>
      </p:sp>
      <p:sp>
        <p:nvSpPr>
          <p:cNvPr id="5" name="Slide Number Placeholder 4">
            <a:extLst>
              <a:ext uri="{FF2B5EF4-FFF2-40B4-BE49-F238E27FC236}">
                <a16:creationId xmlns:a16="http://schemas.microsoft.com/office/drawing/2014/main" id="{8089DBF5-7C1A-8A20-EAE3-399041E6DB53}"/>
              </a:ext>
            </a:extLst>
          </p:cNvPr>
          <p:cNvSpPr>
            <a:spLocks noGrp="1"/>
          </p:cNvSpPr>
          <p:nvPr>
            <p:ph type="sldNum" sz="quarter" idx="12"/>
          </p:nvPr>
        </p:nvSpPr>
        <p:spPr/>
        <p:txBody>
          <a:bodyPr/>
          <a:lstStyle/>
          <a:p>
            <a:fld id="{372769DB-CAE7-4C85-A9AF-7D4D8DE4CA22}" type="slidenum">
              <a:rPr lang="en-GB" smtClean="0"/>
              <a:t>3</a:t>
            </a:fld>
            <a:endParaRPr lang="en-GB" dirty="0"/>
          </a:p>
        </p:txBody>
      </p:sp>
    </p:spTree>
    <p:extLst>
      <p:ext uri="{BB962C8B-B14F-4D97-AF65-F5344CB8AC3E}">
        <p14:creationId xmlns:p14="http://schemas.microsoft.com/office/powerpoint/2010/main" val="2284990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622D-2EC8-2A37-672A-06BBDF1F0AE8}"/>
              </a:ext>
            </a:extLst>
          </p:cNvPr>
          <p:cNvSpPr>
            <a:spLocks noGrp="1"/>
          </p:cNvSpPr>
          <p:nvPr>
            <p:ph type="title"/>
          </p:nvPr>
        </p:nvSpPr>
        <p:spPr/>
        <p:txBody>
          <a:bodyPr/>
          <a:lstStyle/>
          <a:p>
            <a:r>
              <a:rPr lang="en-GB" dirty="0"/>
              <a:t>Recap</a:t>
            </a:r>
          </a:p>
        </p:txBody>
      </p:sp>
      <p:sp>
        <p:nvSpPr>
          <p:cNvPr id="3" name="Content Placeholder 2">
            <a:extLst>
              <a:ext uri="{FF2B5EF4-FFF2-40B4-BE49-F238E27FC236}">
                <a16:creationId xmlns:a16="http://schemas.microsoft.com/office/drawing/2014/main" id="{D09B2368-6F65-7B72-819C-166A59540D90}"/>
              </a:ext>
            </a:extLst>
          </p:cNvPr>
          <p:cNvSpPr>
            <a:spLocks noGrp="1"/>
          </p:cNvSpPr>
          <p:nvPr>
            <p:ph idx="1"/>
          </p:nvPr>
        </p:nvSpPr>
        <p:spPr/>
        <p:txBody>
          <a:bodyPr/>
          <a:lstStyle/>
          <a:p>
            <a:r>
              <a:rPr lang="en-GB" dirty="0"/>
              <a:t>Methodology</a:t>
            </a:r>
          </a:p>
          <a:p>
            <a:pPr lvl="2"/>
            <a:r>
              <a:rPr lang="en-GB" dirty="0"/>
              <a:t>Positivism</a:t>
            </a:r>
          </a:p>
          <a:p>
            <a:pPr lvl="2"/>
            <a:r>
              <a:rPr lang="en-GB" dirty="0"/>
              <a:t>Interpretivism</a:t>
            </a:r>
          </a:p>
          <a:p>
            <a:pPr lvl="2"/>
            <a:r>
              <a:rPr lang="en-GB" dirty="0"/>
              <a:t>Post-structuralism</a:t>
            </a:r>
          </a:p>
          <a:p>
            <a:pPr marL="457200" lvl="1" indent="0">
              <a:buNone/>
            </a:pPr>
            <a:endParaRPr lang="en-GB" dirty="0"/>
          </a:p>
          <a:p>
            <a:r>
              <a:rPr lang="en-GB" dirty="0"/>
              <a:t>Method</a:t>
            </a:r>
          </a:p>
          <a:p>
            <a:pPr lvl="1"/>
            <a:r>
              <a:rPr lang="en-GB" dirty="0"/>
              <a:t>Practical steps to collect and analyse data</a:t>
            </a:r>
          </a:p>
        </p:txBody>
      </p:sp>
      <p:sp>
        <p:nvSpPr>
          <p:cNvPr id="5" name="Slide Number Placeholder 4">
            <a:extLst>
              <a:ext uri="{FF2B5EF4-FFF2-40B4-BE49-F238E27FC236}">
                <a16:creationId xmlns:a16="http://schemas.microsoft.com/office/drawing/2014/main" id="{8089DBF5-7C1A-8A20-EAE3-399041E6DB53}"/>
              </a:ext>
            </a:extLst>
          </p:cNvPr>
          <p:cNvSpPr>
            <a:spLocks noGrp="1"/>
          </p:cNvSpPr>
          <p:nvPr>
            <p:ph type="sldNum" sz="quarter" idx="12"/>
          </p:nvPr>
        </p:nvSpPr>
        <p:spPr/>
        <p:txBody>
          <a:bodyPr/>
          <a:lstStyle/>
          <a:p>
            <a:fld id="{372769DB-CAE7-4C85-A9AF-7D4D8DE4CA22}" type="slidenum">
              <a:rPr lang="en-GB" smtClean="0"/>
              <a:t>4</a:t>
            </a:fld>
            <a:endParaRPr lang="en-GB" dirty="0"/>
          </a:p>
        </p:txBody>
      </p:sp>
    </p:spTree>
    <p:extLst>
      <p:ext uri="{BB962C8B-B14F-4D97-AF65-F5344CB8AC3E}">
        <p14:creationId xmlns:p14="http://schemas.microsoft.com/office/powerpoint/2010/main" val="2963011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What we will cover today</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766281" y="1629744"/>
            <a:ext cx="10515600" cy="4351338"/>
          </a:xfrm>
        </p:spPr>
        <p:txBody>
          <a:bodyPr>
            <a:normAutofit fontScale="92500" lnSpcReduction="20000"/>
          </a:bodyPr>
          <a:lstStyle/>
          <a:p>
            <a:pPr>
              <a:lnSpc>
                <a:spcPct val="150000"/>
              </a:lnSpc>
            </a:pPr>
            <a:r>
              <a:rPr lang="en-GB" dirty="0"/>
              <a:t>What is a research question?</a:t>
            </a:r>
          </a:p>
          <a:p>
            <a:pPr>
              <a:lnSpc>
                <a:spcPct val="150000"/>
              </a:lnSpc>
            </a:pPr>
            <a:r>
              <a:rPr lang="en-GB" dirty="0"/>
              <a:t>Different types of research question</a:t>
            </a:r>
          </a:p>
          <a:p>
            <a:pPr>
              <a:lnSpc>
                <a:spcPct val="150000"/>
              </a:lnSpc>
            </a:pPr>
            <a:r>
              <a:rPr lang="en-GB" dirty="0"/>
              <a:t>Coming up with our own research questions</a:t>
            </a:r>
          </a:p>
          <a:p>
            <a:pPr>
              <a:lnSpc>
                <a:spcPct val="150000"/>
              </a:lnSpc>
            </a:pPr>
            <a:r>
              <a:rPr lang="en-GB" dirty="0"/>
              <a:t>How do we evaluate research questions?</a:t>
            </a:r>
          </a:p>
          <a:p>
            <a:pPr>
              <a:lnSpc>
                <a:spcPct val="150000"/>
              </a:lnSpc>
            </a:pPr>
            <a:r>
              <a:rPr lang="en-GB" dirty="0"/>
              <a:t>Identifying research questions</a:t>
            </a:r>
          </a:p>
          <a:p>
            <a:endParaRPr lang="en-GB" dirty="0"/>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5</a:t>
            </a:fld>
            <a:endParaRPr lang="en-GB" dirty="0"/>
          </a:p>
        </p:txBody>
      </p:sp>
    </p:spTree>
    <p:extLst>
      <p:ext uri="{BB962C8B-B14F-4D97-AF65-F5344CB8AC3E}">
        <p14:creationId xmlns:p14="http://schemas.microsoft.com/office/powerpoint/2010/main" val="3796173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622D-2EC8-2A37-672A-06BBDF1F0AE8}"/>
              </a:ext>
            </a:extLst>
          </p:cNvPr>
          <p:cNvSpPr>
            <a:spLocks noGrp="1"/>
          </p:cNvSpPr>
          <p:nvPr>
            <p:ph type="title"/>
          </p:nvPr>
        </p:nvSpPr>
        <p:spPr/>
        <p:txBody>
          <a:bodyPr/>
          <a:lstStyle/>
          <a:p>
            <a:r>
              <a:rPr lang="en-GB" dirty="0"/>
              <a:t>What is a research question?</a:t>
            </a:r>
          </a:p>
        </p:txBody>
      </p:sp>
      <p:sp>
        <p:nvSpPr>
          <p:cNvPr id="3" name="Content Placeholder 2">
            <a:extLst>
              <a:ext uri="{FF2B5EF4-FFF2-40B4-BE49-F238E27FC236}">
                <a16:creationId xmlns:a16="http://schemas.microsoft.com/office/drawing/2014/main" id="{D09B2368-6F65-7B72-819C-166A59540D90}"/>
              </a:ext>
            </a:extLst>
          </p:cNvPr>
          <p:cNvSpPr>
            <a:spLocks noGrp="1"/>
          </p:cNvSpPr>
          <p:nvPr>
            <p:ph idx="1"/>
          </p:nvPr>
        </p:nvSpPr>
        <p:spPr/>
        <p:txBody>
          <a:bodyPr/>
          <a:lstStyle/>
          <a:p>
            <a:r>
              <a:rPr lang="en-GB" dirty="0"/>
              <a:t>What you want to find out</a:t>
            </a:r>
          </a:p>
          <a:p>
            <a:endParaRPr lang="en-GB" dirty="0"/>
          </a:p>
          <a:p>
            <a:r>
              <a:rPr lang="en-GB" dirty="0"/>
              <a:t>Frames your entire research project</a:t>
            </a:r>
          </a:p>
          <a:p>
            <a:pPr marL="457200" lvl="1" indent="0">
              <a:buNone/>
            </a:pPr>
            <a:r>
              <a:rPr lang="en-GB" sz="4000" dirty="0"/>
              <a:t>- theory, methods, data</a:t>
            </a:r>
          </a:p>
        </p:txBody>
      </p:sp>
      <p:sp>
        <p:nvSpPr>
          <p:cNvPr id="5" name="Slide Number Placeholder 4">
            <a:extLst>
              <a:ext uri="{FF2B5EF4-FFF2-40B4-BE49-F238E27FC236}">
                <a16:creationId xmlns:a16="http://schemas.microsoft.com/office/drawing/2014/main" id="{8089DBF5-7C1A-8A20-EAE3-399041E6DB53}"/>
              </a:ext>
            </a:extLst>
          </p:cNvPr>
          <p:cNvSpPr>
            <a:spLocks noGrp="1"/>
          </p:cNvSpPr>
          <p:nvPr>
            <p:ph type="sldNum" sz="quarter" idx="12"/>
          </p:nvPr>
        </p:nvSpPr>
        <p:spPr/>
        <p:txBody>
          <a:bodyPr/>
          <a:lstStyle/>
          <a:p>
            <a:fld id="{372769DB-CAE7-4C85-A9AF-7D4D8DE4CA22}" type="slidenum">
              <a:rPr lang="en-GB" smtClean="0"/>
              <a:t>6</a:t>
            </a:fld>
            <a:endParaRPr lang="en-GB" dirty="0"/>
          </a:p>
        </p:txBody>
      </p:sp>
    </p:spTree>
    <p:extLst>
      <p:ext uri="{BB962C8B-B14F-4D97-AF65-F5344CB8AC3E}">
        <p14:creationId xmlns:p14="http://schemas.microsoft.com/office/powerpoint/2010/main" val="1883302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D8457B-34FB-EBD9-6E05-A72054120E41}"/>
              </a:ext>
            </a:extLst>
          </p:cNvPr>
          <p:cNvSpPr>
            <a:spLocks noGrp="1"/>
          </p:cNvSpPr>
          <p:nvPr>
            <p:ph type="sldNum" sz="quarter" idx="12"/>
          </p:nvPr>
        </p:nvSpPr>
        <p:spPr/>
        <p:txBody>
          <a:bodyPr/>
          <a:lstStyle/>
          <a:p>
            <a:fld id="{372769DB-CAE7-4C85-A9AF-7D4D8DE4CA22}" type="slidenum">
              <a:rPr lang="en-GB" smtClean="0"/>
              <a:t>7</a:t>
            </a:fld>
            <a:endParaRPr lang="en-GB" dirty="0"/>
          </a:p>
        </p:txBody>
      </p:sp>
      <p:grpSp>
        <p:nvGrpSpPr>
          <p:cNvPr id="22" name="Group 21">
            <a:extLst>
              <a:ext uri="{FF2B5EF4-FFF2-40B4-BE49-F238E27FC236}">
                <a16:creationId xmlns:a16="http://schemas.microsoft.com/office/drawing/2014/main" id="{17B454F2-ADD0-2801-7308-1D6CC28A46E5}"/>
              </a:ext>
            </a:extLst>
          </p:cNvPr>
          <p:cNvGrpSpPr/>
          <p:nvPr/>
        </p:nvGrpSpPr>
        <p:grpSpPr>
          <a:xfrm>
            <a:off x="3574508" y="1485151"/>
            <a:ext cx="4420128" cy="758373"/>
            <a:chOff x="822960" y="1950720"/>
            <a:chExt cx="1486530" cy="1239520"/>
          </a:xfrm>
        </p:grpSpPr>
        <p:sp>
          <p:nvSpPr>
            <p:cNvPr id="23" name="Rectangle: Rounded Corners 22">
              <a:extLst>
                <a:ext uri="{FF2B5EF4-FFF2-40B4-BE49-F238E27FC236}">
                  <a16:creationId xmlns:a16="http://schemas.microsoft.com/office/drawing/2014/main" id="{985D37E0-ADCD-AF6D-2352-61A7063E2C54}"/>
                </a:ext>
              </a:extLst>
            </p:cNvPr>
            <p:cNvSpPr/>
            <p:nvPr/>
          </p:nvSpPr>
          <p:spPr>
            <a:xfrm>
              <a:off x="822960" y="1950720"/>
              <a:ext cx="1483360" cy="1239520"/>
            </a:xfrm>
            <a:prstGeom prst="roundRect">
              <a:avLst/>
            </a:prstGeom>
            <a:solidFill>
              <a:srgbClr val="0070C0"/>
            </a:solidFill>
            <a:ln w="57150">
              <a:solidFill>
                <a:srgbClr val="203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TextBox 23">
              <a:extLst>
                <a:ext uri="{FF2B5EF4-FFF2-40B4-BE49-F238E27FC236}">
                  <a16:creationId xmlns:a16="http://schemas.microsoft.com/office/drawing/2014/main" id="{0D0EB022-A7D5-F406-116C-4D0740E8C179}"/>
                </a:ext>
              </a:extLst>
            </p:cNvPr>
            <p:cNvSpPr txBox="1"/>
            <p:nvPr/>
          </p:nvSpPr>
          <p:spPr>
            <a:xfrm>
              <a:off x="826130" y="2216537"/>
              <a:ext cx="1483360" cy="754567"/>
            </a:xfrm>
            <a:prstGeom prst="rect">
              <a:avLst/>
            </a:prstGeom>
            <a:noFill/>
          </p:spPr>
          <p:txBody>
            <a:bodyPr wrap="square" rtlCol="0">
              <a:spAutoFit/>
            </a:bodyPr>
            <a:lstStyle/>
            <a:p>
              <a:pPr algn="ctr"/>
              <a:r>
                <a:rPr lang="en-GB" sz="2400" dirty="0">
                  <a:solidFill>
                    <a:schemeClr val="bg1"/>
                  </a:solidFill>
                  <a:latin typeface="Franklin Gothic Demi" panose="020B0703020102020204" pitchFamily="34" charset="0"/>
                </a:rPr>
                <a:t>Research Questions</a:t>
              </a:r>
            </a:p>
          </p:txBody>
        </p:sp>
      </p:grpSp>
      <p:grpSp>
        <p:nvGrpSpPr>
          <p:cNvPr id="25" name="Group 24">
            <a:extLst>
              <a:ext uri="{FF2B5EF4-FFF2-40B4-BE49-F238E27FC236}">
                <a16:creationId xmlns:a16="http://schemas.microsoft.com/office/drawing/2014/main" id="{97BDB708-BF3B-CD5D-3F8F-0766FE37258B}"/>
              </a:ext>
            </a:extLst>
          </p:cNvPr>
          <p:cNvGrpSpPr/>
          <p:nvPr/>
        </p:nvGrpSpPr>
        <p:grpSpPr>
          <a:xfrm>
            <a:off x="3587006" y="2502143"/>
            <a:ext cx="4425236" cy="742869"/>
            <a:chOff x="3007360" y="1950720"/>
            <a:chExt cx="1493520" cy="1239520"/>
          </a:xfrm>
          <a:solidFill>
            <a:srgbClr val="01A08A"/>
          </a:solidFill>
        </p:grpSpPr>
        <p:sp>
          <p:nvSpPr>
            <p:cNvPr id="26" name="Rectangle: Rounded Corners 25">
              <a:extLst>
                <a:ext uri="{FF2B5EF4-FFF2-40B4-BE49-F238E27FC236}">
                  <a16:creationId xmlns:a16="http://schemas.microsoft.com/office/drawing/2014/main" id="{F67818EA-E963-5E9E-E2DA-597F79463020}"/>
                </a:ext>
              </a:extLst>
            </p:cNvPr>
            <p:cNvSpPr/>
            <p:nvPr/>
          </p:nvSpPr>
          <p:spPr>
            <a:xfrm>
              <a:off x="3017520" y="1950720"/>
              <a:ext cx="1483360" cy="1239520"/>
            </a:xfrm>
            <a:prstGeom prst="roundRect">
              <a:avLst/>
            </a:prstGeom>
            <a:grpFill/>
            <a:ln w="57150">
              <a:solidFill>
                <a:srgbClr val="203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TextBox 26">
              <a:extLst>
                <a:ext uri="{FF2B5EF4-FFF2-40B4-BE49-F238E27FC236}">
                  <a16:creationId xmlns:a16="http://schemas.microsoft.com/office/drawing/2014/main" id="{C9BC8D9C-923E-B3EF-8C3A-CFDA211821A2}"/>
                </a:ext>
              </a:extLst>
            </p:cNvPr>
            <p:cNvSpPr txBox="1"/>
            <p:nvPr/>
          </p:nvSpPr>
          <p:spPr>
            <a:xfrm>
              <a:off x="3007360" y="2216536"/>
              <a:ext cx="1483360" cy="770315"/>
            </a:xfrm>
            <a:prstGeom prst="rect">
              <a:avLst/>
            </a:prstGeom>
            <a:noFill/>
          </p:spPr>
          <p:txBody>
            <a:bodyPr wrap="square" rtlCol="0">
              <a:spAutoFit/>
            </a:bodyPr>
            <a:lstStyle/>
            <a:p>
              <a:pPr algn="ctr"/>
              <a:r>
                <a:rPr lang="en-GB" sz="2400" dirty="0">
                  <a:solidFill>
                    <a:schemeClr val="bg1"/>
                  </a:solidFill>
                  <a:latin typeface="Franklin Gothic Demi" panose="020B0703020102020204" pitchFamily="34" charset="0"/>
                </a:rPr>
                <a:t>Literature Review</a:t>
              </a:r>
            </a:p>
          </p:txBody>
        </p:sp>
      </p:grpSp>
      <p:grpSp>
        <p:nvGrpSpPr>
          <p:cNvPr id="28" name="Group 27">
            <a:extLst>
              <a:ext uri="{FF2B5EF4-FFF2-40B4-BE49-F238E27FC236}">
                <a16:creationId xmlns:a16="http://schemas.microsoft.com/office/drawing/2014/main" id="{DC59CC2F-1D13-8EDC-3845-69F0E028BB57}"/>
              </a:ext>
            </a:extLst>
          </p:cNvPr>
          <p:cNvGrpSpPr/>
          <p:nvPr/>
        </p:nvGrpSpPr>
        <p:grpSpPr>
          <a:xfrm>
            <a:off x="3587006" y="3491264"/>
            <a:ext cx="4350692" cy="758372"/>
            <a:chOff x="4897120" y="1950720"/>
            <a:chExt cx="1483360" cy="1239520"/>
          </a:xfrm>
          <a:solidFill>
            <a:srgbClr val="F7AA58"/>
          </a:solidFill>
        </p:grpSpPr>
        <p:sp>
          <p:nvSpPr>
            <p:cNvPr id="29" name="Rectangle: Rounded Corners 28">
              <a:extLst>
                <a:ext uri="{FF2B5EF4-FFF2-40B4-BE49-F238E27FC236}">
                  <a16:creationId xmlns:a16="http://schemas.microsoft.com/office/drawing/2014/main" id="{61D3BA0A-7498-0872-9162-885AA39CF886}"/>
                </a:ext>
              </a:extLst>
            </p:cNvPr>
            <p:cNvSpPr/>
            <p:nvPr/>
          </p:nvSpPr>
          <p:spPr>
            <a:xfrm>
              <a:off x="4897120" y="1950720"/>
              <a:ext cx="1483360" cy="1239520"/>
            </a:xfrm>
            <a:prstGeom prst="roundRect">
              <a:avLst/>
            </a:prstGeom>
            <a:solidFill>
              <a:srgbClr val="E76254"/>
            </a:solidFill>
            <a:ln w="57150">
              <a:solidFill>
                <a:srgbClr val="203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0" name="TextBox 29">
              <a:extLst>
                <a:ext uri="{FF2B5EF4-FFF2-40B4-BE49-F238E27FC236}">
                  <a16:creationId xmlns:a16="http://schemas.microsoft.com/office/drawing/2014/main" id="{4DFBE331-3D2C-9E46-D38A-00069DDC76B8}"/>
                </a:ext>
              </a:extLst>
            </p:cNvPr>
            <p:cNvSpPr txBox="1"/>
            <p:nvPr/>
          </p:nvSpPr>
          <p:spPr>
            <a:xfrm>
              <a:off x="4897120" y="2216537"/>
              <a:ext cx="1483360" cy="754568"/>
            </a:xfrm>
            <a:prstGeom prst="rect">
              <a:avLst/>
            </a:prstGeom>
            <a:noFill/>
          </p:spPr>
          <p:txBody>
            <a:bodyPr wrap="square" rtlCol="0">
              <a:spAutoFit/>
            </a:bodyPr>
            <a:lstStyle/>
            <a:p>
              <a:pPr algn="ctr"/>
              <a:r>
                <a:rPr lang="en-GB" sz="2400" dirty="0">
                  <a:solidFill>
                    <a:schemeClr val="bg1"/>
                  </a:solidFill>
                  <a:latin typeface="Franklin Gothic Demi" panose="020B0703020102020204" pitchFamily="34" charset="0"/>
                </a:rPr>
                <a:t>Theory &amp; Hypotheses</a:t>
              </a:r>
            </a:p>
          </p:txBody>
        </p:sp>
      </p:grpSp>
      <p:grpSp>
        <p:nvGrpSpPr>
          <p:cNvPr id="31" name="Group 30">
            <a:extLst>
              <a:ext uri="{FF2B5EF4-FFF2-40B4-BE49-F238E27FC236}">
                <a16:creationId xmlns:a16="http://schemas.microsoft.com/office/drawing/2014/main" id="{D3776F3E-42C0-E779-9503-5A4C6AEFB818}"/>
              </a:ext>
            </a:extLst>
          </p:cNvPr>
          <p:cNvGrpSpPr/>
          <p:nvPr/>
        </p:nvGrpSpPr>
        <p:grpSpPr>
          <a:xfrm>
            <a:off x="3587106" y="4484836"/>
            <a:ext cx="4380696" cy="733538"/>
            <a:chOff x="3261360" y="4003040"/>
            <a:chExt cx="1483360" cy="1239520"/>
          </a:xfrm>
          <a:noFill/>
        </p:grpSpPr>
        <p:sp>
          <p:nvSpPr>
            <p:cNvPr id="32" name="Rectangle: Rounded Corners 31">
              <a:extLst>
                <a:ext uri="{FF2B5EF4-FFF2-40B4-BE49-F238E27FC236}">
                  <a16:creationId xmlns:a16="http://schemas.microsoft.com/office/drawing/2014/main" id="{7768BD3E-580C-B519-62AA-54BF4F867955}"/>
                </a:ext>
              </a:extLst>
            </p:cNvPr>
            <p:cNvSpPr/>
            <p:nvPr/>
          </p:nvSpPr>
          <p:spPr>
            <a:xfrm>
              <a:off x="3261360" y="4003040"/>
              <a:ext cx="1483360" cy="1239520"/>
            </a:xfrm>
            <a:prstGeom prst="roundRect">
              <a:avLst/>
            </a:prstGeom>
            <a:solidFill>
              <a:srgbClr val="F7AA58"/>
            </a:solidFill>
            <a:ln w="57150">
              <a:solidFill>
                <a:srgbClr val="203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3" name="TextBox 32">
              <a:extLst>
                <a:ext uri="{FF2B5EF4-FFF2-40B4-BE49-F238E27FC236}">
                  <a16:creationId xmlns:a16="http://schemas.microsoft.com/office/drawing/2014/main" id="{AF376EBE-80C1-3D41-8372-EC6C5B65E4C1}"/>
                </a:ext>
              </a:extLst>
            </p:cNvPr>
            <p:cNvSpPr txBox="1"/>
            <p:nvPr/>
          </p:nvSpPr>
          <p:spPr>
            <a:xfrm>
              <a:off x="3261360" y="4268856"/>
              <a:ext cx="1483360" cy="780113"/>
            </a:xfrm>
            <a:prstGeom prst="rect">
              <a:avLst/>
            </a:prstGeom>
            <a:grpFill/>
          </p:spPr>
          <p:txBody>
            <a:bodyPr wrap="square" rtlCol="0">
              <a:spAutoFit/>
            </a:bodyPr>
            <a:lstStyle/>
            <a:p>
              <a:pPr algn="ctr"/>
              <a:r>
                <a:rPr lang="en-GB" sz="2400" dirty="0">
                  <a:solidFill>
                    <a:schemeClr val="bg1"/>
                  </a:solidFill>
                  <a:latin typeface="Franklin Gothic Demi" panose="020B0703020102020204" pitchFamily="34" charset="0"/>
                </a:rPr>
                <a:t>Data Collection &amp; Analysis</a:t>
              </a:r>
            </a:p>
          </p:txBody>
        </p:sp>
      </p:grpSp>
      <p:grpSp>
        <p:nvGrpSpPr>
          <p:cNvPr id="37" name="Group 36">
            <a:extLst>
              <a:ext uri="{FF2B5EF4-FFF2-40B4-BE49-F238E27FC236}">
                <a16:creationId xmlns:a16="http://schemas.microsoft.com/office/drawing/2014/main" id="{377A6DC0-F900-0A52-0363-8F9F1594D4CC}"/>
              </a:ext>
            </a:extLst>
          </p:cNvPr>
          <p:cNvGrpSpPr/>
          <p:nvPr/>
        </p:nvGrpSpPr>
        <p:grpSpPr>
          <a:xfrm>
            <a:off x="3572104" y="5497376"/>
            <a:ext cx="4366162" cy="758371"/>
            <a:chOff x="7317923" y="4822855"/>
            <a:chExt cx="1483360" cy="1239520"/>
          </a:xfrm>
        </p:grpSpPr>
        <p:sp>
          <p:nvSpPr>
            <p:cNvPr id="38" name="Rectangle: Rounded Corners 37">
              <a:extLst>
                <a:ext uri="{FF2B5EF4-FFF2-40B4-BE49-F238E27FC236}">
                  <a16:creationId xmlns:a16="http://schemas.microsoft.com/office/drawing/2014/main" id="{22DDB6F1-4914-43E2-B540-A1EFFB625BC2}"/>
                </a:ext>
              </a:extLst>
            </p:cNvPr>
            <p:cNvSpPr/>
            <p:nvPr/>
          </p:nvSpPr>
          <p:spPr>
            <a:xfrm>
              <a:off x="7317923" y="4822855"/>
              <a:ext cx="1483360" cy="1239520"/>
            </a:xfrm>
            <a:prstGeom prst="roundRect">
              <a:avLst/>
            </a:prstGeom>
            <a:solidFill>
              <a:srgbClr val="B33F62"/>
            </a:solidFill>
            <a:ln w="57150">
              <a:solidFill>
                <a:srgbClr val="203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Box 38">
              <a:extLst>
                <a:ext uri="{FF2B5EF4-FFF2-40B4-BE49-F238E27FC236}">
                  <a16:creationId xmlns:a16="http://schemas.microsoft.com/office/drawing/2014/main" id="{27101F29-6B55-9AC5-A41A-23B123EF7786}"/>
                </a:ext>
              </a:extLst>
            </p:cNvPr>
            <p:cNvSpPr txBox="1"/>
            <p:nvPr/>
          </p:nvSpPr>
          <p:spPr>
            <a:xfrm>
              <a:off x="7317923" y="5107504"/>
              <a:ext cx="1483360" cy="754569"/>
            </a:xfrm>
            <a:prstGeom prst="rect">
              <a:avLst/>
            </a:prstGeom>
            <a:noFill/>
          </p:spPr>
          <p:txBody>
            <a:bodyPr wrap="square" rtlCol="0">
              <a:spAutoFit/>
            </a:bodyPr>
            <a:lstStyle/>
            <a:p>
              <a:pPr algn="ctr"/>
              <a:r>
                <a:rPr lang="en-GB" sz="2400" dirty="0">
                  <a:solidFill>
                    <a:schemeClr val="bg1"/>
                  </a:solidFill>
                  <a:latin typeface="Franklin Gothic Demi" panose="020B0703020102020204" pitchFamily="34" charset="0"/>
                </a:rPr>
                <a:t>Report Results</a:t>
              </a:r>
            </a:p>
          </p:txBody>
        </p:sp>
      </p:grpSp>
      <p:sp>
        <p:nvSpPr>
          <p:cNvPr id="4" name="TextBox 3">
            <a:extLst>
              <a:ext uri="{FF2B5EF4-FFF2-40B4-BE49-F238E27FC236}">
                <a16:creationId xmlns:a16="http://schemas.microsoft.com/office/drawing/2014/main" id="{4DB7E357-2910-FD93-7985-62FFBC71E64C}"/>
              </a:ext>
            </a:extLst>
          </p:cNvPr>
          <p:cNvSpPr txBox="1"/>
          <p:nvPr/>
        </p:nvSpPr>
        <p:spPr>
          <a:xfrm>
            <a:off x="593888" y="216279"/>
            <a:ext cx="10661716" cy="769441"/>
          </a:xfrm>
          <a:prstGeom prst="rect">
            <a:avLst/>
          </a:prstGeom>
          <a:noFill/>
        </p:spPr>
        <p:txBody>
          <a:bodyPr wrap="square" rtlCol="0">
            <a:spAutoFit/>
          </a:bodyPr>
          <a:lstStyle/>
          <a:p>
            <a:r>
              <a:rPr lang="en-US" sz="4400" dirty="0">
                <a:latin typeface="Gill Sans MT" panose="020B0502020104020203" pitchFamily="34" charset="0"/>
              </a:rPr>
              <a:t>Example s</a:t>
            </a:r>
            <a:r>
              <a:rPr lang="en-GB" sz="4400" dirty="0" err="1">
                <a:latin typeface="Gill Sans MT" panose="020B0502020104020203" pitchFamily="34" charset="0"/>
              </a:rPr>
              <a:t>tages</a:t>
            </a:r>
            <a:r>
              <a:rPr lang="en-GB" sz="4400" dirty="0">
                <a:latin typeface="Gill Sans MT" panose="020B0502020104020203" pitchFamily="34" charset="0"/>
              </a:rPr>
              <a:t> of a research project</a:t>
            </a:r>
          </a:p>
        </p:txBody>
      </p:sp>
    </p:spTree>
    <p:extLst>
      <p:ext uri="{BB962C8B-B14F-4D97-AF65-F5344CB8AC3E}">
        <p14:creationId xmlns:p14="http://schemas.microsoft.com/office/powerpoint/2010/main" val="3716929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9B2368-6F65-7B72-819C-166A59540D90}"/>
              </a:ext>
            </a:extLst>
          </p:cNvPr>
          <p:cNvSpPr>
            <a:spLocks noGrp="1"/>
          </p:cNvSpPr>
          <p:nvPr>
            <p:ph sz="half" idx="1"/>
          </p:nvPr>
        </p:nvSpPr>
        <p:spPr>
          <a:xfrm>
            <a:off x="914400" y="1982470"/>
            <a:ext cx="5181600" cy="4351338"/>
          </a:xfrm>
        </p:spPr>
        <p:txBody>
          <a:bodyPr>
            <a:normAutofit/>
          </a:bodyPr>
          <a:lstStyle/>
          <a:p>
            <a:r>
              <a:rPr lang="en-GB" sz="4400" b="1" dirty="0">
                <a:solidFill>
                  <a:srgbClr val="F48914"/>
                </a:solidFill>
              </a:rPr>
              <a:t>Descriptive</a:t>
            </a:r>
          </a:p>
          <a:p>
            <a:r>
              <a:rPr lang="en-GB" sz="4400" b="1" dirty="0">
                <a:solidFill>
                  <a:srgbClr val="F48914"/>
                </a:solidFill>
              </a:rPr>
              <a:t>Explanatory</a:t>
            </a:r>
          </a:p>
          <a:p>
            <a:r>
              <a:rPr lang="en-GB" sz="4400" b="1" dirty="0">
                <a:solidFill>
                  <a:srgbClr val="F48914"/>
                </a:solidFill>
              </a:rPr>
              <a:t>Predictive</a:t>
            </a:r>
          </a:p>
          <a:p>
            <a:r>
              <a:rPr lang="en-GB" sz="4400" b="1" dirty="0">
                <a:solidFill>
                  <a:srgbClr val="F48914"/>
                </a:solidFill>
              </a:rPr>
              <a:t>Prescriptive</a:t>
            </a:r>
          </a:p>
          <a:p>
            <a:r>
              <a:rPr lang="en-GB" sz="4400" b="1" dirty="0">
                <a:solidFill>
                  <a:srgbClr val="F48914"/>
                </a:solidFill>
              </a:rPr>
              <a:t>Normative</a:t>
            </a:r>
          </a:p>
        </p:txBody>
      </p:sp>
      <p:pic>
        <p:nvPicPr>
          <p:cNvPr id="6" name="Picture 5" descr="Question mark boxes">
            <a:extLst>
              <a:ext uri="{FF2B5EF4-FFF2-40B4-BE49-F238E27FC236}">
                <a16:creationId xmlns:a16="http://schemas.microsoft.com/office/drawing/2014/main" id="{3DD60FF2-659B-F3DE-3E2F-5A65505A7B34}"/>
              </a:ext>
            </a:extLst>
          </p:cNvPr>
          <p:cNvPicPr>
            <a:picLocks noChangeAspect="1"/>
          </p:cNvPicPr>
          <p:nvPr/>
        </p:nvPicPr>
        <p:blipFill>
          <a:blip r:embed="rId2">
            <a:extLst>
              <a:ext uri="{28A0092B-C50C-407E-A947-70E740481C1C}">
                <a14:useLocalDpi xmlns:a14="http://schemas.microsoft.com/office/drawing/2010/main" val="0"/>
              </a:ext>
            </a:extLst>
          </a:blip>
          <a:srcRect l="19339" r="13677" b="-1"/>
          <a:stretch/>
        </p:blipFill>
        <p:spPr>
          <a:xfrm>
            <a:off x="5882241" y="1509478"/>
            <a:ext cx="5524899" cy="4853996"/>
          </a:xfrm>
          <a:prstGeom prst="ellipse">
            <a:avLst/>
          </a:prstGeom>
          <a:ln>
            <a:noFill/>
          </a:ln>
          <a:effectLst>
            <a:softEdge rad="112500"/>
          </a:effectLst>
        </p:spPr>
      </p:pic>
      <p:sp>
        <p:nvSpPr>
          <p:cNvPr id="5" name="Slide Number Placeholder 4">
            <a:extLst>
              <a:ext uri="{FF2B5EF4-FFF2-40B4-BE49-F238E27FC236}">
                <a16:creationId xmlns:a16="http://schemas.microsoft.com/office/drawing/2014/main" id="{8089DBF5-7C1A-8A20-EAE3-399041E6DB53}"/>
              </a:ext>
            </a:extLst>
          </p:cNvPr>
          <p:cNvSpPr>
            <a:spLocks noGrp="1"/>
          </p:cNvSpPr>
          <p:nvPr>
            <p:ph type="sldNum" sz="quarter" idx="12"/>
          </p:nvPr>
        </p:nvSpPr>
        <p:spPr>
          <a:xfrm>
            <a:off x="9291536" y="6363474"/>
            <a:ext cx="2576209" cy="365125"/>
          </a:xfrm>
        </p:spPr>
        <p:txBody>
          <a:bodyPr>
            <a:normAutofit/>
          </a:bodyPr>
          <a:lstStyle/>
          <a:p>
            <a:pPr>
              <a:spcAft>
                <a:spcPts val="600"/>
              </a:spcAft>
            </a:pPr>
            <a:fld id="{372769DB-CAE7-4C85-A9AF-7D4D8DE4CA22}" type="slidenum">
              <a:rPr lang="en-GB" smtClean="0"/>
              <a:pPr>
                <a:spcAft>
                  <a:spcPts val="600"/>
                </a:spcAft>
              </a:pPr>
              <a:t>8</a:t>
            </a:fld>
            <a:endParaRPr lang="en-GB"/>
          </a:p>
        </p:txBody>
      </p:sp>
      <p:sp>
        <p:nvSpPr>
          <p:cNvPr id="2" name="Title 1">
            <a:extLst>
              <a:ext uri="{FF2B5EF4-FFF2-40B4-BE49-F238E27FC236}">
                <a16:creationId xmlns:a16="http://schemas.microsoft.com/office/drawing/2014/main" id="{74E2622D-2EC8-2A37-672A-06BBDF1F0AE8}"/>
              </a:ext>
            </a:extLst>
          </p:cNvPr>
          <p:cNvSpPr>
            <a:spLocks noGrp="1"/>
          </p:cNvSpPr>
          <p:nvPr>
            <p:ph type="title"/>
          </p:nvPr>
        </p:nvSpPr>
        <p:spPr>
          <a:xfrm>
            <a:off x="540571" y="193761"/>
            <a:ext cx="11110858" cy="914400"/>
          </a:xfrm>
        </p:spPr>
        <p:txBody>
          <a:bodyPr anchor="b">
            <a:normAutofit/>
          </a:bodyPr>
          <a:lstStyle/>
          <a:p>
            <a:r>
              <a:rPr lang="en-GB" dirty="0"/>
              <a:t>Types of research question</a:t>
            </a:r>
          </a:p>
        </p:txBody>
      </p:sp>
    </p:spTree>
    <p:extLst>
      <p:ext uri="{BB962C8B-B14F-4D97-AF65-F5344CB8AC3E}">
        <p14:creationId xmlns:p14="http://schemas.microsoft.com/office/powerpoint/2010/main" val="3232867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622D-2EC8-2A37-672A-06BBDF1F0AE8}"/>
              </a:ext>
            </a:extLst>
          </p:cNvPr>
          <p:cNvSpPr>
            <a:spLocks noGrp="1"/>
          </p:cNvSpPr>
          <p:nvPr>
            <p:ph type="title"/>
          </p:nvPr>
        </p:nvSpPr>
        <p:spPr/>
        <p:txBody>
          <a:bodyPr/>
          <a:lstStyle/>
          <a:p>
            <a:r>
              <a:rPr lang="en-GB" dirty="0"/>
              <a:t>Types of research question</a:t>
            </a:r>
          </a:p>
        </p:txBody>
      </p:sp>
      <p:sp>
        <p:nvSpPr>
          <p:cNvPr id="3" name="Content Placeholder 2">
            <a:extLst>
              <a:ext uri="{FF2B5EF4-FFF2-40B4-BE49-F238E27FC236}">
                <a16:creationId xmlns:a16="http://schemas.microsoft.com/office/drawing/2014/main" id="{D09B2368-6F65-7B72-819C-166A59540D90}"/>
              </a:ext>
            </a:extLst>
          </p:cNvPr>
          <p:cNvSpPr>
            <a:spLocks noGrp="1"/>
          </p:cNvSpPr>
          <p:nvPr>
            <p:ph idx="1"/>
          </p:nvPr>
        </p:nvSpPr>
        <p:spPr/>
        <p:txBody>
          <a:bodyPr/>
          <a:lstStyle/>
          <a:p>
            <a:pPr marL="0" indent="0">
              <a:buNone/>
            </a:pPr>
            <a:r>
              <a:rPr lang="en-GB" b="1" dirty="0"/>
              <a:t>Descriptive</a:t>
            </a:r>
          </a:p>
          <a:p>
            <a:r>
              <a:rPr lang="en-GB" dirty="0"/>
              <a:t>Describing the characteristics of an event/process/experience</a:t>
            </a:r>
          </a:p>
          <a:p>
            <a:r>
              <a:rPr lang="en-GB" dirty="0"/>
              <a:t>Who, what, where, when questions</a:t>
            </a:r>
          </a:p>
        </p:txBody>
      </p:sp>
      <p:sp>
        <p:nvSpPr>
          <p:cNvPr id="5" name="Slide Number Placeholder 4">
            <a:extLst>
              <a:ext uri="{FF2B5EF4-FFF2-40B4-BE49-F238E27FC236}">
                <a16:creationId xmlns:a16="http://schemas.microsoft.com/office/drawing/2014/main" id="{8089DBF5-7C1A-8A20-EAE3-399041E6DB53}"/>
              </a:ext>
            </a:extLst>
          </p:cNvPr>
          <p:cNvSpPr>
            <a:spLocks noGrp="1"/>
          </p:cNvSpPr>
          <p:nvPr>
            <p:ph type="sldNum" sz="quarter" idx="12"/>
          </p:nvPr>
        </p:nvSpPr>
        <p:spPr/>
        <p:txBody>
          <a:bodyPr/>
          <a:lstStyle/>
          <a:p>
            <a:fld id="{372769DB-CAE7-4C85-A9AF-7D4D8DE4CA22}" type="slidenum">
              <a:rPr lang="en-GB" smtClean="0"/>
              <a:t>9</a:t>
            </a:fld>
            <a:endParaRPr lang="en-GB" dirty="0"/>
          </a:p>
        </p:txBody>
      </p:sp>
      <p:sp>
        <p:nvSpPr>
          <p:cNvPr id="7" name="TextBox 6">
            <a:extLst>
              <a:ext uri="{FF2B5EF4-FFF2-40B4-BE49-F238E27FC236}">
                <a16:creationId xmlns:a16="http://schemas.microsoft.com/office/drawing/2014/main" id="{00B21FB2-6C9C-4CC4-348F-B5E904D6A2C1}"/>
              </a:ext>
            </a:extLst>
          </p:cNvPr>
          <p:cNvSpPr txBox="1"/>
          <p:nvPr/>
        </p:nvSpPr>
        <p:spPr>
          <a:xfrm>
            <a:off x="506027" y="4885267"/>
            <a:ext cx="11029544" cy="1120628"/>
          </a:xfrm>
          <a:prstGeom prst="rect">
            <a:avLst/>
          </a:prstGeom>
          <a:noFill/>
        </p:spPr>
        <p:txBody>
          <a:bodyPr wrap="square">
            <a:spAutoFit/>
          </a:bodyPr>
          <a:lstStyle/>
          <a:p>
            <a:pPr lvl="0" algn="ctr">
              <a:lnSpc>
                <a:spcPct val="107000"/>
              </a:lnSpc>
            </a:pPr>
            <a:r>
              <a:rPr lang="en-GB" sz="3200" kern="100" dirty="0">
                <a:solidFill>
                  <a:srgbClr val="376795"/>
                </a:solidFill>
                <a:effectLst/>
                <a:latin typeface="Gill Sans MT" panose="020B0502020104020203" pitchFamily="34" charset="0"/>
                <a:ea typeface="Calibri" panose="020F0502020204030204" pitchFamily="34" charset="0"/>
                <a:cs typeface="Times New Roman" panose="02020603050405020304" pitchFamily="18" charset="0"/>
              </a:rPr>
              <a:t>‘</a:t>
            </a:r>
            <a:r>
              <a:rPr lang="en-US" sz="3200" dirty="0">
                <a:solidFill>
                  <a:srgbClr val="376795"/>
                </a:solidFill>
              </a:rPr>
              <a:t>What is the political organization of the occupied Palestinian territories? How does it differ between the West Bank and Gaza?’</a:t>
            </a:r>
            <a:endParaRPr lang="en-GB" sz="3200" kern="100" dirty="0">
              <a:solidFill>
                <a:srgbClr val="376795"/>
              </a:solidFill>
              <a:effectLst/>
              <a:latin typeface="Gill Sans MT" panose="020B0502020104020203"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13487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622D-2EC8-2A37-672A-06BBDF1F0AE8}"/>
              </a:ext>
            </a:extLst>
          </p:cNvPr>
          <p:cNvSpPr>
            <a:spLocks noGrp="1"/>
          </p:cNvSpPr>
          <p:nvPr>
            <p:ph type="title"/>
          </p:nvPr>
        </p:nvSpPr>
        <p:spPr/>
        <p:txBody>
          <a:bodyPr/>
          <a:lstStyle/>
          <a:p>
            <a:r>
              <a:rPr lang="en-GB" dirty="0"/>
              <a:t>Types of research question</a:t>
            </a:r>
          </a:p>
        </p:txBody>
      </p:sp>
      <p:sp>
        <p:nvSpPr>
          <p:cNvPr id="3" name="Content Placeholder 2">
            <a:extLst>
              <a:ext uri="{FF2B5EF4-FFF2-40B4-BE49-F238E27FC236}">
                <a16:creationId xmlns:a16="http://schemas.microsoft.com/office/drawing/2014/main" id="{D09B2368-6F65-7B72-819C-166A59540D90}"/>
              </a:ext>
            </a:extLst>
          </p:cNvPr>
          <p:cNvSpPr>
            <a:spLocks noGrp="1"/>
          </p:cNvSpPr>
          <p:nvPr>
            <p:ph idx="1"/>
          </p:nvPr>
        </p:nvSpPr>
        <p:spPr/>
        <p:txBody>
          <a:bodyPr/>
          <a:lstStyle/>
          <a:p>
            <a:pPr marL="0" indent="0">
              <a:buNone/>
            </a:pPr>
            <a:r>
              <a:rPr lang="en-GB" b="1" dirty="0"/>
              <a:t>Explanatory</a:t>
            </a:r>
          </a:p>
          <a:p>
            <a:r>
              <a:rPr lang="en-GB" dirty="0"/>
              <a:t>Explaining the underlying causes behind something</a:t>
            </a:r>
          </a:p>
          <a:p>
            <a:r>
              <a:rPr lang="en-GB" dirty="0"/>
              <a:t>Often ‘Why?’ questions, what explains ‘x’?</a:t>
            </a:r>
          </a:p>
          <a:p>
            <a:endParaRPr lang="en-GB" dirty="0"/>
          </a:p>
        </p:txBody>
      </p:sp>
      <p:sp>
        <p:nvSpPr>
          <p:cNvPr id="5" name="Slide Number Placeholder 4">
            <a:extLst>
              <a:ext uri="{FF2B5EF4-FFF2-40B4-BE49-F238E27FC236}">
                <a16:creationId xmlns:a16="http://schemas.microsoft.com/office/drawing/2014/main" id="{8089DBF5-7C1A-8A20-EAE3-399041E6DB53}"/>
              </a:ext>
            </a:extLst>
          </p:cNvPr>
          <p:cNvSpPr>
            <a:spLocks noGrp="1"/>
          </p:cNvSpPr>
          <p:nvPr>
            <p:ph type="sldNum" sz="quarter" idx="12"/>
          </p:nvPr>
        </p:nvSpPr>
        <p:spPr/>
        <p:txBody>
          <a:bodyPr/>
          <a:lstStyle/>
          <a:p>
            <a:fld id="{372769DB-CAE7-4C85-A9AF-7D4D8DE4CA22}" type="slidenum">
              <a:rPr lang="en-GB" smtClean="0"/>
              <a:t>10</a:t>
            </a:fld>
            <a:endParaRPr lang="en-GB" dirty="0"/>
          </a:p>
        </p:txBody>
      </p:sp>
      <p:sp>
        <p:nvSpPr>
          <p:cNvPr id="6" name="TextBox 5">
            <a:extLst>
              <a:ext uri="{FF2B5EF4-FFF2-40B4-BE49-F238E27FC236}">
                <a16:creationId xmlns:a16="http://schemas.microsoft.com/office/drawing/2014/main" id="{0DB28226-CB32-E583-7381-507017CF8FC7}"/>
              </a:ext>
            </a:extLst>
          </p:cNvPr>
          <p:cNvSpPr txBox="1"/>
          <p:nvPr/>
        </p:nvSpPr>
        <p:spPr>
          <a:xfrm>
            <a:off x="705079" y="4848850"/>
            <a:ext cx="11162665" cy="1122871"/>
          </a:xfrm>
          <a:prstGeom prst="rect">
            <a:avLst/>
          </a:prstGeom>
          <a:noFill/>
        </p:spPr>
        <p:txBody>
          <a:bodyPr wrap="square">
            <a:spAutoFit/>
          </a:bodyPr>
          <a:lstStyle/>
          <a:p>
            <a:pPr algn="ctr">
              <a:lnSpc>
                <a:spcPct val="107000"/>
              </a:lnSpc>
            </a:pPr>
            <a:r>
              <a:rPr lang="en-GB" sz="3200" kern="100" dirty="0">
                <a:solidFill>
                  <a:srgbClr val="376795"/>
                </a:solidFill>
                <a:effectLst/>
                <a:latin typeface="Gill Sans MT" panose="020B0502020104020203" pitchFamily="34" charset="0"/>
                <a:ea typeface="Calibri" panose="020F0502020204030204" pitchFamily="34" charset="0"/>
                <a:cs typeface="Times New Roman" panose="02020603050405020304" pitchFamily="18" charset="0"/>
              </a:rPr>
              <a:t>‘</a:t>
            </a:r>
            <a:r>
              <a:rPr lang="en-US" sz="3200" dirty="0">
                <a:solidFill>
                  <a:srgbClr val="376795"/>
                </a:solidFill>
              </a:rPr>
              <a:t>What factors led to the outbreak of the Syrian Civil War in 2011? How did international involvement shape its development?</a:t>
            </a:r>
            <a:endParaRPr lang="en-GB" sz="3200" kern="100" dirty="0">
              <a:solidFill>
                <a:srgbClr val="376795"/>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72597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622D-2EC8-2A37-672A-06BBDF1F0AE8}"/>
              </a:ext>
            </a:extLst>
          </p:cNvPr>
          <p:cNvSpPr>
            <a:spLocks noGrp="1"/>
          </p:cNvSpPr>
          <p:nvPr>
            <p:ph type="title"/>
          </p:nvPr>
        </p:nvSpPr>
        <p:spPr/>
        <p:txBody>
          <a:bodyPr/>
          <a:lstStyle/>
          <a:p>
            <a:r>
              <a:rPr lang="en-GB" dirty="0"/>
              <a:t>Types of research question</a:t>
            </a:r>
          </a:p>
        </p:txBody>
      </p:sp>
      <p:sp>
        <p:nvSpPr>
          <p:cNvPr id="3" name="Content Placeholder 2">
            <a:extLst>
              <a:ext uri="{FF2B5EF4-FFF2-40B4-BE49-F238E27FC236}">
                <a16:creationId xmlns:a16="http://schemas.microsoft.com/office/drawing/2014/main" id="{D09B2368-6F65-7B72-819C-166A59540D90}"/>
              </a:ext>
            </a:extLst>
          </p:cNvPr>
          <p:cNvSpPr>
            <a:spLocks noGrp="1"/>
          </p:cNvSpPr>
          <p:nvPr>
            <p:ph idx="1"/>
          </p:nvPr>
        </p:nvSpPr>
        <p:spPr>
          <a:xfrm>
            <a:off x="838200" y="1825625"/>
            <a:ext cx="10905162" cy="4351338"/>
          </a:xfrm>
        </p:spPr>
        <p:txBody>
          <a:bodyPr/>
          <a:lstStyle/>
          <a:p>
            <a:pPr marL="0" indent="0">
              <a:buNone/>
            </a:pPr>
            <a:r>
              <a:rPr lang="en-GB" b="1" dirty="0"/>
              <a:t>Predictive</a:t>
            </a:r>
          </a:p>
          <a:p>
            <a:r>
              <a:rPr lang="en-GB" dirty="0"/>
              <a:t>Predict future outcomes or events</a:t>
            </a:r>
          </a:p>
          <a:p>
            <a:r>
              <a:rPr lang="en-GB" dirty="0"/>
              <a:t>Based on previous events, predict future trends</a:t>
            </a:r>
          </a:p>
        </p:txBody>
      </p:sp>
      <p:sp>
        <p:nvSpPr>
          <p:cNvPr id="5" name="Slide Number Placeholder 4">
            <a:extLst>
              <a:ext uri="{FF2B5EF4-FFF2-40B4-BE49-F238E27FC236}">
                <a16:creationId xmlns:a16="http://schemas.microsoft.com/office/drawing/2014/main" id="{8089DBF5-7C1A-8A20-EAE3-399041E6DB53}"/>
              </a:ext>
            </a:extLst>
          </p:cNvPr>
          <p:cNvSpPr>
            <a:spLocks noGrp="1"/>
          </p:cNvSpPr>
          <p:nvPr>
            <p:ph type="sldNum" sz="quarter" idx="12"/>
          </p:nvPr>
        </p:nvSpPr>
        <p:spPr/>
        <p:txBody>
          <a:bodyPr/>
          <a:lstStyle/>
          <a:p>
            <a:fld id="{372769DB-CAE7-4C85-A9AF-7D4D8DE4CA22}" type="slidenum">
              <a:rPr lang="en-GB" smtClean="0"/>
              <a:t>11</a:t>
            </a:fld>
            <a:endParaRPr lang="en-GB" dirty="0"/>
          </a:p>
        </p:txBody>
      </p:sp>
      <p:sp>
        <p:nvSpPr>
          <p:cNvPr id="6" name="TextBox 5">
            <a:extLst>
              <a:ext uri="{FF2B5EF4-FFF2-40B4-BE49-F238E27FC236}">
                <a16:creationId xmlns:a16="http://schemas.microsoft.com/office/drawing/2014/main" id="{CBE54053-2F35-4D5F-E393-7DCD718A769F}"/>
              </a:ext>
            </a:extLst>
          </p:cNvPr>
          <p:cNvSpPr txBox="1"/>
          <p:nvPr/>
        </p:nvSpPr>
        <p:spPr>
          <a:xfrm>
            <a:off x="143218" y="4933045"/>
            <a:ext cx="11600143" cy="1122871"/>
          </a:xfrm>
          <a:prstGeom prst="rect">
            <a:avLst/>
          </a:prstGeom>
          <a:noFill/>
        </p:spPr>
        <p:txBody>
          <a:bodyPr wrap="square">
            <a:spAutoFit/>
          </a:bodyPr>
          <a:lstStyle/>
          <a:p>
            <a:pPr algn="ctr">
              <a:lnSpc>
                <a:spcPct val="107000"/>
              </a:lnSpc>
            </a:pPr>
            <a:r>
              <a:rPr lang="en-GB" sz="3200" kern="100" dirty="0">
                <a:solidFill>
                  <a:srgbClr val="376795"/>
                </a:solidFill>
                <a:effectLst/>
                <a:ea typeface="Calibri" panose="020F0502020204030204" pitchFamily="34" charset="0"/>
                <a:cs typeface="Times New Roman" panose="02020603050405020304" pitchFamily="18" charset="0"/>
              </a:rPr>
              <a:t>‘</a:t>
            </a:r>
            <a:r>
              <a:rPr lang="en-US" sz="3200" dirty="0">
                <a:solidFill>
                  <a:srgbClr val="376795"/>
                </a:solidFill>
              </a:rPr>
              <a:t>What are the potential political consequences for Jordan if the Israeli-Palestinian conflict escalates further over the next five years?</a:t>
            </a:r>
            <a:endParaRPr lang="en-GB" sz="3200" kern="100" dirty="0">
              <a:solidFill>
                <a:srgbClr val="376795"/>
              </a:solidFill>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8446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A9CBD-FD00-04DF-281B-6C1A1918E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F66A1-EA91-8FD5-C749-36617198D873}"/>
              </a:ext>
            </a:extLst>
          </p:cNvPr>
          <p:cNvSpPr>
            <a:spLocks noGrp="1"/>
          </p:cNvSpPr>
          <p:nvPr>
            <p:ph type="title"/>
          </p:nvPr>
        </p:nvSpPr>
        <p:spPr/>
        <p:txBody>
          <a:bodyPr/>
          <a:lstStyle/>
          <a:p>
            <a:r>
              <a:rPr lang="en-GB" dirty="0"/>
              <a:t>Types of research question</a:t>
            </a:r>
          </a:p>
        </p:txBody>
      </p:sp>
      <p:sp>
        <p:nvSpPr>
          <p:cNvPr id="3" name="Content Placeholder 2">
            <a:extLst>
              <a:ext uri="{FF2B5EF4-FFF2-40B4-BE49-F238E27FC236}">
                <a16:creationId xmlns:a16="http://schemas.microsoft.com/office/drawing/2014/main" id="{43A7451D-A0E1-DE14-7260-D811F32E546A}"/>
              </a:ext>
            </a:extLst>
          </p:cNvPr>
          <p:cNvSpPr>
            <a:spLocks noGrp="1"/>
          </p:cNvSpPr>
          <p:nvPr>
            <p:ph idx="1"/>
          </p:nvPr>
        </p:nvSpPr>
        <p:spPr/>
        <p:txBody>
          <a:bodyPr/>
          <a:lstStyle/>
          <a:p>
            <a:pPr marL="0" indent="0">
              <a:buNone/>
            </a:pPr>
            <a:r>
              <a:rPr lang="en-GB" b="1" dirty="0"/>
              <a:t>Prescriptive</a:t>
            </a:r>
          </a:p>
          <a:p>
            <a:r>
              <a:rPr lang="en-GB" dirty="0"/>
              <a:t>Identifying pathways to bring about a specific outcome</a:t>
            </a:r>
          </a:p>
          <a:p>
            <a:r>
              <a:rPr lang="en-GB" dirty="0"/>
              <a:t>End goal, potential options, evaluate strengths</a:t>
            </a:r>
          </a:p>
          <a:p>
            <a:endParaRPr lang="en-GB" dirty="0"/>
          </a:p>
        </p:txBody>
      </p:sp>
      <p:sp>
        <p:nvSpPr>
          <p:cNvPr id="5" name="Slide Number Placeholder 4">
            <a:extLst>
              <a:ext uri="{FF2B5EF4-FFF2-40B4-BE49-F238E27FC236}">
                <a16:creationId xmlns:a16="http://schemas.microsoft.com/office/drawing/2014/main" id="{E7232890-D6AE-AB86-C7BA-95EB25DF5B76}"/>
              </a:ext>
            </a:extLst>
          </p:cNvPr>
          <p:cNvSpPr>
            <a:spLocks noGrp="1"/>
          </p:cNvSpPr>
          <p:nvPr>
            <p:ph type="sldNum" sz="quarter" idx="12"/>
          </p:nvPr>
        </p:nvSpPr>
        <p:spPr/>
        <p:txBody>
          <a:bodyPr/>
          <a:lstStyle/>
          <a:p>
            <a:fld id="{372769DB-CAE7-4C85-A9AF-7D4D8DE4CA22}" type="slidenum">
              <a:rPr lang="en-GB" smtClean="0"/>
              <a:t>12</a:t>
            </a:fld>
            <a:endParaRPr lang="en-GB" dirty="0"/>
          </a:p>
        </p:txBody>
      </p:sp>
      <p:sp>
        <p:nvSpPr>
          <p:cNvPr id="6" name="TextBox 5">
            <a:extLst>
              <a:ext uri="{FF2B5EF4-FFF2-40B4-BE49-F238E27FC236}">
                <a16:creationId xmlns:a16="http://schemas.microsoft.com/office/drawing/2014/main" id="{A553534B-9580-ABA5-D24A-2574FAF3B959}"/>
              </a:ext>
            </a:extLst>
          </p:cNvPr>
          <p:cNvSpPr txBox="1"/>
          <p:nvPr/>
        </p:nvSpPr>
        <p:spPr>
          <a:xfrm>
            <a:off x="506027" y="5064750"/>
            <a:ext cx="10847773" cy="1120628"/>
          </a:xfrm>
          <a:prstGeom prst="rect">
            <a:avLst/>
          </a:prstGeom>
          <a:noFill/>
        </p:spPr>
        <p:txBody>
          <a:bodyPr wrap="square">
            <a:spAutoFit/>
          </a:bodyPr>
          <a:lstStyle/>
          <a:p>
            <a:pPr algn="ctr">
              <a:lnSpc>
                <a:spcPct val="107000"/>
              </a:lnSpc>
            </a:pPr>
            <a:r>
              <a:rPr lang="en-GB" sz="3200" kern="100" dirty="0">
                <a:solidFill>
                  <a:srgbClr val="376795"/>
                </a:solidFill>
                <a:effectLst/>
                <a:latin typeface="Gill Sans MT" panose="020B0502020104020203" pitchFamily="34" charset="0"/>
                <a:ea typeface="Calibri" panose="020F0502020204030204" pitchFamily="34" charset="0"/>
                <a:cs typeface="Times New Roman" panose="02020603050405020304" pitchFamily="18" charset="0"/>
              </a:rPr>
              <a:t>‘</a:t>
            </a:r>
            <a:r>
              <a:rPr lang="en-US" sz="3200" dirty="0">
                <a:solidFill>
                  <a:srgbClr val="376795"/>
                </a:solidFill>
              </a:rPr>
              <a:t>What steps can the government of Saudi Arabia take to reduce dependence on oil exports, while maintaining political stability?</a:t>
            </a:r>
            <a:endParaRPr lang="en-GB" sz="3200" kern="100" dirty="0">
              <a:solidFill>
                <a:srgbClr val="376795"/>
              </a:solidFill>
              <a:effectLst/>
              <a:latin typeface="Gill Sans MT" panose="020B0502020104020203"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8002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622D-2EC8-2A37-672A-06BBDF1F0AE8}"/>
              </a:ext>
            </a:extLst>
          </p:cNvPr>
          <p:cNvSpPr>
            <a:spLocks noGrp="1"/>
          </p:cNvSpPr>
          <p:nvPr>
            <p:ph type="title"/>
          </p:nvPr>
        </p:nvSpPr>
        <p:spPr/>
        <p:txBody>
          <a:bodyPr/>
          <a:lstStyle/>
          <a:p>
            <a:r>
              <a:rPr lang="en-GB" dirty="0"/>
              <a:t>Types of research question</a:t>
            </a:r>
          </a:p>
        </p:txBody>
      </p:sp>
      <p:sp>
        <p:nvSpPr>
          <p:cNvPr id="3" name="Content Placeholder 2">
            <a:extLst>
              <a:ext uri="{FF2B5EF4-FFF2-40B4-BE49-F238E27FC236}">
                <a16:creationId xmlns:a16="http://schemas.microsoft.com/office/drawing/2014/main" id="{D09B2368-6F65-7B72-819C-166A59540D90}"/>
              </a:ext>
            </a:extLst>
          </p:cNvPr>
          <p:cNvSpPr>
            <a:spLocks noGrp="1"/>
          </p:cNvSpPr>
          <p:nvPr>
            <p:ph idx="1"/>
          </p:nvPr>
        </p:nvSpPr>
        <p:spPr/>
        <p:txBody>
          <a:bodyPr/>
          <a:lstStyle/>
          <a:p>
            <a:pPr marL="0" indent="0">
              <a:buNone/>
            </a:pPr>
            <a:r>
              <a:rPr lang="en-GB" b="1" dirty="0"/>
              <a:t>Normative</a:t>
            </a:r>
          </a:p>
          <a:p>
            <a:r>
              <a:rPr lang="en-GB" dirty="0"/>
              <a:t>What should be done, what is right or just?</a:t>
            </a:r>
          </a:p>
          <a:p>
            <a:r>
              <a:rPr lang="en-GB" dirty="0"/>
              <a:t>What should our desired outcome be and why?</a:t>
            </a:r>
          </a:p>
        </p:txBody>
      </p:sp>
      <p:sp>
        <p:nvSpPr>
          <p:cNvPr id="5" name="Slide Number Placeholder 4">
            <a:extLst>
              <a:ext uri="{FF2B5EF4-FFF2-40B4-BE49-F238E27FC236}">
                <a16:creationId xmlns:a16="http://schemas.microsoft.com/office/drawing/2014/main" id="{8089DBF5-7C1A-8A20-EAE3-399041E6DB53}"/>
              </a:ext>
            </a:extLst>
          </p:cNvPr>
          <p:cNvSpPr>
            <a:spLocks noGrp="1"/>
          </p:cNvSpPr>
          <p:nvPr>
            <p:ph type="sldNum" sz="quarter" idx="12"/>
          </p:nvPr>
        </p:nvSpPr>
        <p:spPr/>
        <p:txBody>
          <a:bodyPr/>
          <a:lstStyle/>
          <a:p>
            <a:fld id="{372769DB-CAE7-4C85-A9AF-7D4D8DE4CA22}" type="slidenum">
              <a:rPr lang="en-GB" smtClean="0"/>
              <a:t>13</a:t>
            </a:fld>
            <a:endParaRPr lang="en-GB" dirty="0"/>
          </a:p>
        </p:txBody>
      </p:sp>
      <p:sp>
        <p:nvSpPr>
          <p:cNvPr id="6" name="TextBox 5">
            <a:extLst>
              <a:ext uri="{FF2B5EF4-FFF2-40B4-BE49-F238E27FC236}">
                <a16:creationId xmlns:a16="http://schemas.microsoft.com/office/drawing/2014/main" id="{C69CD3BD-8C0C-B255-751C-C6B7F3A230EC}"/>
              </a:ext>
            </a:extLst>
          </p:cNvPr>
          <p:cNvSpPr txBox="1"/>
          <p:nvPr/>
        </p:nvSpPr>
        <p:spPr>
          <a:xfrm>
            <a:off x="1052482" y="5056335"/>
            <a:ext cx="9527158" cy="1120628"/>
          </a:xfrm>
          <a:prstGeom prst="rect">
            <a:avLst/>
          </a:prstGeom>
          <a:noFill/>
        </p:spPr>
        <p:txBody>
          <a:bodyPr wrap="square">
            <a:spAutoFit/>
          </a:bodyPr>
          <a:lstStyle/>
          <a:p>
            <a:pPr algn="ctr">
              <a:lnSpc>
                <a:spcPct val="107000"/>
              </a:lnSpc>
            </a:pPr>
            <a:r>
              <a:rPr lang="en-GB" sz="3200" kern="100" dirty="0">
                <a:solidFill>
                  <a:srgbClr val="376795"/>
                </a:solidFill>
                <a:effectLst/>
                <a:latin typeface="Gill Sans MT" panose="020B0502020104020203" pitchFamily="34" charset="0"/>
                <a:ea typeface="Calibri" panose="020F0502020204030204" pitchFamily="34" charset="0"/>
                <a:cs typeface="Times New Roman" panose="02020603050405020304" pitchFamily="18" charset="0"/>
              </a:rPr>
              <a:t>‘</a:t>
            </a:r>
            <a:r>
              <a:rPr lang="en-GB" sz="3200" kern="100" dirty="0">
                <a:solidFill>
                  <a:srgbClr val="376795"/>
                </a:solidFill>
                <a:effectLst/>
                <a:latin typeface="Calibri" panose="020F0502020204030204" pitchFamily="34" charset="0"/>
                <a:ea typeface="Calibri" panose="020F0502020204030204" pitchFamily="34" charset="0"/>
                <a:cs typeface="Times New Roman" panose="02020603050405020304" pitchFamily="18" charset="0"/>
              </a:rPr>
              <a:t>Should the international community allow Iran to develop its nuclear weapons programme?</a:t>
            </a:r>
            <a:endParaRPr lang="en-GB" sz="3200" kern="100" dirty="0">
              <a:solidFill>
                <a:srgbClr val="376795"/>
              </a:solidFill>
              <a:effectLst/>
              <a:latin typeface="Gill Sans MT" panose="020B0502020104020203"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61042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622D-2EC8-2A37-672A-06BBDF1F0AE8}"/>
              </a:ext>
            </a:extLst>
          </p:cNvPr>
          <p:cNvSpPr>
            <a:spLocks noGrp="1"/>
          </p:cNvSpPr>
          <p:nvPr>
            <p:ph type="title"/>
          </p:nvPr>
        </p:nvSpPr>
        <p:spPr/>
        <p:txBody>
          <a:bodyPr>
            <a:normAutofit fontScale="90000"/>
          </a:bodyPr>
          <a:lstStyle/>
          <a:p>
            <a:r>
              <a:rPr lang="en-GB" dirty="0"/>
              <a:t>Coming up with research questions</a:t>
            </a:r>
          </a:p>
        </p:txBody>
      </p:sp>
      <p:sp>
        <p:nvSpPr>
          <p:cNvPr id="3" name="Content Placeholder 2">
            <a:extLst>
              <a:ext uri="{FF2B5EF4-FFF2-40B4-BE49-F238E27FC236}">
                <a16:creationId xmlns:a16="http://schemas.microsoft.com/office/drawing/2014/main" id="{D09B2368-6F65-7B72-819C-166A59540D90}"/>
              </a:ext>
            </a:extLst>
          </p:cNvPr>
          <p:cNvSpPr>
            <a:spLocks noGrp="1"/>
          </p:cNvSpPr>
          <p:nvPr>
            <p:ph idx="1"/>
          </p:nvPr>
        </p:nvSpPr>
        <p:spPr/>
        <p:txBody>
          <a:bodyPr>
            <a:normAutofit lnSpcReduction="10000"/>
          </a:bodyPr>
          <a:lstStyle/>
          <a:p>
            <a:r>
              <a:rPr lang="en-GB" dirty="0"/>
              <a:t>Pick an area that interests you</a:t>
            </a:r>
          </a:p>
          <a:p>
            <a:r>
              <a:rPr lang="en-GB" dirty="0"/>
              <a:t>Broad research area</a:t>
            </a:r>
          </a:p>
          <a:p>
            <a:endParaRPr lang="en-GB" dirty="0"/>
          </a:p>
          <a:p>
            <a:r>
              <a:rPr lang="en-GB" dirty="0"/>
              <a:t>Narrower topic or aspect of the research area</a:t>
            </a:r>
          </a:p>
          <a:p>
            <a:r>
              <a:rPr lang="en-GB" dirty="0">
                <a:solidFill>
                  <a:srgbClr val="FF0000"/>
                </a:solidFill>
              </a:rPr>
              <a:t>Read academic literature on the topic</a:t>
            </a:r>
          </a:p>
          <a:p>
            <a:endParaRPr lang="en-GB" dirty="0"/>
          </a:p>
          <a:p>
            <a:r>
              <a:rPr lang="en-GB" dirty="0"/>
              <a:t>Specific research questions</a:t>
            </a:r>
          </a:p>
          <a:p>
            <a:endParaRPr lang="en-GB" dirty="0"/>
          </a:p>
        </p:txBody>
      </p:sp>
      <p:sp>
        <p:nvSpPr>
          <p:cNvPr id="5" name="Slide Number Placeholder 4">
            <a:extLst>
              <a:ext uri="{FF2B5EF4-FFF2-40B4-BE49-F238E27FC236}">
                <a16:creationId xmlns:a16="http://schemas.microsoft.com/office/drawing/2014/main" id="{8089DBF5-7C1A-8A20-EAE3-399041E6DB53}"/>
              </a:ext>
            </a:extLst>
          </p:cNvPr>
          <p:cNvSpPr>
            <a:spLocks noGrp="1"/>
          </p:cNvSpPr>
          <p:nvPr>
            <p:ph type="sldNum" sz="quarter" idx="12"/>
          </p:nvPr>
        </p:nvSpPr>
        <p:spPr/>
        <p:txBody>
          <a:bodyPr/>
          <a:lstStyle/>
          <a:p>
            <a:fld id="{372769DB-CAE7-4C85-A9AF-7D4D8DE4CA22}" type="slidenum">
              <a:rPr lang="en-GB" smtClean="0"/>
              <a:t>14</a:t>
            </a:fld>
            <a:endParaRPr lang="en-GB" dirty="0"/>
          </a:p>
        </p:txBody>
      </p:sp>
    </p:spTree>
    <p:extLst>
      <p:ext uri="{BB962C8B-B14F-4D97-AF65-F5344CB8AC3E}">
        <p14:creationId xmlns:p14="http://schemas.microsoft.com/office/powerpoint/2010/main" val="540345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D0B1C5-005F-4373-96C4-D2982BD5354B}"/>
              </a:ext>
            </a:extLst>
          </p:cNvPr>
          <p:cNvSpPr>
            <a:spLocks noGrp="1"/>
          </p:cNvSpPr>
          <p:nvPr>
            <p:ph sz="half" idx="1"/>
          </p:nvPr>
        </p:nvSpPr>
        <p:spPr>
          <a:xfrm>
            <a:off x="838200" y="1825625"/>
            <a:ext cx="3083560" cy="4351338"/>
          </a:xfrm>
        </p:spPr>
        <p:txBody>
          <a:bodyPr>
            <a:normAutofit/>
          </a:bodyPr>
          <a:lstStyle/>
          <a:p>
            <a:pPr marL="0" indent="0" algn="ctr">
              <a:buNone/>
            </a:pPr>
            <a:r>
              <a:rPr lang="en-GB" dirty="0"/>
              <a:t>Broad area</a:t>
            </a:r>
          </a:p>
          <a:p>
            <a:pPr marL="0" indent="0" algn="ctr">
              <a:buNone/>
            </a:pPr>
            <a:r>
              <a:rPr lang="en-GB" dirty="0">
                <a:sym typeface="Wingdings" panose="05000000000000000000" pitchFamily="2" charset="2"/>
              </a:rPr>
              <a:t></a:t>
            </a:r>
          </a:p>
          <a:p>
            <a:pPr marL="0" indent="0" algn="ctr">
              <a:buNone/>
            </a:pPr>
            <a:r>
              <a:rPr lang="en-GB" dirty="0"/>
              <a:t>Topic</a:t>
            </a:r>
          </a:p>
          <a:p>
            <a:pPr marL="0" indent="0" algn="ctr">
              <a:buNone/>
            </a:pPr>
            <a:r>
              <a:rPr lang="en-GB" dirty="0">
                <a:sym typeface="Wingdings" panose="05000000000000000000" pitchFamily="2" charset="2"/>
              </a:rPr>
              <a:t></a:t>
            </a:r>
            <a:endParaRPr lang="en-GB" dirty="0"/>
          </a:p>
          <a:p>
            <a:pPr marL="0" indent="0" algn="ctr">
              <a:buNone/>
            </a:pPr>
            <a:r>
              <a:rPr lang="en-GB" dirty="0"/>
              <a:t>Question</a:t>
            </a:r>
          </a:p>
        </p:txBody>
      </p:sp>
      <p:sp>
        <p:nvSpPr>
          <p:cNvPr id="3" name="Content Placeholder 2">
            <a:extLst>
              <a:ext uri="{FF2B5EF4-FFF2-40B4-BE49-F238E27FC236}">
                <a16:creationId xmlns:a16="http://schemas.microsoft.com/office/drawing/2014/main" id="{4609160C-6C2C-4248-FAF1-AA10E6383806}"/>
              </a:ext>
            </a:extLst>
          </p:cNvPr>
          <p:cNvSpPr>
            <a:spLocks noGrp="1"/>
          </p:cNvSpPr>
          <p:nvPr>
            <p:ph sz="half" idx="2"/>
          </p:nvPr>
        </p:nvSpPr>
        <p:spPr>
          <a:xfrm>
            <a:off x="3810000" y="1825624"/>
            <a:ext cx="8199120" cy="4537849"/>
          </a:xfrm>
        </p:spPr>
        <p:txBody>
          <a:bodyPr>
            <a:normAutofit/>
          </a:bodyPr>
          <a:lstStyle/>
          <a:p>
            <a:pPr marL="0" indent="0" algn="ctr">
              <a:buNone/>
            </a:pPr>
            <a:r>
              <a:rPr lang="en-GB" dirty="0"/>
              <a:t>International Security</a:t>
            </a:r>
          </a:p>
          <a:p>
            <a:pPr marL="0" indent="0" algn="ctr">
              <a:buNone/>
            </a:pPr>
            <a:r>
              <a:rPr lang="en-GB" dirty="0">
                <a:sym typeface="Wingdings" panose="05000000000000000000" pitchFamily="2" charset="2"/>
              </a:rPr>
              <a:t></a:t>
            </a:r>
          </a:p>
          <a:p>
            <a:pPr marL="0" indent="0" algn="ctr">
              <a:buNone/>
            </a:pPr>
            <a:r>
              <a:rPr lang="en-GB" dirty="0"/>
              <a:t>Civil wars </a:t>
            </a:r>
          </a:p>
          <a:p>
            <a:pPr marL="0" indent="0" algn="ctr">
              <a:buNone/>
            </a:pPr>
            <a:r>
              <a:rPr lang="en-GB" dirty="0">
                <a:sym typeface="Wingdings" panose="05000000000000000000" pitchFamily="2" charset="2"/>
              </a:rPr>
              <a:t></a:t>
            </a:r>
            <a:endParaRPr lang="en-GB" dirty="0"/>
          </a:p>
          <a:p>
            <a:pPr marL="0" indent="0" algn="ctr">
              <a:buNone/>
            </a:pPr>
            <a:r>
              <a:rPr lang="en-GB" dirty="0"/>
              <a:t>Does the strength of rebel groups influence violence against civilians during civil wars?</a:t>
            </a:r>
          </a:p>
          <a:p>
            <a:endParaRPr lang="en-GB" dirty="0"/>
          </a:p>
        </p:txBody>
      </p:sp>
      <p:sp>
        <p:nvSpPr>
          <p:cNvPr id="5" name="Slide Number Placeholder 4">
            <a:extLst>
              <a:ext uri="{FF2B5EF4-FFF2-40B4-BE49-F238E27FC236}">
                <a16:creationId xmlns:a16="http://schemas.microsoft.com/office/drawing/2014/main" id="{9B2B3ACB-09E0-7DAE-1F31-45485096D947}"/>
              </a:ext>
            </a:extLst>
          </p:cNvPr>
          <p:cNvSpPr>
            <a:spLocks noGrp="1"/>
          </p:cNvSpPr>
          <p:nvPr>
            <p:ph type="sldNum" sz="quarter" idx="12"/>
          </p:nvPr>
        </p:nvSpPr>
        <p:spPr/>
        <p:txBody>
          <a:bodyPr/>
          <a:lstStyle/>
          <a:p>
            <a:fld id="{372769DB-CAE7-4C85-A9AF-7D4D8DE4CA22}" type="slidenum">
              <a:rPr lang="en-GB" smtClean="0"/>
              <a:t>15</a:t>
            </a:fld>
            <a:endParaRPr lang="en-GB" dirty="0"/>
          </a:p>
        </p:txBody>
      </p:sp>
      <p:sp>
        <p:nvSpPr>
          <p:cNvPr id="6" name="Title 5">
            <a:extLst>
              <a:ext uri="{FF2B5EF4-FFF2-40B4-BE49-F238E27FC236}">
                <a16:creationId xmlns:a16="http://schemas.microsoft.com/office/drawing/2014/main" id="{A4293603-A07D-169C-9403-5323A56EE0E1}"/>
              </a:ext>
            </a:extLst>
          </p:cNvPr>
          <p:cNvSpPr>
            <a:spLocks noGrp="1"/>
          </p:cNvSpPr>
          <p:nvPr>
            <p:ph type="title"/>
          </p:nvPr>
        </p:nvSpPr>
        <p:spPr/>
        <p:txBody>
          <a:bodyPr/>
          <a:lstStyle/>
          <a:p>
            <a:r>
              <a:rPr lang="en-GB" sz="5400" dirty="0"/>
              <a:t>Coming up with research questions</a:t>
            </a:r>
          </a:p>
        </p:txBody>
      </p:sp>
    </p:spTree>
    <p:extLst>
      <p:ext uri="{BB962C8B-B14F-4D97-AF65-F5344CB8AC3E}">
        <p14:creationId xmlns:p14="http://schemas.microsoft.com/office/powerpoint/2010/main" val="2678632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D0B1C5-005F-4373-96C4-D2982BD5354B}"/>
              </a:ext>
            </a:extLst>
          </p:cNvPr>
          <p:cNvSpPr>
            <a:spLocks noGrp="1"/>
          </p:cNvSpPr>
          <p:nvPr>
            <p:ph sz="half" idx="1"/>
          </p:nvPr>
        </p:nvSpPr>
        <p:spPr>
          <a:xfrm>
            <a:off x="838200" y="1825625"/>
            <a:ext cx="3083560" cy="4351338"/>
          </a:xfrm>
        </p:spPr>
        <p:txBody>
          <a:bodyPr>
            <a:normAutofit/>
          </a:bodyPr>
          <a:lstStyle/>
          <a:p>
            <a:pPr marL="0" indent="0" algn="ctr">
              <a:buNone/>
            </a:pPr>
            <a:r>
              <a:rPr lang="en-GB" dirty="0"/>
              <a:t>Broad area</a:t>
            </a:r>
          </a:p>
          <a:p>
            <a:pPr marL="0" indent="0" algn="ctr">
              <a:buNone/>
            </a:pPr>
            <a:r>
              <a:rPr lang="en-GB" dirty="0">
                <a:sym typeface="Wingdings" panose="05000000000000000000" pitchFamily="2" charset="2"/>
              </a:rPr>
              <a:t></a:t>
            </a:r>
          </a:p>
          <a:p>
            <a:pPr marL="0" indent="0" algn="ctr">
              <a:buNone/>
            </a:pPr>
            <a:r>
              <a:rPr lang="en-GB" dirty="0"/>
              <a:t>Topic</a:t>
            </a:r>
          </a:p>
          <a:p>
            <a:pPr marL="0" indent="0" algn="ctr">
              <a:buNone/>
            </a:pPr>
            <a:r>
              <a:rPr lang="en-GB" dirty="0">
                <a:sym typeface="Wingdings" panose="05000000000000000000" pitchFamily="2" charset="2"/>
              </a:rPr>
              <a:t></a:t>
            </a:r>
            <a:endParaRPr lang="en-GB" dirty="0"/>
          </a:p>
          <a:p>
            <a:pPr marL="0" indent="0" algn="ctr">
              <a:buNone/>
            </a:pPr>
            <a:r>
              <a:rPr lang="en-GB" dirty="0"/>
              <a:t>Question</a:t>
            </a:r>
          </a:p>
        </p:txBody>
      </p:sp>
      <p:sp>
        <p:nvSpPr>
          <p:cNvPr id="3" name="Content Placeholder 2">
            <a:extLst>
              <a:ext uri="{FF2B5EF4-FFF2-40B4-BE49-F238E27FC236}">
                <a16:creationId xmlns:a16="http://schemas.microsoft.com/office/drawing/2014/main" id="{4609160C-6C2C-4248-FAF1-AA10E6383806}"/>
              </a:ext>
            </a:extLst>
          </p:cNvPr>
          <p:cNvSpPr>
            <a:spLocks noGrp="1"/>
          </p:cNvSpPr>
          <p:nvPr>
            <p:ph sz="half" idx="2"/>
          </p:nvPr>
        </p:nvSpPr>
        <p:spPr>
          <a:xfrm>
            <a:off x="3810000" y="1825624"/>
            <a:ext cx="8199120" cy="4537849"/>
          </a:xfrm>
        </p:spPr>
        <p:txBody>
          <a:bodyPr>
            <a:normAutofit/>
          </a:bodyPr>
          <a:lstStyle/>
          <a:p>
            <a:pPr marL="0" indent="0" algn="ctr">
              <a:buNone/>
            </a:pPr>
            <a:r>
              <a:rPr lang="en-GB" dirty="0"/>
              <a:t>Public opinion</a:t>
            </a:r>
          </a:p>
          <a:p>
            <a:pPr marL="0" indent="0" algn="ctr">
              <a:buNone/>
            </a:pPr>
            <a:r>
              <a:rPr lang="en-GB" dirty="0">
                <a:sym typeface="Wingdings" panose="05000000000000000000" pitchFamily="2" charset="2"/>
              </a:rPr>
              <a:t></a:t>
            </a:r>
          </a:p>
          <a:p>
            <a:pPr marL="0" indent="0" algn="ctr">
              <a:buNone/>
            </a:pPr>
            <a:r>
              <a:rPr lang="en-GB" dirty="0"/>
              <a:t>Political trust</a:t>
            </a:r>
          </a:p>
          <a:p>
            <a:pPr marL="0" indent="0" algn="ctr">
              <a:buNone/>
            </a:pPr>
            <a:r>
              <a:rPr lang="en-GB" dirty="0">
                <a:sym typeface="Wingdings" panose="05000000000000000000" pitchFamily="2" charset="2"/>
              </a:rPr>
              <a:t></a:t>
            </a:r>
            <a:endParaRPr lang="en-GB" dirty="0"/>
          </a:p>
          <a:p>
            <a:pPr marL="0" indent="0" algn="ctr">
              <a:buNone/>
            </a:pPr>
            <a:r>
              <a:rPr lang="en-GB" dirty="0"/>
              <a:t>What makes people trust or distrust politicians?</a:t>
            </a:r>
          </a:p>
          <a:p>
            <a:endParaRPr lang="en-GB" dirty="0"/>
          </a:p>
        </p:txBody>
      </p:sp>
      <p:sp>
        <p:nvSpPr>
          <p:cNvPr id="5" name="Slide Number Placeholder 4">
            <a:extLst>
              <a:ext uri="{FF2B5EF4-FFF2-40B4-BE49-F238E27FC236}">
                <a16:creationId xmlns:a16="http://schemas.microsoft.com/office/drawing/2014/main" id="{9B2B3ACB-09E0-7DAE-1F31-45485096D947}"/>
              </a:ext>
            </a:extLst>
          </p:cNvPr>
          <p:cNvSpPr>
            <a:spLocks noGrp="1"/>
          </p:cNvSpPr>
          <p:nvPr>
            <p:ph type="sldNum" sz="quarter" idx="12"/>
          </p:nvPr>
        </p:nvSpPr>
        <p:spPr/>
        <p:txBody>
          <a:bodyPr/>
          <a:lstStyle/>
          <a:p>
            <a:fld id="{372769DB-CAE7-4C85-A9AF-7D4D8DE4CA22}" type="slidenum">
              <a:rPr lang="en-GB" smtClean="0"/>
              <a:t>16</a:t>
            </a:fld>
            <a:endParaRPr lang="en-GB" dirty="0"/>
          </a:p>
        </p:txBody>
      </p:sp>
      <p:sp>
        <p:nvSpPr>
          <p:cNvPr id="6" name="Title 5">
            <a:extLst>
              <a:ext uri="{FF2B5EF4-FFF2-40B4-BE49-F238E27FC236}">
                <a16:creationId xmlns:a16="http://schemas.microsoft.com/office/drawing/2014/main" id="{A4293603-A07D-169C-9403-5323A56EE0E1}"/>
              </a:ext>
            </a:extLst>
          </p:cNvPr>
          <p:cNvSpPr>
            <a:spLocks noGrp="1"/>
          </p:cNvSpPr>
          <p:nvPr>
            <p:ph type="title"/>
          </p:nvPr>
        </p:nvSpPr>
        <p:spPr/>
        <p:txBody>
          <a:bodyPr/>
          <a:lstStyle/>
          <a:p>
            <a:r>
              <a:rPr lang="en-GB" sz="5400" dirty="0"/>
              <a:t>Coming up with research questions</a:t>
            </a:r>
          </a:p>
        </p:txBody>
      </p:sp>
    </p:spTree>
    <p:extLst>
      <p:ext uri="{BB962C8B-B14F-4D97-AF65-F5344CB8AC3E}">
        <p14:creationId xmlns:p14="http://schemas.microsoft.com/office/powerpoint/2010/main" val="4114943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D6E2A-90B9-B59D-38DE-17ACEBD78EB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31328C-1553-E7D6-14ED-8BCC5C121D34}"/>
              </a:ext>
            </a:extLst>
          </p:cNvPr>
          <p:cNvSpPr>
            <a:spLocks noGrp="1"/>
          </p:cNvSpPr>
          <p:nvPr>
            <p:ph sz="half" idx="1"/>
          </p:nvPr>
        </p:nvSpPr>
        <p:spPr>
          <a:xfrm>
            <a:off x="838200" y="1825625"/>
            <a:ext cx="3083560" cy="4351338"/>
          </a:xfrm>
        </p:spPr>
        <p:txBody>
          <a:bodyPr>
            <a:normAutofit/>
          </a:bodyPr>
          <a:lstStyle/>
          <a:p>
            <a:pPr marL="0" indent="0" algn="ctr">
              <a:buNone/>
            </a:pPr>
            <a:r>
              <a:rPr lang="en-GB" dirty="0"/>
              <a:t>Broad area</a:t>
            </a:r>
          </a:p>
          <a:p>
            <a:pPr marL="0" indent="0" algn="ctr">
              <a:buNone/>
            </a:pPr>
            <a:r>
              <a:rPr lang="en-GB" dirty="0">
                <a:sym typeface="Wingdings" panose="05000000000000000000" pitchFamily="2" charset="2"/>
              </a:rPr>
              <a:t></a:t>
            </a:r>
          </a:p>
          <a:p>
            <a:pPr marL="0" indent="0" algn="ctr">
              <a:buNone/>
            </a:pPr>
            <a:r>
              <a:rPr lang="en-GB" dirty="0"/>
              <a:t>Topic</a:t>
            </a:r>
          </a:p>
          <a:p>
            <a:pPr marL="0" indent="0" algn="ctr">
              <a:buNone/>
            </a:pPr>
            <a:r>
              <a:rPr lang="en-GB" dirty="0">
                <a:sym typeface="Wingdings" panose="05000000000000000000" pitchFamily="2" charset="2"/>
              </a:rPr>
              <a:t></a:t>
            </a:r>
            <a:endParaRPr lang="en-GB" dirty="0"/>
          </a:p>
          <a:p>
            <a:pPr marL="0" indent="0" algn="ctr">
              <a:buNone/>
            </a:pPr>
            <a:r>
              <a:rPr lang="en-GB" dirty="0"/>
              <a:t>Question</a:t>
            </a:r>
          </a:p>
        </p:txBody>
      </p:sp>
      <p:sp>
        <p:nvSpPr>
          <p:cNvPr id="3" name="Content Placeholder 2">
            <a:extLst>
              <a:ext uri="{FF2B5EF4-FFF2-40B4-BE49-F238E27FC236}">
                <a16:creationId xmlns:a16="http://schemas.microsoft.com/office/drawing/2014/main" id="{AF1CA013-D4BB-36A5-5027-22D8B4D69CFE}"/>
              </a:ext>
            </a:extLst>
          </p:cNvPr>
          <p:cNvSpPr>
            <a:spLocks noGrp="1"/>
          </p:cNvSpPr>
          <p:nvPr>
            <p:ph sz="half" idx="2"/>
          </p:nvPr>
        </p:nvSpPr>
        <p:spPr>
          <a:xfrm>
            <a:off x="3810000" y="1825624"/>
            <a:ext cx="8199120" cy="4537849"/>
          </a:xfrm>
        </p:spPr>
        <p:txBody>
          <a:bodyPr>
            <a:normAutofit/>
          </a:bodyPr>
          <a:lstStyle/>
          <a:p>
            <a:pPr marL="0" indent="0" algn="ctr">
              <a:buNone/>
            </a:pPr>
            <a:r>
              <a:rPr lang="en-GB" dirty="0"/>
              <a:t>Political behaviour</a:t>
            </a:r>
          </a:p>
          <a:p>
            <a:pPr marL="0" indent="0" algn="ctr">
              <a:buNone/>
            </a:pPr>
            <a:r>
              <a:rPr lang="en-GB" dirty="0">
                <a:sym typeface="Wingdings" panose="05000000000000000000" pitchFamily="2" charset="2"/>
              </a:rPr>
              <a:t></a:t>
            </a:r>
          </a:p>
          <a:p>
            <a:pPr marL="0" indent="0" algn="ctr">
              <a:buNone/>
            </a:pPr>
            <a:r>
              <a:rPr lang="en-GB" dirty="0"/>
              <a:t>Elections</a:t>
            </a:r>
          </a:p>
          <a:p>
            <a:pPr marL="0" indent="0" algn="ctr">
              <a:buNone/>
            </a:pPr>
            <a:r>
              <a:rPr lang="en-GB" dirty="0">
                <a:sym typeface="Wingdings" panose="05000000000000000000" pitchFamily="2" charset="2"/>
              </a:rPr>
              <a:t></a:t>
            </a:r>
            <a:endParaRPr lang="en-GB" dirty="0"/>
          </a:p>
          <a:p>
            <a:pPr marL="0" indent="0" algn="ctr">
              <a:buNone/>
            </a:pPr>
            <a:r>
              <a:rPr lang="en-GB" dirty="0"/>
              <a:t>Is legally requiring citizens to vote anti-democratic?</a:t>
            </a:r>
          </a:p>
          <a:p>
            <a:endParaRPr lang="en-GB" dirty="0"/>
          </a:p>
        </p:txBody>
      </p:sp>
      <p:sp>
        <p:nvSpPr>
          <p:cNvPr id="5" name="Slide Number Placeholder 4">
            <a:extLst>
              <a:ext uri="{FF2B5EF4-FFF2-40B4-BE49-F238E27FC236}">
                <a16:creationId xmlns:a16="http://schemas.microsoft.com/office/drawing/2014/main" id="{3471A97A-0169-8B8F-C657-F569C79E9962}"/>
              </a:ext>
            </a:extLst>
          </p:cNvPr>
          <p:cNvSpPr>
            <a:spLocks noGrp="1"/>
          </p:cNvSpPr>
          <p:nvPr>
            <p:ph type="sldNum" sz="quarter" idx="12"/>
          </p:nvPr>
        </p:nvSpPr>
        <p:spPr/>
        <p:txBody>
          <a:bodyPr/>
          <a:lstStyle/>
          <a:p>
            <a:fld id="{372769DB-CAE7-4C85-A9AF-7D4D8DE4CA22}" type="slidenum">
              <a:rPr lang="en-GB" smtClean="0"/>
              <a:t>17</a:t>
            </a:fld>
            <a:endParaRPr lang="en-GB" dirty="0"/>
          </a:p>
        </p:txBody>
      </p:sp>
      <p:sp>
        <p:nvSpPr>
          <p:cNvPr id="6" name="Title 5">
            <a:extLst>
              <a:ext uri="{FF2B5EF4-FFF2-40B4-BE49-F238E27FC236}">
                <a16:creationId xmlns:a16="http://schemas.microsoft.com/office/drawing/2014/main" id="{EC6FE6B9-2D26-64A1-F4C5-7C7FDD36A117}"/>
              </a:ext>
            </a:extLst>
          </p:cNvPr>
          <p:cNvSpPr>
            <a:spLocks noGrp="1"/>
          </p:cNvSpPr>
          <p:nvPr>
            <p:ph type="title"/>
          </p:nvPr>
        </p:nvSpPr>
        <p:spPr/>
        <p:txBody>
          <a:bodyPr/>
          <a:lstStyle/>
          <a:p>
            <a:r>
              <a:rPr lang="en-GB" sz="5400" dirty="0"/>
              <a:t>Coming up with research questions</a:t>
            </a:r>
          </a:p>
        </p:txBody>
      </p:sp>
    </p:spTree>
    <p:extLst>
      <p:ext uri="{BB962C8B-B14F-4D97-AF65-F5344CB8AC3E}">
        <p14:creationId xmlns:p14="http://schemas.microsoft.com/office/powerpoint/2010/main" val="3856365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70A1A-DAD5-D8F9-8253-CBF2FF22F4A1}"/>
              </a:ext>
            </a:extLst>
          </p:cNvPr>
          <p:cNvSpPr>
            <a:spLocks noGrp="1"/>
          </p:cNvSpPr>
          <p:nvPr>
            <p:ph type="title"/>
          </p:nvPr>
        </p:nvSpPr>
        <p:spPr/>
        <p:txBody>
          <a:bodyPr/>
          <a:lstStyle/>
          <a:p>
            <a:r>
              <a:rPr lang="en-US" dirty="0"/>
              <a:t>Discussion question</a:t>
            </a:r>
            <a:endParaRPr lang="en-GB" dirty="0"/>
          </a:p>
        </p:txBody>
      </p:sp>
      <p:sp>
        <p:nvSpPr>
          <p:cNvPr id="3" name="Content Placeholder 2">
            <a:extLst>
              <a:ext uri="{FF2B5EF4-FFF2-40B4-BE49-F238E27FC236}">
                <a16:creationId xmlns:a16="http://schemas.microsoft.com/office/drawing/2014/main" id="{F138C100-4561-73F2-301B-A8C04EBACC3B}"/>
              </a:ext>
            </a:extLst>
          </p:cNvPr>
          <p:cNvSpPr>
            <a:spLocks noGrp="1"/>
          </p:cNvSpPr>
          <p:nvPr>
            <p:ph idx="1"/>
          </p:nvPr>
        </p:nvSpPr>
        <p:spPr>
          <a:xfrm>
            <a:off x="506027" y="1825625"/>
            <a:ext cx="11361717" cy="4729287"/>
          </a:xfrm>
        </p:spPr>
        <p:txBody>
          <a:bodyPr>
            <a:normAutofit fontScale="92500"/>
          </a:bodyPr>
          <a:lstStyle/>
          <a:p>
            <a:pPr marL="0" indent="0">
              <a:buNone/>
            </a:pPr>
            <a:r>
              <a:rPr lang="en-GB" dirty="0"/>
              <a:t>What type of research question are these?</a:t>
            </a:r>
          </a:p>
          <a:p>
            <a:pPr marL="0" indent="0">
              <a:buNone/>
            </a:pPr>
            <a:endParaRPr lang="en-GB" dirty="0"/>
          </a:p>
          <a:p>
            <a:pPr marL="742950" indent="-742950">
              <a:buFont typeface="+mj-lt"/>
              <a:buAutoNum type="arabicPeriod"/>
            </a:pPr>
            <a:r>
              <a:rPr lang="en-GB" dirty="0"/>
              <a:t>Does the strength of rebel groups influence levels of violence against civilians during civil wars?</a:t>
            </a:r>
          </a:p>
          <a:p>
            <a:pPr marL="742950" indent="-742950">
              <a:buFont typeface="+mj-lt"/>
              <a:buAutoNum type="arabicPeriod"/>
            </a:pPr>
            <a:r>
              <a:rPr lang="en-GB" dirty="0"/>
              <a:t>Why do people trust or distrust politicians?</a:t>
            </a:r>
          </a:p>
          <a:p>
            <a:pPr marL="742950" indent="-742950">
              <a:buFont typeface="+mj-lt"/>
              <a:buAutoNum type="arabicPeriod"/>
            </a:pPr>
            <a:r>
              <a:rPr lang="en-GB" dirty="0"/>
              <a:t>Is legally requiring citizens to vote anti-democratic?</a:t>
            </a:r>
          </a:p>
          <a:p>
            <a:pPr marL="0" indent="0">
              <a:buNone/>
            </a:pPr>
            <a:endParaRPr lang="en-GB" sz="2600" dirty="0"/>
          </a:p>
          <a:p>
            <a:pPr marL="0" indent="0" algn="ctr">
              <a:buNone/>
            </a:pPr>
            <a:r>
              <a:rPr lang="en-GB" sz="2600" dirty="0"/>
              <a:t>(Descriptive, explanatory, predictive, prescriptive, normative)</a:t>
            </a:r>
          </a:p>
          <a:p>
            <a:pPr marL="0" indent="0">
              <a:buNone/>
            </a:pPr>
            <a:endParaRPr lang="en-GB" dirty="0"/>
          </a:p>
          <a:p>
            <a:endParaRPr lang="en-GB" dirty="0"/>
          </a:p>
        </p:txBody>
      </p:sp>
      <p:sp>
        <p:nvSpPr>
          <p:cNvPr id="5" name="Slide Number Placeholder 4">
            <a:extLst>
              <a:ext uri="{FF2B5EF4-FFF2-40B4-BE49-F238E27FC236}">
                <a16:creationId xmlns:a16="http://schemas.microsoft.com/office/drawing/2014/main" id="{714D0ADD-CBAC-8028-8833-13C9DB82CF76}"/>
              </a:ext>
            </a:extLst>
          </p:cNvPr>
          <p:cNvSpPr>
            <a:spLocks noGrp="1"/>
          </p:cNvSpPr>
          <p:nvPr>
            <p:ph type="sldNum" sz="quarter" idx="12"/>
          </p:nvPr>
        </p:nvSpPr>
        <p:spPr/>
        <p:txBody>
          <a:bodyPr/>
          <a:lstStyle/>
          <a:p>
            <a:fld id="{372769DB-CAE7-4C85-A9AF-7D4D8DE4CA22}" type="slidenum">
              <a:rPr lang="en-GB" smtClean="0"/>
              <a:t>18</a:t>
            </a:fld>
            <a:endParaRPr lang="en-GB" dirty="0"/>
          </a:p>
        </p:txBody>
      </p:sp>
    </p:spTree>
    <p:extLst>
      <p:ext uri="{BB962C8B-B14F-4D97-AF65-F5344CB8AC3E}">
        <p14:creationId xmlns:p14="http://schemas.microsoft.com/office/powerpoint/2010/main" val="3791854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622D-2EC8-2A37-672A-06BBDF1F0AE8}"/>
              </a:ext>
            </a:extLst>
          </p:cNvPr>
          <p:cNvSpPr>
            <a:spLocks noGrp="1"/>
          </p:cNvSpPr>
          <p:nvPr>
            <p:ph type="title"/>
          </p:nvPr>
        </p:nvSpPr>
        <p:spPr/>
        <p:txBody>
          <a:bodyPr>
            <a:normAutofit/>
          </a:bodyPr>
          <a:lstStyle/>
          <a:p>
            <a:r>
              <a:rPr lang="en-GB" dirty="0"/>
              <a:t>What makes a good question?</a:t>
            </a:r>
          </a:p>
        </p:txBody>
      </p:sp>
      <p:sp>
        <p:nvSpPr>
          <p:cNvPr id="3" name="Content Placeholder 2">
            <a:extLst>
              <a:ext uri="{FF2B5EF4-FFF2-40B4-BE49-F238E27FC236}">
                <a16:creationId xmlns:a16="http://schemas.microsoft.com/office/drawing/2014/main" id="{D09B2368-6F65-7B72-819C-166A59540D90}"/>
              </a:ext>
            </a:extLst>
          </p:cNvPr>
          <p:cNvSpPr>
            <a:spLocks noGrp="1"/>
          </p:cNvSpPr>
          <p:nvPr>
            <p:ph idx="1"/>
          </p:nvPr>
        </p:nvSpPr>
        <p:spPr>
          <a:xfrm>
            <a:off x="838200" y="1433864"/>
            <a:ext cx="10515600" cy="4929610"/>
          </a:xfrm>
        </p:spPr>
        <p:txBody>
          <a:bodyPr>
            <a:normAutofit lnSpcReduction="10000"/>
          </a:bodyPr>
          <a:lstStyle/>
          <a:p>
            <a:pPr>
              <a:lnSpc>
                <a:spcPct val="100000"/>
              </a:lnSpc>
            </a:pPr>
            <a:r>
              <a:rPr lang="en-GB" dirty="0">
                <a:solidFill>
                  <a:srgbClr val="F48914"/>
                </a:solidFill>
              </a:rPr>
              <a:t>Relevance</a:t>
            </a:r>
          </a:p>
          <a:p>
            <a:pPr lvl="1">
              <a:lnSpc>
                <a:spcPct val="100000"/>
              </a:lnSpc>
            </a:pPr>
            <a:r>
              <a:rPr lang="en-GB" dirty="0"/>
              <a:t>Who cares? Societal, academic relevance</a:t>
            </a:r>
          </a:p>
          <a:p>
            <a:pPr>
              <a:lnSpc>
                <a:spcPct val="100000"/>
              </a:lnSpc>
            </a:pPr>
            <a:r>
              <a:rPr lang="en-GB" dirty="0">
                <a:solidFill>
                  <a:srgbClr val="F48914"/>
                </a:solidFill>
              </a:rPr>
              <a:t>Clarity</a:t>
            </a:r>
          </a:p>
          <a:p>
            <a:pPr lvl="1">
              <a:lnSpc>
                <a:spcPct val="100000"/>
              </a:lnSpc>
            </a:pPr>
            <a:r>
              <a:rPr lang="en-GB" dirty="0"/>
              <a:t>Is the question easily understood and well defined?</a:t>
            </a:r>
          </a:p>
          <a:p>
            <a:pPr>
              <a:lnSpc>
                <a:spcPct val="100000"/>
              </a:lnSpc>
            </a:pPr>
            <a:r>
              <a:rPr lang="en-GB" dirty="0">
                <a:solidFill>
                  <a:srgbClr val="F48914"/>
                </a:solidFill>
              </a:rPr>
              <a:t>Scope</a:t>
            </a:r>
          </a:p>
          <a:p>
            <a:pPr lvl="1">
              <a:lnSpc>
                <a:spcPct val="100000"/>
              </a:lnSpc>
            </a:pPr>
            <a:r>
              <a:rPr lang="en-GB" dirty="0"/>
              <a:t>Is the question too narrow, or too broad?</a:t>
            </a:r>
          </a:p>
          <a:p>
            <a:pPr>
              <a:lnSpc>
                <a:spcPct val="100000"/>
              </a:lnSpc>
            </a:pPr>
            <a:r>
              <a:rPr lang="en-GB" dirty="0">
                <a:solidFill>
                  <a:srgbClr val="F48914"/>
                </a:solidFill>
              </a:rPr>
              <a:t>Feasibility</a:t>
            </a:r>
          </a:p>
          <a:p>
            <a:pPr lvl="1">
              <a:lnSpc>
                <a:spcPct val="100000"/>
              </a:lnSpc>
            </a:pPr>
            <a:r>
              <a:rPr lang="en-GB" dirty="0"/>
              <a:t>Is the question answerable? Time, skills, resources</a:t>
            </a:r>
          </a:p>
        </p:txBody>
      </p:sp>
      <p:sp>
        <p:nvSpPr>
          <p:cNvPr id="5" name="Slide Number Placeholder 4">
            <a:extLst>
              <a:ext uri="{FF2B5EF4-FFF2-40B4-BE49-F238E27FC236}">
                <a16:creationId xmlns:a16="http://schemas.microsoft.com/office/drawing/2014/main" id="{8089DBF5-7C1A-8A20-EAE3-399041E6DB53}"/>
              </a:ext>
            </a:extLst>
          </p:cNvPr>
          <p:cNvSpPr>
            <a:spLocks noGrp="1"/>
          </p:cNvSpPr>
          <p:nvPr>
            <p:ph type="sldNum" sz="quarter" idx="12"/>
          </p:nvPr>
        </p:nvSpPr>
        <p:spPr/>
        <p:txBody>
          <a:bodyPr/>
          <a:lstStyle/>
          <a:p>
            <a:fld id="{372769DB-CAE7-4C85-A9AF-7D4D8DE4CA22}" type="slidenum">
              <a:rPr lang="en-GB" smtClean="0"/>
              <a:t>19</a:t>
            </a:fld>
            <a:endParaRPr lang="en-GB" dirty="0"/>
          </a:p>
        </p:txBody>
      </p:sp>
    </p:spTree>
    <p:extLst>
      <p:ext uri="{BB962C8B-B14F-4D97-AF65-F5344CB8AC3E}">
        <p14:creationId xmlns:p14="http://schemas.microsoft.com/office/powerpoint/2010/main" val="702692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622D-2EC8-2A37-672A-06BBDF1F0AE8}"/>
              </a:ext>
            </a:extLst>
          </p:cNvPr>
          <p:cNvSpPr>
            <a:spLocks noGrp="1"/>
          </p:cNvSpPr>
          <p:nvPr>
            <p:ph type="title"/>
          </p:nvPr>
        </p:nvSpPr>
        <p:spPr/>
        <p:txBody>
          <a:bodyPr/>
          <a:lstStyle/>
          <a:p>
            <a:r>
              <a:rPr lang="en-GB" dirty="0"/>
              <a:t>Identifying research questions</a:t>
            </a:r>
          </a:p>
        </p:txBody>
      </p:sp>
      <p:sp>
        <p:nvSpPr>
          <p:cNvPr id="3" name="Content Placeholder 2">
            <a:extLst>
              <a:ext uri="{FF2B5EF4-FFF2-40B4-BE49-F238E27FC236}">
                <a16:creationId xmlns:a16="http://schemas.microsoft.com/office/drawing/2014/main" id="{D09B2368-6F65-7B72-819C-166A59540D90}"/>
              </a:ext>
            </a:extLst>
          </p:cNvPr>
          <p:cNvSpPr>
            <a:spLocks noGrp="1"/>
          </p:cNvSpPr>
          <p:nvPr>
            <p:ph idx="1"/>
          </p:nvPr>
        </p:nvSpPr>
        <p:spPr>
          <a:xfrm>
            <a:off x="640944" y="1599997"/>
            <a:ext cx="11226801" cy="5128602"/>
          </a:xfrm>
        </p:spPr>
        <p:txBody>
          <a:bodyPr>
            <a:normAutofit fontScale="70000" lnSpcReduction="20000"/>
          </a:bodyPr>
          <a:lstStyle/>
          <a:p>
            <a:pPr marL="0" indent="0">
              <a:buNone/>
            </a:pPr>
            <a:r>
              <a:rPr lang="en-GB" sz="5100" dirty="0"/>
              <a:t>What do research questions look like in academic articles?</a:t>
            </a:r>
          </a:p>
          <a:p>
            <a:pPr marL="0" indent="0">
              <a:buNone/>
            </a:pPr>
            <a:endParaRPr lang="en-GB" sz="5100" dirty="0"/>
          </a:p>
          <a:p>
            <a:r>
              <a:rPr lang="en-GB" sz="5100" dirty="0"/>
              <a:t>Good places to look</a:t>
            </a:r>
          </a:p>
          <a:p>
            <a:pPr lvl="1"/>
            <a:r>
              <a:rPr lang="en-GB" sz="5100" dirty="0"/>
              <a:t>Title, abstract, introduction</a:t>
            </a:r>
          </a:p>
          <a:p>
            <a:endParaRPr lang="en-GB" sz="5100" dirty="0"/>
          </a:p>
          <a:p>
            <a:r>
              <a:rPr lang="en-GB" sz="5100" dirty="0"/>
              <a:t>Can be stated explicitly</a:t>
            </a:r>
          </a:p>
          <a:p>
            <a:pPr lvl="1"/>
            <a:r>
              <a:rPr lang="en-GB" sz="5100" dirty="0"/>
              <a:t>‘Our first research question is. . .’</a:t>
            </a:r>
          </a:p>
          <a:p>
            <a:pPr lvl="1"/>
            <a:endParaRPr lang="en-GB" sz="5100" dirty="0"/>
          </a:p>
          <a:p>
            <a:r>
              <a:rPr lang="en-GB" sz="5100" dirty="0"/>
              <a:t>Or can be more difficult to find</a:t>
            </a:r>
          </a:p>
          <a:p>
            <a:pPr lvl="1"/>
            <a:endParaRPr lang="en-GB" sz="2700" dirty="0"/>
          </a:p>
        </p:txBody>
      </p:sp>
      <p:sp>
        <p:nvSpPr>
          <p:cNvPr id="5" name="Slide Number Placeholder 4">
            <a:extLst>
              <a:ext uri="{FF2B5EF4-FFF2-40B4-BE49-F238E27FC236}">
                <a16:creationId xmlns:a16="http://schemas.microsoft.com/office/drawing/2014/main" id="{8089DBF5-7C1A-8A20-EAE3-399041E6DB53}"/>
              </a:ext>
            </a:extLst>
          </p:cNvPr>
          <p:cNvSpPr>
            <a:spLocks noGrp="1"/>
          </p:cNvSpPr>
          <p:nvPr>
            <p:ph type="sldNum" sz="quarter" idx="12"/>
          </p:nvPr>
        </p:nvSpPr>
        <p:spPr/>
        <p:txBody>
          <a:bodyPr/>
          <a:lstStyle/>
          <a:p>
            <a:fld id="{372769DB-CAE7-4C85-A9AF-7D4D8DE4CA22}" type="slidenum">
              <a:rPr lang="en-GB" smtClean="0"/>
              <a:t>20</a:t>
            </a:fld>
            <a:endParaRPr lang="en-GB" dirty="0"/>
          </a:p>
        </p:txBody>
      </p:sp>
    </p:spTree>
    <p:extLst>
      <p:ext uri="{BB962C8B-B14F-4D97-AF65-F5344CB8AC3E}">
        <p14:creationId xmlns:p14="http://schemas.microsoft.com/office/powerpoint/2010/main" val="1086132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622D-2EC8-2A37-672A-06BBDF1F0AE8}"/>
              </a:ext>
            </a:extLst>
          </p:cNvPr>
          <p:cNvSpPr>
            <a:spLocks noGrp="1"/>
          </p:cNvSpPr>
          <p:nvPr>
            <p:ph type="title"/>
          </p:nvPr>
        </p:nvSpPr>
        <p:spPr/>
        <p:txBody>
          <a:bodyPr>
            <a:noAutofit/>
          </a:bodyPr>
          <a:lstStyle/>
          <a:p>
            <a:r>
              <a:rPr lang="en-US" sz="3600" dirty="0"/>
              <a:t>Understanding unequal turnout: Education and voting </a:t>
            </a:r>
            <a:br>
              <a:rPr lang="en-US" sz="3600" dirty="0"/>
            </a:br>
            <a:r>
              <a:rPr lang="en-US" sz="3600" dirty="0"/>
              <a:t>in comparative perspective</a:t>
            </a:r>
            <a:endParaRPr lang="en-GB" sz="3600" dirty="0"/>
          </a:p>
        </p:txBody>
      </p:sp>
      <p:sp>
        <p:nvSpPr>
          <p:cNvPr id="3" name="Content Placeholder 2">
            <a:extLst>
              <a:ext uri="{FF2B5EF4-FFF2-40B4-BE49-F238E27FC236}">
                <a16:creationId xmlns:a16="http://schemas.microsoft.com/office/drawing/2014/main" id="{D09B2368-6F65-7B72-819C-166A59540D90}"/>
              </a:ext>
            </a:extLst>
          </p:cNvPr>
          <p:cNvSpPr>
            <a:spLocks noGrp="1"/>
          </p:cNvSpPr>
          <p:nvPr>
            <p:ph idx="1"/>
          </p:nvPr>
        </p:nvSpPr>
        <p:spPr>
          <a:xfrm>
            <a:off x="838199" y="1467407"/>
            <a:ext cx="10898172" cy="4735430"/>
          </a:xfrm>
        </p:spPr>
        <p:txBody>
          <a:bodyPr>
            <a:normAutofit fontScale="92500"/>
          </a:bodyPr>
          <a:lstStyle/>
          <a:p>
            <a:pPr marL="0" indent="0">
              <a:buNone/>
            </a:pPr>
            <a:r>
              <a:rPr lang="en-GB" dirty="0"/>
              <a:t>‘This paper contributes to the knowledge on unequal turnout by assessing current levels of unequal participation due to education in advanced industrial democracies and by proposing and testing explanations of turnout inequality. Why is voter turnout more unequal in some countries than in others? The first section presents two different theories predicting different levels of unequal turnout across countries’</a:t>
            </a:r>
          </a:p>
          <a:p>
            <a:pPr marL="0" indent="0" algn="r">
              <a:buNone/>
            </a:pPr>
            <a:r>
              <a:rPr lang="en-GB" sz="3500" dirty="0"/>
              <a:t>Gallego (2010: 240)</a:t>
            </a:r>
          </a:p>
        </p:txBody>
      </p:sp>
      <p:sp>
        <p:nvSpPr>
          <p:cNvPr id="5" name="Slide Number Placeholder 4">
            <a:extLst>
              <a:ext uri="{FF2B5EF4-FFF2-40B4-BE49-F238E27FC236}">
                <a16:creationId xmlns:a16="http://schemas.microsoft.com/office/drawing/2014/main" id="{8089DBF5-7C1A-8A20-EAE3-399041E6DB53}"/>
              </a:ext>
            </a:extLst>
          </p:cNvPr>
          <p:cNvSpPr>
            <a:spLocks noGrp="1"/>
          </p:cNvSpPr>
          <p:nvPr>
            <p:ph type="sldNum" sz="quarter" idx="12"/>
          </p:nvPr>
        </p:nvSpPr>
        <p:spPr/>
        <p:txBody>
          <a:bodyPr/>
          <a:lstStyle/>
          <a:p>
            <a:fld id="{372769DB-CAE7-4C85-A9AF-7D4D8DE4CA22}" type="slidenum">
              <a:rPr lang="en-GB" smtClean="0"/>
              <a:t>21</a:t>
            </a:fld>
            <a:endParaRPr lang="en-GB" dirty="0"/>
          </a:p>
        </p:txBody>
      </p:sp>
    </p:spTree>
    <p:extLst>
      <p:ext uri="{BB962C8B-B14F-4D97-AF65-F5344CB8AC3E}">
        <p14:creationId xmlns:p14="http://schemas.microsoft.com/office/powerpoint/2010/main" val="35900943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F11B4-454A-0564-1F46-510F0EE12B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E21DE-B9F5-8ECA-6E2C-4A143CD25041}"/>
              </a:ext>
            </a:extLst>
          </p:cNvPr>
          <p:cNvSpPr>
            <a:spLocks noGrp="1"/>
          </p:cNvSpPr>
          <p:nvPr>
            <p:ph type="title"/>
          </p:nvPr>
        </p:nvSpPr>
        <p:spPr/>
        <p:txBody>
          <a:bodyPr>
            <a:noAutofit/>
          </a:bodyPr>
          <a:lstStyle/>
          <a:p>
            <a:r>
              <a:rPr lang="en-US" sz="3600" dirty="0"/>
              <a:t>Disability and political representation: </a:t>
            </a:r>
            <a:r>
              <a:rPr lang="en-US" sz="3600" dirty="0" err="1"/>
              <a:t>Analysing</a:t>
            </a:r>
            <a:r>
              <a:rPr lang="en-US" sz="3600" dirty="0"/>
              <a:t> the obstacles to elected office in the UK</a:t>
            </a:r>
            <a:endParaRPr lang="en-GB" sz="3600" dirty="0"/>
          </a:p>
        </p:txBody>
      </p:sp>
      <p:sp>
        <p:nvSpPr>
          <p:cNvPr id="3" name="Content Placeholder 2">
            <a:extLst>
              <a:ext uri="{FF2B5EF4-FFF2-40B4-BE49-F238E27FC236}">
                <a16:creationId xmlns:a16="http://schemas.microsoft.com/office/drawing/2014/main" id="{5914FE82-3B08-3BBD-05DA-0B8739F1D971}"/>
              </a:ext>
            </a:extLst>
          </p:cNvPr>
          <p:cNvSpPr>
            <a:spLocks noGrp="1"/>
          </p:cNvSpPr>
          <p:nvPr>
            <p:ph idx="1"/>
          </p:nvPr>
        </p:nvSpPr>
        <p:spPr>
          <a:xfrm>
            <a:off x="838199" y="1467407"/>
            <a:ext cx="10898172" cy="4735430"/>
          </a:xfrm>
        </p:spPr>
        <p:txBody>
          <a:bodyPr>
            <a:noAutofit/>
          </a:bodyPr>
          <a:lstStyle/>
          <a:p>
            <a:pPr marL="0" indent="0">
              <a:buNone/>
            </a:pPr>
            <a:r>
              <a:rPr lang="en-US" sz="3600" dirty="0"/>
              <a:t>‘Around one-sixth of the European population have a disability, yet there are few self-declared disabled politicians. Despite scholarly and political interest in the under-representation of various social groups, little attention has been paid to disabled people. This article identifies and analyses the barriers to elected office faced by disabled people by drawing upon interviews with 51 candidates and elected politicians in the United Kingdom’</a:t>
            </a:r>
          </a:p>
          <a:p>
            <a:pPr marL="0" indent="0" algn="r">
              <a:buNone/>
            </a:pPr>
            <a:r>
              <a:rPr lang="en-US" sz="3600" dirty="0"/>
              <a:t>Evans &amp; </a:t>
            </a:r>
            <a:r>
              <a:rPr lang="en-US" sz="3600" dirty="0" err="1"/>
              <a:t>Reher</a:t>
            </a:r>
            <a:r>
              <a:rPr lang="en-US" sz="3600" dirty="0"/>
              <a:t> (2022: 697)</a:t>
            </a:r>
            <a:endParaRPr lang="en-GB" sz="3600" dirty="0"/>
          </a:p>
        </p:txBody>
      </p:sp>
      <p:sp>
        <p:nvSpPr>
          <p:cNvPr id="5" name="Slide Number Placeholder 4">
            <a:extLst>
              <a:ext uri="{FF2B5EF4-FFF2-40B4-BE49-F238E27FC236}">
                <a16:creationId xmlns:a16="http://schemas.microsoft.com/office/drawing/2014/main" id="{E824B0FF-E23F-417A-DF67-7AA207827FF6}"/>
              </a:ext>
            </a:extLst>
          </p:cNvPr>
          <p:cNvSpPr>
            <a:spLocks noGrp="1"/>
          </p:cNvSpPr>
          <p:nvPr>
            <p:ph type="sldNum" sz="quarter" idx="12"/>
          </p:nvPr>
        </p:nvSpPr>
        <p:spPr/>
        <p:txBody>
          <a:bodyPr/>
          <a:lstStyle/>
          <a:p>
            <a:fld id="{372769DB-CAE7-4C85-A9AF-7D4D8DE4CA22}" type="slidenum">
              <a:rPr lang="en-GB" smtClean="0"/>
              <a:t>22</a:t>
            </a:fld>
            <a:endParaRPr lang="en-GB" dirty="0"/>
          </a:p>
        </p:txBody>
      </p:sp>
    </p:spTree>
    <p:extLst>
      <p:ext uri="{BB962C8B-B14F-4D97-AF65-F5344CB8AC3E}">
        <p14:creationId xmlns:p14="http://schemas.microsoft.com/office/powerpoint/2010/main" val="601797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8B975-0C5A-49F9-0DCE-1B0B3B6C5B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09C1AA-E51A-272E-F8F0-87347CF420CD}"/>
              </a:ext>
            </a:extLst>
          </p:cNvPr>
          <p:cNvSpPr>
            <a:spLocks noGrp="1"/>
          </p:cNvSpPr>
          <p:nvPr>
            <p:ph type="title"/>
          </p:nvPr>
        </p:nvSpPr>
        <p:spPr/>
        <p:txBody>
          <a:bodyPr/>
          <a:lstStyle/>
          <a:p>
            <a:r>
              <a:rPr lang="en-GB" dirty="0"/>
              <a:t>Identifying research questions</a:t>
            </a:r>
          </a:p>
        </p:txBody>
      </p:sp>
      <p:sp>
        <p:nvSpPr>
          <p:cNvPr id="5" name="Slide Number Placeholder 4">
            <a:extLst>
              <a:ext uri="{FF2B5EF4-FFF2-40B4-BE49-F238E27FC236}">
                <a16:creationId xmlns:a16="http://schemas.microsoft.com/office/drawing/2014/main" id="{BCE286D2-DF92-C18F-3B12-576CFBD57A1C}"/>
              </a:ext>
            </a:extLst>
          </p:cNvPr>
          <p:cNvSpPr>
            <a:spLocks noGrp="1"/>
          </p:cNvSpPr>
          <p:nvPr>
            <p:ph type="sldNum" sz="quarter" idx="12"/>
          </p:nvPr>
        </p:nvSpPr>
        <p:spPr/>
        <p:txBody>
          <a:bodyPr/>
          <a:lstStyle/>
          <a:p>
            <a:fld id="{372769DB-CAE7-4C85-A9AF-7D4D8DE4CA22}" type="slidenum">
              <a:rPr lang="en-GB" smtClean="0"/>
              <a:t>23</a:t>
            </a:fld>
            <a:endParaRPr lang="en-GB" dirty="0"/>
          </a:p>
        </p:txBody>
      </p:sp>
      <p:sp>
        <p:nvSpPr>
          <p:cNvPr id="7" name="Content Placeholder 6">
            <a:extLst>
              <a:ext uri="{FF2B5EF4-FFF2-40B4-BE49-F238E27FC236}">
                <a16:creationId xmlns:a16="http://schemas.microsoft.com/office/drawing/2014/main" id="{77EE276C-0C89-060F-3B7A-8ED2624EC2AC}"/>
              </a:ext>
            </a:extLst>
          </p:cNvPr>
          <p:cNvSpPr>
            <a:spLocks noGrp="1"/>
          </p:cNvSpPr>
          <p:nvPr>
            <p:ph idx="1"/>
          </p:nvPr>
        </p:nvSpPr>
        <p:spPr/>
        <p:txBody>
          <a:bodyPr>
            <a:normAutofit lnSpcReduction="10000"/>
          </a:bodyPr>
          <a:lstStyle/>
          <a:p>
            <a:pPr marL="742950" indent="-742950">
              <a:buFont typeface="+mj-lt"/>
              <a:buAutoNum type="arabicPeriod"/>
            </a:pPr>
            <a:endParaRPr lang="en-US" dirty="0">
              <a:solidFill>
                <a:srgbClr val="376795"/>
              </a:solidFill>
            </a:endParaRPr>
          </a:p>
          <a:p>
            <a:pPr marL="742950" indent="-742950">
              <a:buFont typeface="+mj-lt"/>
              <a:buAutoNum type="arabicPeriod"/>
            </a:pPr>
            <a:r>
              <a:rPr lang="en-GB" dirty="0">
                <a:solidFill>
                  <a:srgbClr val="376795"/>
                </a:solidFill>
              </a:rPr>
              <a:t>Why is voter turnout more unequal in some countries than in others?</a:t>
            </a:r>
          </a:p>
          <a:p>
            <a:pPr marL="742950" indent="-742950">
              <a:buFont typeface="+mj-lt"/>
              <a:buAutoNum type="arabicPeriod"/>
            </a:pPr>
            <a:r>
              <a:rPr lang="en-US" dirty="0">
                <a:solidFill>
                  <a:srgbClr val="376795"/>
                </a:solidFill>
              </a:rPr>
              <a:t>What are the main barriers to elected office faced by disabled people in the UK?</a:t>
            </a:r>
          </a:p>
          <a:p>
            <a:pPr marL="742950" indent="-742950">
              <a:buFont typeface="+mj-lt"/>
              <a:buAutoNum type="arabicPeriod"/>
            </a:pPr>
            <a:endParaRPr lang="en-US" dirty="0"/>
          </a:p>
          <a:p>
            <a:pPr marL="0" indent="0">
              <a:buNone/>
            </a:pPr>
            <a:r>
              <a:rPr lang="en-GB" dirty="0"/>
              <a:t>What type of research questions are these?</a:t>
            </a:r>
          </a:p>
          <a:p>
            <a:pPr marL="0" indent="0">
              <a:buNone/>
            </a:pPr>
            <a:endParaRPr lang="en-GB" dirty="0"/>
          </a:p>
        </p:txBody>
      </p:sp>
    </p:spTree>
    <p:extLst>
      <p:ext uri="{BB962C8B-B14F-4D97-AF65-F5344CB8AC3E}">
        <p14:creationId xmlns:p14="http://schemas.microsoft.com/office/powerpoint/2010/main" val="2344882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D2C83-F42C-CC12-0A86-78FE9510EF48}"/>
              </a:ext>
            </a:extLst>
          </p:cNvPr>
          <p:cNvSpPr>
            <a:spLocks noGrp="1"/>
          </p:cNvSpPr>
          <p:nvPr>
            <p:ph type="title"/>
          </p:nvPr>
        </p:nvSpPr>
        <p:spPr/>
        <p:txBody>
          <a:bodyPr/>
          <a:lstStyle/>
          <a:p>
            <a:r>
              <a:rPr lang="en-GB" dirty="0"/>
              <a:t>Formative Assessment</a:t>
            </a:r>
          </a:p>
        </p:txBody>
      </p:sp>
      <p:sp>
        <p:nvSpPr>
          <p:cNvPr id="3" name="Content Placeholder 2">
            <a:extLst>
              <a:ext uri="{FF2B5EF4-FFF2-40B4-BE49-F238E27FC236}">
                <a16:creationId xmlns:a16="http://schemas.microsoft.com/office/drawing/2014/main" id="{E8B77379-33AE-1404-99B1-DC2C7EBC8F56}"/>
              </a:ext>
            </a:extLst>
          </p:cNvPr>
          <p:cNvSpPr>
            <a:spLocks noGrp="1"/>
          </p:cNvSpPr>
          <p:nvPr>
            <p:ph idx="1"/>
          </p:nvPr>
        </p:nvSpPr>
        <p:spPr/>
        <p:txBody>
          <a:bodyPr>
            <a:normAutofit fontScale="92500" lnSpcReduction="20000"/>
          </a:bodyPr>
          <a:lstStyle/>
          <a:p>
            <a:r>
              <a:rPr lang="en-GB" dirty="0"/>
              <a:t>Due in week 4, full assessment info on canvas:</a:t>
            </a:r>
          </a:p>
          <a:p>
            <a:endParaRPr lang="en-GB" dirty="0"/>
          </a:p>
          <a:p>
            <a:pPr marL="0" indent="0">
              <a:buNone/>
            </a:pPr>
            <a:r>
              <a:rPr lang="en-GB" b="1" dirty="0">
                <a:solidFill>
                  <a:srgbClr val="F48914"/>
                </a:solidFill>
              </a:rPr>
              <a:t>What do you want to research, and why is it worth researching it? </a:t>
            </a:r>
          </a:p>
          <a:p>
            <a:r>
              <a:rPr lang="en-GB" dirty="0"/>
              <a:t>This section should provide a </a:t>
            </a:r>
            <a:r>
              <a:rPr lang="en-GB" dirty="0">
                <a:solidFill>
                  <a:srgbClr val="0070C0"/>
                </a:solidFill>
              </a:rPr>
              <a:t>brief explanation of the principal research question </a:t>
            </a:r>
            <a:r>
              <a:rPr lang="en-GB" dirty="0"/>
              <a:t>that the project would address. It should indicate the context of your question and explain </a:t>
            </a:r>
            <a:r>
              <a:rPr lang="en-GB" dirty="0">
                <a:solidFill>
                  <a:srgbClr val="0070C0"/>
                </a:solidFill>
              </a:rPr>
              <a:t>why your research question is significant. </a:t>
            </a:r>
          </a:p>
        </p:txBody>
      </p:sp>
      <p:sp>
        <p:nvSpPr>
          <p:cNvPr id="4" name="Slide Number Placeholder 3">
            <a:extLst>
              <a:ext uri="{FF2B5EF4-FFF2-40B4-BE49-F238E27FC236}">
                <a16:creationId xmlns:a16="http://schemas.microsoft.com/office/drawing/2014/main" id="{D1ACF4B2-9159-4BE0-7EF5-18B7F873E9E1}"/>
              </a:ext>
            </a:extLst>
          </p:cNvPr>
          <p:cNvSpPr>
            <a:spLocks noGrp="1"/>
          </p:cNvSpPr>
          <p:nvPr>
            <p:ph type="sldNum" sz="quarter" idx="12"/>
          </p:nvPr>
        </p:nvSpPr>
        <p:spPr/>
        <p:txBody>
          <a:bodyPr/>
          <a:lstStyle/>
          <a:p>
            <a:fld id="{372769DB-CAE7-4C85-A9AF-7D4D8DE4CA22}" type="slidenum">
              <a:rPr lang="en-GB" smtClean="0"/>
              <a:t>24</a:t>
            </a:fld>
            <a:endParaRPr lang="en-GB" dirty="0"/>
          </a:p>
        </p:txBody>
      </p:sp>
    </p:spTree>
    <p:extLst>
      <p:ext uri="{BB962C8B-B14F-4D97-AF65-F5344CB8AC3E}">
        <p14:creationId xmlns:p14="http://schemas.microsoft.com/office/powerpoint/2010/main" val="36341146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223CE-EA35-CB9F-944C-669A2A6903A9}"/>
              </a:ext>
            </a:extLst>
          </p:cNvPr>
          <p:cNvSpPr>
            <a:spLocks noGrp="1"/>
          </p:cNvSpPr>
          <p:nvPr>
            <p:ph type="title"/>
          </p:nvPr>
        </p:nvSpPr>
        <p:spPr/>
        <p:txBody>
          <a:bodyPr/>
          <a:lstStyle/>
          <a:p>
            <a:r>
              <a:rPr lang="en-US" dirty="0"/>
              <a:t>Summary</a:t>
            </a:r>
            <a:endParaRPr lang="en-GB" dirty="0"/>
          </a:p>
        </p:txBody>
      </p:sp>
      <p:sp>
        <p:nvSpPr>
          <p:cNvPr id="3" name="Content Placeholder 2">
            <a:extLst>
              <a:ext uri="{FF2B5EF4-FFF2-40B4-BE49-F238E27FC236}">
                <a16:creationId xmlns:a16="http://schemas.microsoft.com/office/drawing/2014/main" id="{941DEC89-E9C2-201F-9D18-E51B2209A6CD}"/>
              </a:ext>
            </a:extLst>
          </p:cNvPr>
          <p:cNvSpPr>
            <a:spLocks noGrp="1"/>
          </p:cNvSpPr>
          <p:nvPr>
            <p:ph idx="1"/>
          </p:nvPr>
        </p:nvSpPr>
        <p:spPr>
          <a:xfrm>
            <a:off x="838200" y="1825625"/>
            <a:ext cx="11353800" cy="4351338"/>
          </a:xfrm>
        </p:spPr>
        <p:txBody>
          <a:bodyPr>
            <a:normAutofit/>
          </a:bodyPr>
          <a:lstStyle/>
          <a:p>
            <a:r>
              <a:rPr lang="en-US" dirty="0"/>
              <a:t>A research question states what you are trying to find out</a:t>
            </a:r>
          </a:p>
          <a:p>
            <a:r>
              <a:rPr lang="en-US" dirty="0"/>
              <a:t>Frames every other aspect of the research process</a:t>
            </a:r>
          </a:p>
          <a:p>
            <a:pPr lvl="2"/>
            <a:endParaRPr lang="en-GB" dirty="0"/>
          </a:p>
        </p:txBody>
      </p:sp>
      <p:sp>
        <p:nvSpPr>
          <p:cNvPr id="5" name="Slide Number Placeholder 4">
            <a:extLst>
              <a:ext uri="{FF2B5EF4-FFF2-40B4-BE49-F238E27FC236}">
                <a16:creationId xmlns:a16="http://schemas.microsoft.com/office/drawing/2014/main" id="{A0C7B4E8-C66E-CFE8-D86D-FE50564DCB58}"/>
              </a:ext>
            </a:extLst>
          </p:cNvPr>
          <p:cNvSpPr>
            <a:spLocks noGrp="1"/>
          </p:cNvSpPr>
          <p:nvPr>
            <p:ph type="sldNum" sz="quarter" idx="12"/>
          </p:nvPr>
        </p:nvSpPr>
        <p:spPr/>
        <p:txBody>
          <a:bodyPr/>
          <a:lstStyle/>
          <a:p>
            <a:fld id="{372769DB-CAE7-4C85-A9AF-7D4D8DE4CA22}" type="slidenum">
              <a:rPr lang="en-GB" smtClean="0"/>
              <a:t>25</a:t>
            </a:fld>
            <a:endParaRPr lang="en-GB" dirty="0"/>
          </a:p>
        </p:txBody>
      </p:sp>
    </p:spTree>
    <p:extLst>
      <p:ext uri="{BB962C8B-B14F-4D97-AF65-F5344CB8AC3E}">
        <p14:creationId xmlns:p14="http://schemas.microsoft.com/office/powerpoint/2010/main" val="1374620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AA1B9-1E2A-DBFC-34D0-D11C1DF8B5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FA37A9-37E1-0FFA-ECA4-07EB707C4B37}"/>
              </a:ext>
            </a:extLst>
          </p:cNvPr>
          <p:cNvSpPr>
            <a:spLocks noGrp="1"/>
          </p:cNvSpPr>
          <p:nvPr>
            <p:ph type="title"/>
          </p:nvPr>
        </p:nvSpPr>
        <p:spPr/>
        <p:txBody>
          <a:bodyPr/>
          <a:lstStyle/>
          <a:p>
            <a:r>
              <a:rPr lang="en-US" dirty="0"/>
              <a:t>Summary</a:t>
            </a:r>
            <a:endParaRPr lang="en-GB" dirty="0"/>
          </a:p>
        </p:txBody>
      </p:sp>
      <p:sp>
        <p:nvSpPr>
          <p:cNvPr id="3" name="Content Placeholder 2">
            <a:extLst>
              <a:ext uri="{FF2B5EF4-FFF2-40B4-BE49-F238E27FC236}">
                <a16:creationId xmlns:a16="http://schemas.microsoft.com/office/drawing/2014/main" id="{A8A68F4B-8873-5329-D829-E132FA17372C}"/>
              </a:ext>
            </a:extLst>
          </p:cNvPr>
          <p:cNvSpPr>
            <a:spLocks noGrp="1"/>
          </p:cNvSpPr>
          <p:nvPr>
            <p:ph idx="1"/>
          </p:nvPr>
        </p:nvSpPr>
        <p:spPr/>
        <p:txBody>
          <a:bodyPr>
            <a:normAutofit/>
          </a:bodyPr>
          <a:lstStyle/>
          <a:p>
            <a:r>
              <a:rPr lang="en-US" dirty="0"/>
              <a:t>Different types of research question:</a:t>
            </a:r>
          </a:p>
          <a:p>
            <a:pPr marL="457200" lvl="1" indent="0">
              <a:buNone/>
            </a:pPr>
            <a:r>
              <a:rPr lang="en-US" sz="4000" dirty="0"/>
              <a:t>- Descriptive</a:t>
            </a:r>
          </a:p>
          <a:p>
            <a:pPr marL="457200" lvl="1" indent="0">
              <a:buNone/>
            </a:pPr>
            <a:r>
              <a:rPr lang="en-US" sz="4000" dirty="0"/>
              <a:t>- Explanatory</a:t>
            </a:r>
          </a:p>
          <a:p>
            <a:pPr marL="457200" lvl="1" indent="0">
              <a:buNone/>
            </a:pPr>
            <a:r>
              <a:rPr lang="en-US" sz="4000" dirty="0"/>
              <a:t>- Predictive</a:t>
            </a:r>
          </a:p>
          <a:p>
            <a:pPr marL="457200" lvl="1" indent="0">
              <a:buNone/>
            </a:pPr>
            <a:r>
              <a:rPr lang="en-US" sz="4000" dirty="0"/>
              <a:t>- Prescriptive</a:t>
            </a:r>
          </a:p>
          <a:p>
            <a:pPr marL="457200" lvl="1" indent="0">
              <a:buNone/>
            </a:pPr>
            <a:r>
              <a:rPr lang="en-US" sz="4000" dirty="0"/>
              <a:t>- Normative</a:t>
            </a:r>
          </a:p>
          <a:p>
            <a:endParaRPr lang="en-GB" dirty="0"/>
          </a:p>
        </p:txBody>
      </p:sp>
      <p:sp>
        <p:nvSpPr>
          <p:cNvPr id="5" name="Slide Number Placeholder 4">
            <a:extLst>
              <a:ext uri="{FF2B5EF4-FFF2-40B4-BE49-F238E27FC236}">
                <a16:creationId xmlns:a16="http://schemas.microsoft.com/office/drawing/2014/main" id="{D6F2D44B-CCEB-B399-B947-FC647F8BA8A2}"/>
              </a:ext>
            </a:extLst>
          </p:cNvPr>
          <p:cNvSpPr>
            <a:spLocks noGrp="1"/>
          </p:cNvSpPr>
          <p:nvPr>
            <p:ph type="sldNum" sz="quarter" idx="12"/>
          </p:nvPr>
        </p:nvSpPr>
        <p:spPr/>
        <p:txBody>
          <a:bodyPr/>
          <a:lstStyle/>
          <a:p>
            <a:fld id="{372769DB-CAE7-4C85-A9AF-7D4D8DE4CA22}" type="slidenum">
              <a:rPr lang="en-GB" smtClean="0"/>
              <a:t>26</a:t>
            </a:fld>
            <a:endParaRPr lang="en-GB" dirty="0"/>
          </a:p>
        </p:txBody>
      </p:sp>
    </p:spTree>
    <p:extLst>
      <p:ext uri="{BB962C8B-B14F-4D97-AF65-F5344CB8AC3E}">
        <p14:creationId xmlns:p14="http://schemas.microsoft.com/office/powerpoint/2010/main" val="2100551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4DE2F-531E-6424-B768-B9BD2B0C7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A993E-8DD5-3F2F-959D-5AD762A0AEFE}"/>
              </a:ext>
            </a:extLst>
          </p:cNvPr>
          <p:cNvSpPr>
            <a:spLocks noGrp="1"/>
          </p:cNvSpPr>
          <p:nvPr>
            <p:ph type="title"/>
          </p:nvPr>
        </p:nvSpPr>
        <p:spPr/>
        <p:txBody>
          <a:bodyPr/>
          <a:lstStyle/>
          <a:p>
            <a:r>
              <a:rPr lang="en-US" dirty="0"/>
              <a:t>Summary</a:t>
            </a:r>
            <a:endParaRPr lang="en-GB" dirty="0"/>
          </a:p>
        </p:txBody>
      </p:sp>
      <p:sp>
        <p:nvSpPr>
          <p:cNvPr id="3" name="Content Placeholder 2">
            <a:extLst>
              <a:ext uri="{FF2B5EF4-FFF2-40B4-BE49-F238E27FC236}">
                <a16:creationId xmlns:a16="http://schemas.microsoft.com/office/drawing/2014/main" id="{14C61B1D-B68B-A005-B6AC-411353246577}"/>
              </a:ext>
            </a:extLst>
          </p:cNvPr>
          <p:cNvSpPr>
            <a:spLocks noGrp="1"/>
          </p:cNvSpPr>
          <p:nvPr>
            <p:ph idx="1"/>
          </p:nvPr>
        </p:nvSpPr>
        <p:spPr>
          <a:xfrm>
            <a:off x="838200" y="1825625"/>
            <a:ext cx="10894888" cy="4351338"/>
          </a:xfrm>
        </p:spPr>
        <p:txBody>
          <a:bodyPr>
            <a:normAutofit/>
          </a:bodyPr>
          <a:lstStyle/>
          <a:p>
            <a:pPr>
              <a:lnSpc>
                <a:spcPct val="150000"/>
              </a:lnSpc>
            </a:pPr>
            <a:r>
              <a:rPr lang="en-US" dirty="0"/>
              <a:t>Coming up with our own research questions:</a:t>
            </a:r>
          </a:p>
          <a:p>
            <a:pPr marL="457200" lvl="1" indent="0">
              <a:lnSpc>
                <a:spcPct val="150000"/>
              </a:lnSpc>
              <a:buNone/>
            </a:pPr>
            <a:r>
              <a:rPr lang="en-US" sz="4000" dirty="0"/>
              <a:t>- Start with a broad subject you are interested in</a:t>
            </a:r>
          </a:p>
          <a:p>
            <a:pPr marL="457200" lvl="1" indent="0">
              <a:lnSpc>
                <a:spcPct val="150000"/>
              </a:lnSpc>
              <a:buNone/>
            </a:pPr>
            <a:r>
              <a:rPr lang="en-US" sz="4000" dirty="0"/>
              <a:t>- Narrow it down to a specific topic</a:t>
            </a:r>
          </a:p>
          <a:p>
            <a:pPr marL="457200" lvl="1" indent="0">
              <a:lnSpc>
                <a:spcPct val="150000"/>
              </a:lnSpc>
              <a:buNone/>
            </a:pPr>
            <a:r>
              <a:rPr lang="en-US" sz="4000" dirty="0"/>
              <a:t>- Come up with multiple potential questions</a:t>
            </a:r>
          </a:p>
          <a:p>
            <a:pPr lvl="2"/>
            <a:endParaRPr lang="en-GB" dirty="0"/>
          </a:p>
        </p:txBody>
      </p:sp>
      <p:sp>
        <p:nvSpPr>
          <p:cNvPr id="5" name="Slide Number Placeholder 4">
            <a:extLst>
              <a:ext uri="{FF2B5EF4-FFF2-40B4-BE49-F238E27FC236}">
                <a16:creationId xmlns:a16="http://schemas.microsoft.com/office/drawing/2014/main" id="{EF3422DE-0D8E-FD62-4479-CE99934595D1}"/>
              </a:ext>
            </a:extLst>
          </p:cNvPr>
          <p:cNvSpPr>
            <a:spLocks noGrp="1"/>
          </p:cNvSpPr>
          <p:nvPr>
            <p:ph type="sldNum" sz="quarter" idx="12"/>
          </p:nvPr>
        </p:nvSpPr>
        <p:spPr/>
        <p:txBody>
          <a:bodyPr/>
          <a:lstStyle/>
          <a:p>
            <a:fld id="{372769DB-CAE7-4C85-A9AF-7D4D8DE4CA22}" type="slidenum">
              <a:rPr lang="en-GB" smtClean="0"/>
              <a:t>27</a:t>
            </a:fld>
            <a:endParaRPr lang="en-GB" dirty="0"/>
          </a:p>
        </p:txBody>
      </p:sp>
    </p:spTree>
    <p:extLst>
      <p:ext uri="{BB962C8B-B14F-4D97-AF65-F5344CB8AC3E}">
        <p14:creationId xmlns:p14="http://schemas.microsoft.com/office/powerpoint/2010/main" val="739594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A9736-334A-B496-2D21-BFD42529D5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DAB58D-1F0F-75D3-119F-15637E0B9388}"/>
              </a:ext>
            </a:extLst>
          </p:cNvPr>
          <p:cNvSpPr>
            <a:spLocks noGrp="1"/>
          </p:cNvSpPr>
          <p:nvPr>
            <p:ph type="title"/>
          </p:nvPr>
        </p:nvSpPr>
        <p:spPr/>
        <p:txBody>
          <a:bodyPr/>
          <a:lstStyle/>
          <a:p>
            <a:r>
              <a:rPr lang="en-US" dirty="0"/>
              <a:t>Summary</a:t>
            </a:r>
            <a:endParaRPr lang="en-GB" dirty="0"/>
          </a:p>
        </p:txBody>
      </p:sp>
      <p:sp>
        <p:nvSpPr>
          <p:cNvPr id="3" name="Content Placeholder 2">
            <a:extLst>
              <a:ext uri="{FF2B5EF4-FFF2-40B4-BE49-F238E27FC236}">
                <a16:creationId xmlns:a16="http://schemas.microsoft.com/office/drawing/2014/main" id="{650F45DC-D209-EFA2-FEC5-E62C0C3B486C}"/>
              </a:ext>
            </a:extLst>
          </p:cNvPr>
          <p:cNvSpPr>
            <a:spLocks noGrp="1"/>
          </p:cNvSpPr>
          <p:nvPr>
            <p:ph idx="1"/>
          </p:nvPr>
        </p:nvSpPr>
        <p:spPr/>
        <p:txBody>
          <a:bodyPr>
            <a:normAutofit/>
          </a:bodyPr>
          <a:lstStyle/>
          <a:p>
            <a:pPr>
              <a:lnSpc>
                <a:spcPct val="100000"/>
              </a:lnSpc>
            </a:pPr>
            <a:r>
              <a:rPr lang="en-GB" dirty="0"/>
              <a:t>Evaluating research questions:</a:t>
            </a:r>
          </a:p>
          <a:p>
            <a:pPr marL="0" indent="0">
              <a:lnSpc>
                <a:spcPct val="100000"/>
              </a:lnSpc>
              <a:buNone/>
            </a:pPr>
            <a:r>
              <a:rPr lang="en-GB" dirty="0"/>
              <a:t>	- Relevance</a:t>
            </a:r>
          </a:p>
          <a:p>
            <a:pPr marL="0" indent="0">
              <a:lnSpc>
                <a:spcPct val="100000"/>
              </a:lnSpc>
              <a:buNone/>
            </a:pPr>
            <a:r>
              <a:rPr lang="en-GB" dirty="0"/>
              <a:t>	- Clarity</a:t>
            </a:r>
          </a:p>
          <a:p>
            <a:pPr marL="0" indent="0">
              <a:lnSpc>
                <a:spcPct val="100000"/>
              </a:lnSpc>
              <a:buNone/>
            </a:pPr>
            <a:r>
              <a:rPr lang="en-GB" dirty="0"/>
              <a:t>	- Scope</a:t>
            </a:r>
          </a:p>
          <a:p>
            <a:pPr marL="0" indent="0">
              <a:lnSpc>
                <a:spcPct val="100000"/>
              </a:lnSpc>
              <a:buNone/>
            </a:pPr>
            <a:r>
              <a:rPr lang="en-GB" dirty="0"/>
              <a:t>	- Feasibility</a:t>
            </a:r>
          </a:p>
        </p:txBody>
      </p:sp>
      <p:sp>
        <p:nvSpPr>
          <p:cNvPr id="5" name="Slide Number Placeholder 4">
            <a:extLst>
              <a:ext uri="{FF2B5EF4-FFF2-40B4-BE49-F238E27FC236}">
                <a16:creationId xmlns:a16="http://schemas.microsoft.com/office/drawing/2014/main" id="{26FEAB6F-83E6-1B85-D570-22FA6C53E82C}"/>
              </a:ext>
            </a:extLst>
          </p:cNvPr>
          <p:cNvSpPr>
            <a:spLocks noGrp="1"/>
          </p:cNvSpPr>
          <p:nvPr>
            <p:ph type="sldNum" sz="quarter" idx="12"/>
          </p:nvPr>
        </p:nvSpPr>
        <p:spPr/>
        <p:txBody>
          <a:bodyPr/>
          <a:lstStyle/>
          <a:p>
            <a:fld id="{372769DB-CAE7-4C85-A9AF-7D4D8DE4CA22}" type="slidenum">
              <a:rPr lang="en-GB" smtClean="0"/>
              <a:t>28</a:t>
            </a:fld>
            <a:endParaRPr lang="en-GB" dirty="0"/>
          </a:p>
        </p:txBody>
      </p:sp>
    </p:spTree>
    <p:extLst>
      <p:ext uri="{BB962C8B-B14F-4D97-AF65-F5344CB8AC3E}">
        <p14:creationId xmlns:p14="http://schemas.microsoft.com/office/powerpoint/2010/main" val="2557756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07735-8CF6-BFDE-DB17-42E0EB2C8E28}"/>
              </a:ext>
            </a:extLst>
          </p:cNvPr>
          <p:cNvSpPr>
            <a:spLocks noGrp="1"/>
          </p:cNvSpPr>
          <p:nvPr>
            <p:ph type="title"/>
          </p:nvPr>
        </p:nvSpPr>
        <p:spPr>
          <a:xfrm>
            <a:off x="1050587" y="1692613"/>
            <a:ext cx="9893031" cy="2247791"/>
          </a:xfrm>
        </p:spPr>
        <p:txBody>
          <a:bodyPr/>
          <a:lstStyle/>
          <a:p>
            <a:r>
              <a:rPr lang="en-GB" dirty="0"/>
              <a:t>Break</a:t>
            </a:r>
          </a:p>
        </p:txBody>
      </p:sp>
    </p:spTree>
    <p:extLst>
      <p:ext uri="{BB962C8B-B14F-4D97-AF65-F5344CB8AC3E}">
        <p14:creationId xmlns:p14="http://schemas.microsoft.com/office/powerpoint/2010/main" val="16605692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ACC75-A966-7AA2-EE1D-FD580A8D7ACE}"/>
              </a:ext>
            </a:extLst>
          </p:cNvPr>
          <p:cNvSpPr>
            <a:spLocks noGrp="1"/>
          </p:cNvSpPr>
          <p:nvPr>
            <p:ph type="title"/>
          </p:nvPr>
        </p:nvSpPr>
        <p:spPr/>
        <p:txBody>
          <a:bodyPr/>
          <a:lstStyle/>
          <a:p>
            <a:r>
              <a:rPr lang="en-GB" dirty="0"/>
              <a:t>References</a:t>
            </a:r>
          </a:p>
        </p:txBody>
      </p:sp>
      <p:sp>
        <p:nvSpPr>
          <p:cNvPr id="3" name="Content Placeholder 2">
            <a:extLst>
              <a:ext uri="{FF2B5EF4-FFF2-40B4-BE49-F238E27FC236}">
                <a16:creationId xmlns:a16="http://schemas.microsoft.com/office/drawing/2014/main" id="{34A3173C-0F45-44E0-665B-27865E7B6274}"/>
              </a:ext>
            </a:extLst>
          </p:cNvPr>
          <p:cNvSpPr>
            <a:spLocks noGrp="1"/>
          </p:cNvSpPr>
          <p:nvPr>
            <p:ph idx="1"/>
          </p:nvPr>
        </p:nvSpPr>
        <p:spPr>
          <a:xfrm>
            <a:off x="838199" y="1825625"/>
            <a:ext cx="11029545" cy="4351338"/>
          </a:xfrm>
        </p:spPr>
        <p:txBody>
          <a:bodyPr>
            <a:normAutofit/>
          </a:bodyPr>
          <a:lstStyle/>
          <a:p>
            <a:r>
              <a:rPr lang="en-GB" sz="2400" dirty="0">
                <a:effectLst/>
              </a:rPr>
              <a:t>Gallego, A. (2010). Understanding unequal turnout: Education and voting in comparative perspective. </a:t>
            </a:r>
            <a:r>
              <a:rPr lang="en-GB" sz="2400" i="1" dirty="0">
                <a:effectLst/>
              </a:rPr>
              <a:t>Electoral Studies</a:t>
            </a:r>
            <a:r>
              <a:rPr lang="en-GB" sz="2400" dirty="0">
                <a:effectLst/>
              </a:rPr>
              <a:t>, </a:t>
            </a:r>
            <a:r>
              <a:rPr lang="en-GB" sz="2400" i="1" dirty="0">
                <a:effectLst/>
              </a:rPr>
              <a:t>29</a:t>
            </a:r>
            <a:r>
              <a:rPr lang="en-GB" sz="2400" dirty="0">
                <a:effectLst/>
              </a:rPr>
              <a:t>(2), 239–248. </a:t>
            </a:r>
            <a:r>
              <a:rPr lang="en-GB" sz="2400" dirty="0">
                <a:effectLst/>
                <a:hlinkClick r:id="rId2"/>
              </a:rPr>
              <a:t>https://doi.org/10.1016/j.electstud.2009.11.002</a:t>
            </a:r>
            <a:endParaRPr lang="en-GB" sz="2400" dirty="0">
              <a:effectLst/>
            </a:endParaRPr>
          </a:p>
          <a:p>
            <a:pPr marL="0" indent="0">
              <a:buNone/>
            </a:pPr>
            <a:endParaRPr lang="en-GB" sz="2400" dirty="0">
              <a:effectLst/>
            </a:endParaRPr>
          </a:p>
          <a:p>
            <a:r>
              <a:rPr lang="en-US" sz="2400" dirty="0"/>
              <a:t>Evans, E., &amp; </a:t>
            </a:r>
            <a:r>
              <a:rPr lang="en-US" sz="2400" dirty="0" err="1"/>
              <a:t>Reher</a:t>
            </a:r>
            <a:r>
              <a:rPr lang="en-US" sz="2400" dirty="0"/>
              <a:t>, S. (2022). Disability and political representation: </a:t>
            </a:r>
            <a:r>
              <a:rPr lang="en-US" sz="2400" dirty="0" err="1"/>
              <a:t>Analysing</a:t>
            </a:r>
            <a:r>
              <a:rPr lang="en-US" sz="2400" dirty="0"/>
              <a:t> the obstacles to elected office in the UK. International Political Science Review, 43(5), 697–712. </a:t>
            </a:r>
            <a:r>
              <a:rPr lang="en-US" sz="2400" dirty="0">
                <a:hlinkClick r:id="rId3"/>
              </a:rPr>
              <a:t>https://doi.org</a:t>
            </a:r>
            <a:r>
              <a:rPr lang="en-US" sz="2400">
                <a:hlinkClick r:id="rId3"/>
              </a:rPr>
              <a:t>/10.1177/0192512120947458</a:t>
            </a:r>
            <a:endParaRPr lang="en-US" sz="2400"/>
          </a:p>
          <a:p>
            <a:pPr marL="0" indent="0">
              <a:buNone/>
            </a:pPr>
            <a:endParaRPr lang="en-GB" sz="2400" dirty="0"/>
          </a:p>
        </p:txBody>
      </p:sp>
      <p:sp>
        <p:nvSpPr>
          <p:cNvPr id="5" name="Slide Number Placeholder 4">
            <a:extLst>
              <a:ext uri="{FF2B5EF4-FFF2-40B4-BE49-F238E27FC236}">
                <a16:creationId xmlns:a16="http://schemas.microsoft.com/office/drawing/2014/main" id="{D2A046CE-B1EB-4A2A-16AC-63CF4C9B9B25}"/>
              </a:ext>
            </a:extLst>
          </p:cNvPr>
          <p:cNvSpPr>
            <a:spLocks noGrp="1"/>
          </p:cNvSpPr>
          <p:nvPr>
            <p:ph type="sldNum" sz="quarter" idx="12"/>
          </p:nvPr>
        </p:nvSpPr>
        <p:spPr/>
        <p:txBody>
          <a:bodyPr/>
          <a:lstStyle/>
          <a:p>
            <a:fld id="{372769DB-CAE7-4C85-A9AF-7D4D8DE4CA22}" type="slidenum">
              <a:rPr lang="en-GB" smtClean="0"/>
              <a:t>30</a:t>
            </a:fld>
            <a:endParaRPr lang="en-GB" dirty="0"/>
          </a:p>
        </p:txBody>
      </p:sp>
    </p:spTree>
    <p:extLst>
      <p:ext uri="{BB962C8B-B14F-4D97-AF65-F5344CB8AC3E}">
        <p14:creationId xmlns:p14="http://schemas.microsoft.com/office/powerpoint/2010/main" val="29597223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23AFCB4-6ED2-4A1B-B74C-8E17736BF60B}">
  <we:reference id="3e0fcce7-415c-4081-926c-b4e449c650e4" version="1.1.0.2" store="EXCatalog" storeType="EXCatalog"/>
  <we:alternateReferences>
    <we:reference id="WA200004709" version="1.1.0.2" store="en-GB"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1022</TotalTime>
  <Words>1059</Words>
  <Application>Microsoft Office PowerPoint</Application>
  <PresentationFormat>Widescreen</PresentationFormat>
  <Paragraphs>204</Paragraphs>
  <Slides>30</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7" baseType="lpstr">
      <vt:lpstr>Arial</vt:lpstr>
      <vt:lpstr>Calibri</vt:lpstr>
      <vt:lpstr>Franklin Gothic Demi</vt:lpstr>
      <vt:lpstr>Gill Sans MT</vt:lpstr>
      <vt:lpstr>Wingdings</vt:lpstr>
      <vt:lpstr>Office Theme</vt:lpstr>
      <vt:lpstr>Adobe Acrobat Document</vt:lpstr>
      <vt:lpstr>Research Questions</vt:lpstr>
      <vt:lpstr>PowerPoint Presentation</vt:lpstr>
      <vt:lpstr>Recap</vt:lpstr>
      <vt:lpstr>Recap</vt:lpstr>
      <vt:lpstr>What we will cover today</vt:lpstr>
      <vt:lpstr>What is a research question?</vt:lpstr>
      <vt:lpstr>PowerPoint Presentation</vt:lpstr>
      <vt:lpstr>Types of research question</vt:lpstr>
      <vt:lpstr>Types of research question</vt:lpstr>
      <vt:lpstr>Types of research question</vt:lpstr>
      <vt:lpstr>Types of research question</vt:lpstr>
      <vt:lpstr>Types of research question</vt:lpstr>
      <vt:lpstr>Types of research question</vt:lpstr>
      <vt:lpstr>Coming up with research questions</vt:lpstr>
      <vt:lpstr>Coming up with research questions</vt:lpstr>
      <vt:lpstr>Coming up with research questions</vt:lpstr>
      <vt:lpstr>Coming up with research questions</vt:lpstr>
      <vt:lpstr>Discussion question</vt:lpstr>
      <vt:lpstr>What makes a good question?</vt:lpstr>
      <vt:lpstr>Identifying research questions</vt:lpstr>
      <vt:lpstr>Understanding unequal turnout: Education and voting  in comparative perspective</vt:lpstr>
      <vt:lpstr>Disability and political representation: Analysing the obstacles to elected office in the UK</vt:lpstr>
      <vt:lpstr>Identifying research questions</vt:lpstr>
      <vt:lpstr>Formative Assessment</vt:lpstr>
      <vt:lpstr>Summary</vt:lpstr>
      <vt:lpstr>Summary</vt:lpstr>
      <vt:lpstr>Summary</vt:lpstr>
      <vt:lpstr>Summary</vt:lpstr>
      <vt:lpstr>Break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 Lecture 2  Becoming a Political Researcher (POL2017)</dc:title>
  <dc:creator>brian boyle</dc:creator>
  <cp:lastModifiedBy>Brian Boyle</cp:lastModifiedBy>
  <cp:revision>107</cp:revision>
  <dcterms:created xsi:type="dcterms:W3CDTF">2023-12-20T10:52:04Z</dcterms:created>
  <dcterms:modified xsi:type="dcterms:W3CDTF">2026-02-02T14:01:05Z</dcterms:modified>
</cp:coreProperties>
</file>