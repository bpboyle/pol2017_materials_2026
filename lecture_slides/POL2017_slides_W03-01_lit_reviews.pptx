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sldIdLst>
    <p:sldId id="279" r:id="rId2"/>
    <p:sldId id="314" r:id="rId3"/>
    <p:sldId id="307" r:id="rId4"/>
    <p:sldId id="306" r:id="rId5"/>
    <p:sldId id="328" r:id="rId6"/>
    <p:sldId id="329" r:id="rId7"/>
    <p:sldId id="330" r:id="rId8"/>
    <p:sldId id="280" r:id="rId9"/>
    <p:sldId id="299" r:id="rId10"/>
    <p:sldId id="302" r:id="rId11"/>
    <p:sldId id="304" r:id="rId12"/>
    <p:sldId id="313" r:id="rId13"/>
    <p:sldId id="336" r:id="rId14"/>
    <p:sldId id="305" r:id="rId15"/>
    <p:sldId id="308" r:id="rId16"/>
    <p:sldId id="309" r:id="rId17"/>
    <p:sldId id="311" r:id="rId18"/>
    <p:sldId id="310" r:id="rId19"/>
    <p:sldId id="320" r:id="rId20"/>
    <p:sldId id="319" r:id="rId21"/>
    <p:sldId id="327" r:id="rId22"/>
    <p:sldId id="332" r:id="rId23"/>
    <p:sldId id="321" r:id="rId24"/>
    <p:sldId id="322" r:id="rId25"/>
    <p:sldId id="326" r:id="rId26"/>
    <p:sldId id="324" r:id="rId27"/>
    <p:sldId id="331" r:id="rId28"/>
    <p:sldId id="317" r:id="rId29"/>
    <p:sldId id="333" r:id="rId30"/>
    <p:sldId id="335" r:id="rId31"/>
    <p:sldId id="325" r:id="rId32"/>
    <p:sldId id="316" r:id="rId33"/>
    <p:sldId id="318" r:id="rId34"/>
    <p:sldId id="31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6795"/>
    <a:srgbClr val="E76254"/>
    <a:srgbClr val="01A08A"/>
    <a:srgbClr val="F7AA58"/>
    <a:srgbClr val="B33F62"/>
    <a:srgbClr val="4C3957"/>
    <a:srgbClr val="A003E7"/>
    <a:srgbClr val="203B56"/>
    <a:srgbClr val="72BCD5"/>
    <a:srgbClr val="7ECB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5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F3E4C-7C94-4BF3-897F-69B76BF34905}" type="datetimeFigureOut">
              <a:rPr lang="en-GB" smtClean="0"/>
              <a:t>10/02/2026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859D84-7AD2-4F35-9177-9966E85B1D52}" type="slidenum">
              <a:rPr lang="en-GB" smtClean="0"/>
              <a:t>‹#›</a:t>
            </a:fld>
            <a:endParaRPr lang="en-GB"/>
          </a:p>
        </p:txBody>
      </p:sp>
    </p:spTree>
    <p:extLst>
      <p:ext uri="{BB962C8B-B14F-4D97-AF65-F5344CB8AC3E}">
        <p14:creationId xmlns:p14="http://schemas.microsoft.com/office/powerpoint/2010/main" val="331724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859D84-7AD2-4F35-9177-9966E85B1D52}" type="slidenum">
              <a:rPr lang="en-GB" smtClean="0"/>
              <a:t>1</a:t>
            </a:fld>
            <a:endParaRPr lang="en-GB"/>
          </a:p>
        </p:txBody>
      </p:sp>
    </p:spTree>
    <p:extLst>
      <p:ext uri="{BB962C8B-B14F-4D97-AF65-F5344CB8AC3E}">
        <p14:creationId xmlns:p14="http://schemas.microsoft.com/office/powerpoint/2010/main" val="3705374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859D84-7AD2-4F35-9177-9966E85B1D52}" type="slidenum">
              <a:rPr lang="en-GB" smtClean="0"/>
              <a:t>27</a:t>
            </a:fld>
            <a:endParaRPr lang="en-GB"/>
          </a:p>
        </p:txBody>
      </p:sp>
    </p:spTree>
    <p:extLst>
      <p:ext uri="{BB962C8B-B14F-4D97-AF65-F5344CB8AC3E}">
        <p14:creationId xmlns:p14="http://schemas.microsoft.com/office/powerpoint/2010/main" val="541312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0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9D11-05BD-92B2-BEAC-72491257331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9AF8DC6-ABE1-D783-93A6-EC8013C3B3B2}"/>
              </a:ext>
            </a:extLst>
          </p:cNvPr>
          <p:cNvSpPr>
            <a:spLocks noGrp="1"/>
          </p:cNvSpPr>
          <p:nvPr>
            <p:ph type="subTitle" idx="1"/>
          </p:nvPr>
        </p:nvSpPr>
        <p:spPr>
          <a:xfrm>
            <a:off x="1601822" y="4887337"/>
            <a:ext cx="9144000" cy="1655762"/>
          </a:xfrm>
        </p:spPr>
        <p:txBody>
          <a:bodyPr>
            <a:normAutofit/>
          </a:bodyPr>
          <a:lstStyle>
            <a:lvl1pPr marL="0" indent="0" algn="ctr">
              <a:buNone/>
              <a:defRPr sz="2800">
                <a:solidFill>
                  <a:schemeClr val="bg1"/>
                </a:solidFill>
                <a:latin typeface="Franklin Gothic Demi" panose="020B07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45894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46CF2-3EBA-681F-12E2-047B13DC50D3}"/>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AF9307-5FB6-6290-DF8F-926071B84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3">
            <a:extLst>
              <a:ext uri="{FF2B5EF4-FFF2-40B4-BE49-F238E27FC236}">
                <a16:creationId xmlns:a16="http://schemas.microsoft.com/office/drawing/2014/main" id="{DB4A59CA-8A2F-AD9B-5DDF-633218821F88}"/>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8" name="Slide Number Placeholder 4">
            <a:extLst>
              <a:ext uri="{FF2B5EF4-FFF2-40B4-BE49-F238E27FC236}">
                <a16:creationId xmlns:a16="http://schemas.microsoft.com/office/drawing/2014/main" id="{A87A51AF-A455-2D0A-339C-664F8D854363}"/>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368758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98B581-4BB0-C834-81E4-E83B8806A139}"/>
              </a:ext>
            </a:extLst>
          </p:cNvPr>
          <p:cNvSpPr/>
          <p:nvPr userDrawn="1"/>
        </p:nvSpPr>
        <p:spPr>
          <a:xfrm>
            <a:off x="0" y="0"/>
            <a:ext cx="12192000" cy="6857999"/>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5887F5E-5F3C-BBF6-59D2-5719676BDADB}"/>
              </a:ext>
            </a:extLst>
          </p:cNvPr>
          <p:cNvSpPr>
            <a:spLocks noGrp="1"/>
          </p:cNvSpPr>
          <p:nvPr>
            <p:ph type="title"/>
          </p:nvPr>
        </p:nvSpPr>
        <p:spPr>
          <a:xfrm>
            <a:off x="1050587" y="1692613"/>
            <a:ext cx="9893031" cy="2626469"/>
          </a:xfrm>
        </p:spPr>
        <p:txBody>
          <a:bodyPr anchor="b">
            <a:normAutofit/>
          </a:bodyPr>
          <a:lstStyle>
            <a:lvl1pPr algn="ctr">
              <a:defRPr sz="6600"/>
            </a:lvl1pPr>
          </a:lstStyle>
          <a:p>
            <a:r>
              <a:rPr lang="en-US" dirty="0"/>
              <a:t>Click to edit Master title style</a:t>
            </a:r>
            <a:endParaRPr lang="en-GB" dirty="0"/>
          </a:p>
        </p:txBody>
      </p:sp>
    </p:spTree>
    <p:extLst>
      <p:ext uri="{BB962C8B-B14F-4D97-AF65-F5344CB8AC3E}">
        <p14:creationId xmlns:p14="http://schemas.microsoft.com/office/powerpoint/2010/main" val="3816117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9CC17-3D2F-D715-FA5A-BB4C8CAD3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CAE4E8-6CDF-2FD9-BF6F-EF2C59AB9E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3">
            <a:extLst>
              <a:ext uri="{FF2B5EF4-FFF2-40B4-BE49-F238E27FC236}">
                <a16:creationId xmlns:a16="http://schemas.microsoft.com/office/drawing/2014/main" id="{9E2D8FD2-D909-4FAE-DA6B-D318B8A2CC9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9" name="Slide Number Placeholder 4">
            <a:extLst>
              <a:ext uri="{FF2B5EF4-FFF2-40B4-BE49-F238E27FC236}">
                <a16:creationId xmlns:a16="http://schemas.microsoft.com/office/drawing/2014/main" id="{9ADC7A76-56B7-AEBA-F17D-ECA744CB75E8}"/>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5" name="Title 1">
            <a:extLst>
              <a:ext uri="{FF2B5EF4-FFF2-40B4-BE49-F238E27FC236}">
                <a16:creationId xmlns:a16="http://schemas.microsoft.com/office/drawing/2014/main" id="{82C09436-7DF7-BDE9-CF95-052421BA3555}"/>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138431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652BF6-ACFD-6764-A841-65A0CB3E20CE}"/>
              </a:ext>
            </a:extLst>
          </p:cNvPr>
          <p:cNvSpPr>
            <a:spLocks noGrp="1"/>
          </p:cNvSpPr>
          <p:nvPr>
            <p:ph type="body" idx="1"/>
          </p:nvPr>
        </p:nvSpPr>
        <p:spPr>
          <a:xfrm>
            <a:off x="839788" y="1681163"/>
            <a:ext cx="5157787"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12B3D76-2A5A-300F-8F0E-8830F95DFC1D}"/>
              </a:ext>
            </a:extLst>
          </p:cNvPr>
          <p:cNvSpPr>
            <a:spLocks noGrp="1"/>
          </p:cNvSpPr>
          <p:nvPr>
            <p:ph sz="half" idx="2"/>
          </p:nvPr>
        </p:nvSpPr>
        <p:spPr>
          <a:xfrm>
            <a:off x="839788" y="2505075"/>
            <a:ext cx="5157787" cy="3684588"/>
          </a:xfrm>
        </p:spPr>
        <p:txBody>
          <a:bodyPr/>
          <a:lstStyle>
            <a:lvl1pPr>
              <a:defRPr sz="32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1FB145A9-A05F-C1CB-E5C0-02A3BFF9A85B}"/>
              </a:ext>
            </a:extLst>
          </p:cNvPr>
          <p:cNvSpPr>
            <a:spLocks noGrp="1"/>
          </p:cNvSpPr>
          <p:nvPr>
            <p:ph type="body" sz="quarter" idx="3"/>
          </p:nvPr>
        </p:nvSpPr>
        <p:spPr>
          <a:xfrm>
            <a:off x="6172200" y="1681163"/>
            <a:ext cx="5183188"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D071D9-E642-31AA-AE3F-69DEF1758E16}"/>
              </a:ext>
            </a:extLst>
          </p:cNvPr>
          <p:cNvSpPr>
            <a:spLocks noGrp="1"/>
          </p:cNvSpPr>
          <p:nvPr>
            <p:ph sz="quarter" idx="4"/>
          </p:nvPr>
        </p:nvSpPr>
        <p:spPr>
          <a:xfrm>
            <a:off x="6172200" y="2505075"/>
            <a:ext cx="5183188" cy="3684588"/>
          </a:xfrm>
        </p:spPr>
        <p:txBody>
          <a:bodyPr>
            <a:normAutofit/>
          </a:bodyPr>
          <a:lstStyle>
            <a:lvl1pPr>
              <a:defRPr sz="3200"/>
            </a:lvl1pPr>
            <a:lvl2pPr>
              <a:defRPr sz="3200"/>
            </a:lvl2pPr>
            <a:lvl3pPr>
              <a:defRPr sz="3200"/>
            </a:lvl3pPr>
            <a:lvl4pPr>
              <a:defRPr sz="3200"/>
            </a:lvl4pPr>
            <a:lvl5pPr>
              <a:defRPr sz="3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Footer Placeholder 3">
            <a:extLst>
              <a:ext uri="{FF2B5EF4-FFF2-40B4-BE49-F238E27FC236}">
                <a16:creationId xmlns:a16="http://schemas.microsoft.com/office/drawing/2014/main" id="{5ABF6DF7-3183-A9DF-C891-522AE460E439}"/>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11" name="Slide Number Placeholder 4">
            <a:extLst>
              <a:ext uri="{FF2B5EF4-FFF2-40B4-BE49-F238E27FC236}">
                <a16:creationId xmlns:a16="http://schemas.microsoft.com/office/drawing/2014/main" id="{9B3DE170-4110-D1C3-D06E-5D7D884C6C57}"/>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7" name="Title 1">
            <a:extLst>
              <a:ext uri="{FF2B5EF4-FFF2-40B4-BE49-F238E27FC236}">
                <a16:creationId xmlns:a16="http://schemas.microsoft.com/office/drawing/2014/main" id="{22E5BA71-C08F-1D0F-0F81-B9192A0C0D2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43671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59C097-32A5-A687-E53B-70511CAF290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5" name="Slide Number Placeholder 4">
            <a:extLst>
              <a:ext uri="{FF2B5EF4-FFF2-40B4-BE49-F238E27FC236}">
                <a16:creationId xmlns:a16="http://schemas.microsoft.com/office/drawing/2014/main" id="{5F39E005-ECD2-D8B0-F2A6-7FF12C769CCB}"/>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3" name="Title 1">
            <a:extLst>
              <a:ext uri="{FF2B5EF4-FFF2-40B4-BE49-F238E27FC236}">
                <a16:creationId xmlns:a16="http://schemas.microsoft.com/office/drawing/2014/main" id="{F92392D4-0138-ECBD-532E-276BBF1ADD4F}"/>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3481153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2EB5B-91EF-4908-4A2A-172B36FE1DF3}"/>
              </a:ext>
            </a:extLst>
          </p:cNvPr>
          <p:cNvSpPr/>
          <p:nvPr userDrawn="1"/>
        </p:nvSpPr>
        <p:spPr>
          <a:xfrm>
            <a:off x="0" y="0"/>
            <a:ext cx="12192000" cy="68579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8B6E87AB-CAA0-4BDE-E584-6A2A21EB30BE}"/>
              </a:ext>
            </a:extLst>
          </p:cNvPr>
          <p:cNvSpPr>
            <a:spLocks noGrp="1"/>
          </p:cNvSpPr>
          <p:nvPr>
            <p:ph type="sldNum" sz="quarter" idx="12"/>
          </p:nvPr>
        </p:nvSpPr>
        <p:spPr>
          <a:xfrm>
            <a:off x="9028889" y="6356349"/>
            <a:ext cx="2743200"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19397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A148E-F221-49F5-8FAD-8F9979F79DB1}"/>
              </a:ext>
            </a:extLst>
          </p:cNvPr>
          <p:cNvSpPr>
            <a:spLocks noGrp="1"/>
          </p:cNvSpPr>
          <p:nvPr>
            <p:ph idx="1"/>
          </p:nvPr>
        </p:nvSpPr>
        <p:spPr>
          <a:xfrm>
            <a:off x="5000017" y="1489848"/>
            <a:ext cx="6491558" cy="4873625"/>
          </a:xfrm>
        </p:spPr>
        <p:txBody>
          <a:bodyPr>
            <a:normAutofit/>
          </a:bodyPr>
          <a:lstStyle>
            <a:lvl1pPr>
              <a:defRPr sz="3200"/>
            </a:lvl1pPr>
            <a:lvl2pPr>
              <a:defRPr sz="3200"/>
            </a:lvl2pPr>
            <a:lvl3pPr>
              <a:defRPr sz="3200"/>
            </a:lvl3pPr>
            <a:lvl4pPr>
              <a:defRPr sz="3200"/>
            </a:lvl4pPr>
            <a:lvl5pPr>
              <a:defRPr sz="32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EBFCA531-6799-0A7D-BB52-DE792E83A6A2}"/>
              </a:ext>
            </a:extLst>
          </p:cNvPr>
          <p:cNvSpPr>
            <a:spLocks noGrp="1"/>
          </p:cNvSpPr>
          <p:nvPr>
            <p:ph type="body" sz="half" idx="2"/>
          </p:nvPr>
        </p:nvSpPr>
        <p:spPr>
          <a:xfrm>
            <a:off x="839788" y="2057400"/>
            <a:ext cx="3932237" cy="3811588"/>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855C95B6-27F8-3A53-C994-DD92E5F860BD}"/>
              </a:ext>
            </a:extLst>
          </p:cNvPr>
          <p:cNvSpPr>
            <a:spLocks noGrp="1"/>
          </p:cNvSpPr>
          <p:nvPr>
            <p:ph type="ftr" sz="quarter" idx="11"/>
          </p:nvPr>
        </p:nvSpPr>
        <p:spPr>
          <a:xfrm>
            <a:off x="0" y="6363474"/>
            <a:ext cx="4114800" cy="365125"/>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02493E98-5D4C-EB9B-5697-C0ED4B9F262C}"/>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
        <p:nvSpPr>
          <p:cNvPr id="5" name="Title 1">
            <a:extLst>
              <a:ext uri="{FF2B5EF4-FFF2-40B4-BE49-F238E27FC236}">
                <a16:creationId xmlns:a16="http://schemas.microsoft.com/office/drawing/2014/main" id="{ACC033A0-C9EA-ED54-3B72-4192C4F0453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645693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DEE3-635D-CB9C-9911-5F287B56C8B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87404D5-B2D3-F6C7-A964-A19846114627}"/>
              </a:ext>
            </a:extLst>
          </p:cNvPr>
          <p:cNvSpPr>
            <a:spLocks noGrp="1"/>
          </p:cNvSpPr>
          <p:nvPr>
            <p:ph type="pic" idx="1"/>
          </p:nvPr>
        </p:nvSpPr>
        <p:spPr>
          <a:xfrm>
            <a:off x="4309353" y="1352145"/>
            <a:ext cx="7402749" cy="50042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BC72E5A9-E23F-5DEE-AF48-F3FF759A3395}"/>
              </a:ext>
            </a:extLst>
          </p:cNvPr>
          <p:cNvSpPr>
            <a:spLocks noGrp="1"/>
          </p:cNvSpPr>
          <p:nvPr>
            <p:ph type="body" sz="half" idx="2"/>
          </p:nvPr>
        </p:nvSpPr>
        <p:spPr>
          <a:xfrm>
            <a:off x="242887" y="1916349"/>
            <a:ext cx="3871913" cy="3959156"/>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0A564931-9660-71DE-C324-782959E138C0}"/>
              </a:ext>
            </a:extLst>
          </p:cNvPr>
          <p:cNvSpPr>
            <a:spLocks noGrp="1"/>
          </p:cNvSpPr>
          <p:nvPr>
            <p:ph type="ftr" sz="quarter" idx="11"/>
          </p:nvPr>
        </p:nvSpPr>
        <p:spPr>
          <a:xfrm>
            <a:off x="0" y="6363473"/>
            <a:ext cx="4114800" cy="365125"/>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0974101F-C579-3FA8-15A9-1156DC1C4485}"/>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Tree>
    <p:extLst>
      <p:ext uri="{BB962C8B-B14F-4D97-AF65-F5344CB8AC3E}">
        <p14:creationId xmlns:p14="http://schemas.microsoft.com/office/powerpoint/2010/main" val="2516025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22171F-7F37-458B-E310-C64CC24B9571}"/>
              </a:ext>
            </a:extLst>
          </p:cNvPr>
          <p:cNvSpPr/>
          <p:nvPr userDrawn="1"/>
        </p:nvSpPr>
        <p:spPr>
          <a:xfrm>
            <a:off x="0" y="0"/>
            <a:ext cx="12192000" cy="1154096"/>
          </a:xfrm>
          <a:prstGeom prst="rect">
            <a:avLst/>
          </a:prstGeom>
          <a:solidFill>
            <a:srgbClr val="F7A855"/>
          </a:solidFill>
          <a:ln>
            <a:solidFill>
              <a:srgbClr val="F7A8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EB3B69C-5102-F7EC-ACA1-B357C88005B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67444F-E134-DF1E-A1B3-041F3CB38036}"/>
              </a:ext>
            </a:extLst>
          </p:cNvPr>
          <p:cNvSpPr>
            <a:spLocks noGrp="1"/>
          </p:cNvSpPr>
          <p:nvPr>
            <p:ph type="body" orient="vert" idx="1"/>
          </p:nvPr>
        </p:nvSpPr>
        <p:spPr>
          <a:xfrm>
            <a:off x="6461760" y="1825625"/>
            <a:ext cx="489204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A3D3E8F7-DFA2-87D3-246E-6EDA78447C5E}"/>
              </a:ext>
            </a:extLst>
          </p:cNvPr>
          <p:cNvSpPr>
            <a:spLocks noGrp="1"/>
          </p:cNvSpPr>
          <p:nvPr>
            <p:ph type="ftr" sz="quarter" idx="11"/>
          </p:nvPr>
        </p:nvSpPr>
        <p:spPr>
          <a:xfrm>
            <a:off x="0" y="6363474"/>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0084D201-4FE7-45F0-EE4D-E77E00679242}"/>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
        <p:nvSpPr>
          <p:cNvPr id="7" name="Rectangle 6">
            <a:extLst>
              <a:ext uri="{FF2B5EF4-FFF2-40B4-BE49-F238E27FC236}">
                <a16:creationId xmlns:a16="http://schemas.microsoft.com/office/drawing/2014/main" id="{588B5922-6DD0-09AE-40A9-EC242DC6857E}"/>
              </a:ext>
            </a:extLst>
          </p:cNvPr>
          <p:cNvSpPr/>
          <p:nvPr userDrawn="1"/>
        </p:nvSpPr>
        <p:spPr>
          <a:xfrm>
            <a:off x="2892797" y="215225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14B5CBE-ECB8-D850-33FA-52C867A9611F}"/>
              </a:ext>
            </a:extLst>
          </p:cNvPr>
          <p:cNvSpPr/>
          <p:nvPr userDrawn="1"/>
        </p:nvSpPr>
        <p:spPr>
          <a:xfrm>
            <a:off x="2892799" y="295542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57FF8C6-A5E1-9C6A-E79E-405B34F814DD}"/>
              </a:ext>
            </a:extLst>
          </p:cNvPr>
          <p:cNvSpPr/>
          <p:nvPr userDrawn="1"/>
        </p:nvSpPr>
        <p:spPr>
          <a:xfrm>
            <a:off x="1827621" y="295542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869F75A-002C-2529-CB1D-D09D74F122F8}"/>
              </a:ext>
            </a:extLst>
          </p:cNvPr>
          <p:cNvSpPr/>
          <p:nvPr userDrawn="1"/>
        </p:nvSpPr>
        <p:spPr>
          <a:xfrm>
            <a:off x="3836982" y="215466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E80ED7E-B825-169D-5F98-6B2CD58FDAA0}"/>
              </a:ext>
            </a:extLst>
          </p:cNvPr>
          <p:cNvSpPr/>
          <p:nvPr userDrawn="1"/>
        </p:nvSpPr>
        <p:spPr>
          <a:xfrm>
            <a:off x="1827621" y="213713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0DC89A4-D434-533C-A09D-9183CB354F82}"/>
              </a:ext>
            </a:extLst>
          </p:cNvPr>
          <p:cNvSpPr/>
          <p:nvPr userDrawn="1"/>
        </p:nvSpPr>
        <p:spPr>
          <a:xfrm>
            <a:off x="3836982" y="295542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53F9D73-E78B-94A1-E5C2-22FA154344C3}"/>
              </a:ext>
            </a:extLst>
          </p:cNvPr>
          <p:cNvSpPr/>
          <p:nvPr userDrawn="1"/>
        </p:nvSpPr>
        <p:spPr>
          <a:xfrm>
            <a:off x="2922271" y="415174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05E5E622-FB98-73DB-5586-C0ADCB995613}"/>
              </a:ext>
            </a:extLst>
          </p:cNvPr>
          <p:cNvSpPr/>
          <p:nvPr userDrawn="1"/>
        </p:nvSpPr>
        <p:spPr>
          <a:xfrm>
            <a:off x="2922273" y="495491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FA642DA-A018-C45D-85CD-175791132943}"/>
              </a:ext>
            </a:extLst>
          </p:cNvPr>
          <p:cNvSpPr/>
          <p:nvPr userDrawn="1"/>
        </p:nvSpPr>
        <p:spPr>
          <a:xfrm>
            <a:off x="1857095" y="495491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49973BA-C0E1-9DB6-F14F-F326ED0C8700}"/>
              </a:ext>
            </a:extLst>
          </p:cNvPr>
          <p:cNvSpPr/>
          <p:nvPr userDrawn="1"/>
        </p:nvSpPr>
        <p:spPr>
          <a:xfrm>
            <a:off x="3866456" y="415415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76422483-2999-7D3D-422B-23683B72C1E1}"/>
              </a:ext>
            </a:extLst>
          </p:cNvPr>
          <p:cNvSpPr/>
          <p:nvPr userDrawn="1"/>
        </p:nvSpPr>
        <p:spPr>
          <a:xfrm>
            <a:off x="1857095" y="413662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CBDA8352-04A8-CA95-2A5A-CBD134AE176C}"/>
              </a:ext>
            </a:extLst>
          </p:cNvPr>
          <p:cNvSpPr/>
          <p:nvPr userDrawn="1"/>
        </p:nvSpPr>
        <p:spPr>
          <a:xfrm>
            <a:off x="3866456" y="495491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1007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B9C93C-C147-D2FF-6AFC-7E7BE5466F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217830-FCB5-9878-FF2A-D2CDEE77AC2C}"/>
              </a:ext>
            </a:extLst>
          </p:cNvPr>
          <p:cNvSpPr>
            <a:spLocks noGrp="1"/>
          </p:cNvSpPr>
          <p:nvPr>
            <p:ph type="body" orient="vert" idx="1"/>
          </p:nvPr>
        </p:nvSpPr>
        <p:spPr>
          <a:xfrm>
            <a:off x="3322320" y="365125"/>
            <a:ext cx="525018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2D0C7C-F16C-C08B-4592-407E9C6577DA}"/>
              </a:ext>
            </a:extLst>
          </p:cNvPr>
          <p:cNvSpPr>
            <a:spLocks noGrp="1"/>
          </p:cNvSpPr>
          <p:nvPr>
            <p:ph type="dt" sz="half" idx="10"/>
          </p:nvPr>
        </p:nvSpPr>
        <p:spPr>
          <a:xfrm>
            <a:off x="838200" y="6356350"/>
            <a:ext cx="2743200" cy="365125"/>
          </a:xfrm>
          <a:prstGeom prst="rect">
            <a:avLst/>
          </a:prstGeom>
        </p:spPr>
        <p:txBody>
          <a:bodyPr/>
          <a:lstStyle/>
          <a:p>
            <a:endParaRPr lang="en-GB"/>
          </a:p>
        </p:txBody>
      </p:sp>
      <p:sp>
        <p:nvSpPr>
          <p:cNvPr id="5" name="Footer Placeholder 4">
            <a:extLst>
              <a:ext uri="{FF2B5EF4-FFF2-40B4-BE49-F238E27FC236}">
                <a16:creationId xmlns:a16="http://schemas.microsoft.com/office/drawing/2014/main" id="{BE4DD17E-38FC-A1A4-51ED-35464F773CA6}"/>
              </a:ext>
            </a:extLst>
          </p:cNvPr>
          <p:cNvSpPr>
            <a:spLocks noGrp="1"/>
          </p:cNvSpPr>
          <p:nvPr>
            <p:ph type="ftr" sz="quarter" idx="11"/>
          </p:nvPr>
        </p:nvSpPr>
        <p:spPr>
          <a:xfrm>
            <a:off x="0" y="6363473"/>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6BC4716-9DDB-6984-A8BE-8D9E1ACA7B34}"/>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a:p>
        </p:txBody>
      </p:sp>
      <p:sp>
        <p:nvSpPr>
          <p:cNvPr id="7" name="Rectangle 6">
            <a:extLst>
              <a:ext uri="{FF2B5EF4-FFF2-40B4-BE49-F238E27FC236}">
                <a16:creationId xmlns:a16="http://schemas.microsoft.com/office/drawing/2014/main" id="{F841951A-8D87-4F43-FC6B-A657181FC6FF}"/>
              </a:ext>
            </a:extLst>
          </p:cNvPr>
          <p:cNvSpPr/>
          <p:nvPr userDrawn="1"/>
        </p:nvSpPr>
        <p:spPr>
          <a:xfrm>
            <a:off x="0" y="0"/>
            <a:ext cx="12192000" cy="1154096"/>
          </a:xfrm>
          <a:prstGeom prst="rect">
            <a:avLst/>
          </a:prstGeom>
          <a:solidFill>
            <a:srgbClr val="01A0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C5C020D-E67A-E299-C503-6697E5A42110}"/>
              </a:ext>
            </a:extLst>
          </p:cNvPr>
          <p:cNvSpPr/>
          <p:nvPr userDrawn="1"/>
        </p:nvSpPr>
        <p:spPr>
          <a:xfrm>
            <a:off x="1626737" y="224369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0AA7976-0675-37B6-6301-B5E08A25B6EE}"/>
              </a:ext>
            </a:extLst>
          </p:cNvPr>
          <p:cNvSpPr/>
          <p:nvPr userDrawn="1"/>
        </p:nvSpPr>
        <p:spPr>
          <a:xfrm>
            <a:off x="1626739" y="304686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E80848C-7A3C-EDDF-7749-D9687FA7D534}"/>
              </a:ext>
            </a:extLst>
          </p:cNvPr>
          <p:cNvSpPr/>
          <p:nvPr userDrawn="1"/>
        </p:nvSpPr>
        <p:spPr>
          <a:xfrm>
            <a:off x="561561" y="304686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90161F2-63FE-D7D0-C071-2CB3FADFBD2A}"/>
              </a:ext>
            </a:extLst>
          </p:cNvPr>
          <p:cNvSpPr/>
          <p:nvPr userDrawn="1"/>
        </p:nvSpPr>
        <p:spPr>
          <a:xfrm>
            <a:off x="2570922" y="224610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66C6C8B-7D04-F1DC-88ED-4B4EE5498B39}"/>
              </a:ext>
            </a:extLst>
          </p:cNvPr>
          <p:cNvSpPr/>
          <p:nvPr userDrawn="1"/>
        </p:nvSpPr>
        <p:spPr>
          <a:xfrm>
            <a:off x="561561" y="222857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E9492BF5-494B-4BE4-709D-FB2112364DD6}"/>
              </a:ext>
            </a:extLst>
          </p:cNvPr>
          <p:cNvSpPr/>
          <p:nvPr userDrawn="1"/>
        </p:nvSpPr>
        <p:spPr>
          <a:xfrm>
            <a:off x="2570922" y="304686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27DFB5F-12A2-63A9-95E9-BB741AD5BE28}"/>
              </a:ext>
            </a:extLst>
          </p:cNvPr>
          <p:cNvSpPr/>
          <p:nvPr userDrawn="1"/>
        </p:nvSpPr>
        <p:spPr>
          <a:xfrm>
            <a:off x="1656211" y="424318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B5871CD-4399-36A1-3253-4B0BB32C4D3D}"/>
              </a:ext>
            </a:extLst>
          </p:cNvPr>
          <p:cNvSpPr/>
          <p:nvPr userDrawn="1"/>
        </p:nvSpPr>
        <p:spPr>
          <a:xfrm>
            <a:off x="1656213" y="504635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D46D2525-DFE5-C548-4358-DBBB03B838EE}"/>
              </a:ext>
            </a:extLst>
          </p:cNvPr>
          <p:cNvSpPr/>
          <p:nvPr userDrawn="1"/>
        </p:nvSpPr>
        <p:spPr>
          <a:xfrm>
            <a:off x="591035" y="504635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E6748769-125E-C9B7-16F9-5C2B1EB7A452}"/>
              </a:ext>
            </a:extLst>
          </p:cNvPr>
          <p:cNvSpPr/>
          <p:nvPr userDrawn="1"/>
        </p:nvSpPr>
        <p:spPr>
          <a:xfrm>
            <a:off x="2600396" y="424559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3133E4F-DF31-F074-FDA8-6D6D35FFF0B4}"/>
              </a:ext>
            </a:extLst>
          </p:cNvPr>
          <p:cNvSpPr/>
          <p:nvPr userDrawn="1"/>
        </p:nvSpPr>
        <p:spPr>
          <a:xfrm>
            <a:off x="591035" y="422806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A6DE0CA1-4658-0FB9-A733-3BE9DDB4D172}"/>
              </a:ext>
            </a:extLst>
          </p:cNvPr>
          <p:cNvSpPr/>
          <p:nvPr userDrawn="1"/>
        </p:nvSpPr>
        <p:spPr>
          <a:xfrm>
            <a:off x="2600396" y="504635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4521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Question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C5E4-F653-D1E5-781B-5C80DA9A1FD7}"/>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CA4B1EFF-8603-5BC3-A16F-837AA235F13A}"/>
              </a:ext>
            </a:extLst>
          </p:cNvPr>
          <p:cNvSpPr>
            <a:spLocks noGrp="1"/>
          </p:cNvSpPr>
          <p:nvPr>
            <p:ph type="dt" sz="half" idx="10"/>
          </p:nvPr>
        </p:nvSpPr>
        <p:spPr/>
        <p:txBody>
          <a:bodyPr/>
          <a:lstStyle/>
          <a:p>
            <a:endParaRPr lang="en-FI"/>
          </a:p>
        </p:txBody>
      </p:sp>
      <p:sp>
        <p:nvSpPr>
          <p:cNvPr id="4" name="Footer Placeholder 3">
            <a:extLst>
              <a:ext uri="{FF2B5EF4-FFF2-40B4-BE49-F238E27FC236}">
                <a16:creationId xmlns:a16="http://schemas.microsoft.com/office/drawing/2014/main" id="{C1DFCB76-F866-AFF2-45A8-D75DD768A349}"/>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E8577D54-9E7B-8CA3-C7DA-9BF166CA6240}"/>
              </a:ext>
            </a:extLst>
          </p:cNvPr>
          <p:cNvSpPr>
            <a:spLocks noGrp="1"/>
          </p:cNvSpPr>
          <p:nvPr>
            <p:ph type="sldNum" sz="quarter" idx="12"/>
          </p:nvPr>
        </p:nvSpPr>
        <p:spPr/>
        <p:txBody>
          <a:bodyPr/>
          <a:lstStyle/>
          <a:p>
            <a:fld id="{C4DDFEFA-D601-40AB-9EFD-121C9BFF3B2B}" type="slidenum">
              <a:rPr lang="en-FI" smtClean="0"/>
              <a:t>‹#›</a:t>
            </a:fld>
            <a:endParaRPr lang="en-FI"/>
          </a:p>
        </p:txBody>
      </p:sp>
      <p:sp>
        <p:nvSpPr>
          <p:cNvPr id="7" name="Content Placeholder 6">
            <a:extLst>
              <a:ext uri="{FF2B5EF4-FFF2-40B4-BE49-F238E27FC236}">
                <a16:creationId xmlns:a16="http://schemas.microsoft.com/office/drawing/2014/main" id="{23589107-4708-E9D3-0A18-B23A231F8127}"/>
              </a:ext>
            </a:extLst>
          </p:cNvPr>
          <p:cNvSpPr>
            <a:spLocks noGrp="1"/>
          </p:cNvSpPr>
          <p:nvPr>
            <p:ph sz="quarter" idx="13"/>
          </p:nvPr>
        </p:nvSpPr>
        <p:spPr>
          <a:xfrm>
            <a:off x="838200" y="1798321"/>
            <a:ext cx="10515600" cy="439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01884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5E911-D491-9FF0-A994-C6B793C0EB5E}"/>
              </a:ext>
            </a:extLst>
          </p:cNvPr>
          <p:cNvSpPr/>
          <p:nvPr userDrawn="1"/>
        </p:nvSpPr>
        <p:spPr>
          <a:xfrm>
            <a:off x="0" y="0"/>
            <a:ext cx="12192000" cy="1154097"/>
          </a:xfrm>
          <a:prstGeom prst="rect">
            <a:avLst/>
          </a:prstGeom>
          <a:solidFill>
            <a:srgbClr val="0070C0"/>
          </a:solidFill>
          <a:ln>
            <a:solidFill>
              <a:srgbClr val="3767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20A8125-450B-C759-EE28-E4766E4DADFD}"/>
              </a:ext>
            </a:extLst>
          </p:cNvPr>
          <p:cNvSpPr>
            <a:spLocks noGrp="1"/>
          </p:cNvSpPr>
          <p:nvPr>
            <p:ph type="title"/>
          </p:nvPr>
        </p:nvSpPr>
        <p:spPr>
          <a:xfrm>
            <a:off x="506027" y="93257"/>
            <a:ext cx="11685973" cy="1154096"/>
          </a:xfrm>
          <a:prstGeom prst="rect">
            <a:avLst/>
          </a:prstGeom>
          <a:noFill/>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5F57A63-E583-0606-820E-D2535190E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Footer Placeholder 3">
            <a:extLst>
              <a:ext uri="{FF2B5EF4-FFF2-40B4-BE49-F238E27FC236}">
                <a16:creationId xmlns:a16="http://schemas.microsoft.com/office/drawing/2014/main" id="{A76EF038-572C-E3A7-507B-C8F667377E7D}"/>
              </a:ext>
            </a:extLst>
          </p:cNvPr>
          <p:cNvSpPr>
            <a:spLocks noGrp="1"/>
          </p:cNvSpPr>
          <p:nvPr>
            <p:ph type="ftr" sz="quarter" idx="3"/>
          </p:nvPr>
        </p:nvSpPr>
        <p:spPr>
          <a:xfrm>
            <a:off x="252918" y="6363474"/>
            <a:ext cx="3861881" cy="365125"/>
          </a:xfrm>
          <a:prstGeom prst="rect">
            <a:avLst/>
          </a:prstGeom>
        </p:spPr>
        <p:txBody>
          <a:bodyPr/>
          <a:lstStyle>
            <a:lvl1pPr algn="l">
              <a:defRPr sz="1400">
                <a:latin typeface="Gill Sans MT" panose="020B0502020104020203" pitchFamily="34" charset="0"/>
              </a:defRPr>
            </a:lvl1pPr>
          </a:lstStyle>
          <a:p>
            <a:endParaRPr lang="en-GB" dirty="0"/>
          </a:p>
        </p:txBody>
      </p:sp>
      <p:sp>
        <p:nvSpPr>
          <p:cNvPr id="10" name="Slide Number Placeholder 4">
            <a:extLst>
              <a:ext uri="{FF2B5EF4-FFF2-40B4-BE49-F238E27FC236}">
                <a16:creationId xmlns:a16="http://schemas.microsoft.com/office/drawing/2014/main" id="{422A7349-2727-7A03-4940-F40F76DE81F9}"/>
              </a:ext>
            </a:extLst>
          </p:cNvPr>
          <p:cNvSpPr>
            <a:spLocks noGrp="1"/>
          </p:cNvSpPr>
          <p:nvPr>
            <p:ph type="sldNum" sz="quarter" idx="4"/>
          </p:nvPr>
        </p:nvSpPr>
        <p:spPr>
          <a:xfrm>
            <a:off x="9291536" y="6363474"/>
            <a:ext cx="2576209" cy="365125"/>
          </a:xfrm>
          <a:prstGeom prst="rect">
            <a:avLst/>
          </a:prstGeom>
        </p:spPr>
        <p:txBody>
          <a:bodyPr/>
          <a:lstStyle>
            <a:lvl1pPr algn="r">
              <a:defRPr sz="1400">
                <a:latin typeface="Gill Sans MT" panose="020B0502020104020203" pitchFamily="34" charset="0"/>
              </a:defRPr>
            </a:lvl1pPr>
          </a:lstStyle>
          <a:p>
            <a:fld id="{372769DB-CAE7-4C85-A9AF-7D4D8DE4CA22}" type="slidenum">
              <a:rPr lang="en-GB" smtClean="0"/>
              <a:pPr/>
              <a:t>‹#›</a:t>
            </a:fld>
            <a:endParaRPr lang="en-GB" dirty="0"/>
          </a:p>
        </p:txBody>
      </p:sp>
    </p:spTree>
    <p:extLst>
      <p:ext uri="{BB962C8B-B14F-4D97-AF65-F5344CB8AC3E}">
        <p14:creationId xmlns:p14="http://schemas.microsoft.com/office/powerpoint/2010/main" val="145437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6000" kern="1200">
          <a:solidFill>
            <a:schemeClr val="bg1"/>
          </a:solidFill>
          <a:latin typeface="Franklin Gothic Demi" panose="020B07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royalsocietypublishing.org/rsos/article/12/4/241776/235656/Generalization-bias-in-large-language-mode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ollingstone.com/culture/culture-features/ai-chatbot-journal-research-fake-citations-1235485484/"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onlinelibrary.wiley.com/doi/10.1111/ajps.12475"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93F3-E80D-4684-85BC-E4E24E79F73A}"/>
              </a:ext>
            </a:extLst>
          </p:cNvPr>
          <p:cNvSpPr>
            <a:spLocks noGrp="1"/>
          </p:cNvSpPr>
          <p:nvPr>
            <p:ph type="ctrTitle"/>
          </p:nvPr>
        </p:nvSpPr>
        <p:spPr/>
        <p:txBody>
          <a:bodyPr/>
          <a:lstStyle/>
          <a:p>
            <a:r>
              <a:rPr lang="en-GB"/>
              <a:t>Literature Reviews</a:t>
            </a:r>
            <a:endParaRPr lang="en-GB" dirty="0"/>
          </a:p>
        </p:txBody>
      </p:sp>
      <p:sp>
        <p:nvSpPr>
          <p:cNvPr id="3" name="Subtitle 2">
            <a:extLst>
              <a:ext uri="{FF2B5EF4-FFF2-40B4-BE49-F238E27FC236}">
                <a16:creationId xmlns:a16="http://schemas.microsoft.com/office/drawing/2014/main" id="{8E363FEF-E855-8DC3-5C0C-1B3D78422314}"/>
              </a:ext>
            </a:extLst>
          </p:cNvPr>
          <p:cNvSpPr>
            <a:spLocks noGrp="1"/>
          </p:cNvSpPr>
          <p:nvPr>
            <p:ph type="subTitle" idx="1"/>
          </p:nvPr>
        </p:nvSpPr>
        <p:spPr/>
        <p:txBody>
          <a:bodyPr/>
          <a:lstStyle/>
          <a:p>
            <a:r>
              <a:rPr lang="en-GB" dirty="0"/>
              <a:t>Week 3  Lecture</a:t>
            </a:r>
          </a:p>
          <a:p>
            <a:r>
              <a:rPr lang="en-GB" dirty="0"/>
              <a:t>Becoming a Political Researcher (POL2017)</a:t>
            </a:r>
          </a:p>
        </p:txBody>
      </p:sp>
    </p:spTree>
    <p:extLst>
      <p:ext uri="{BB962C8B-B14F-4D97-AF65-F5344CB8AC3E}">
        <p14:creationId xmlns:p14="http://schemas.microsoft.com/office/powerpoint/2010/main" val="289785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B636B8-1EB1-2377-C1DC-35DBAE763F3C}"/>
              </a:ext>
            </a:extLst>
          </p:cNvPr>
          <p:cNvSpPr/>
          <p:nvPr/>
        </p:nvSpPr>
        <p:spPr>
          <a:xfrm>
            <a:off x="0" y="0"/>
            <a:ext cx="12192000" cy="1177047"/>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7EBF6C9-9B80-4E92-FBAD-218B963ED289}"/>
              </a:ext>
            </a:extLst>
          </p:cNvPr>
          <p:cNvSpPr>
            <a:spLocks noGrp="1"/>
          </p:cNvSpPr>
          <p:nvPr>
            <p:ph type="title"/>
          </p:nvPr>
        </p:nvSpPr>
        <p:spPr/>
        <p:txBody>
          <a:bodyPr/>
          <a:lstStyle/>
          <a:p>
            <a:r>
              <a:rPr lang="en-GB" dirty="0"/>
              <a:t>Updates</a:t>
            </a:r>
          </a:p>
        </p:txBody>
      </p:sp>
      <p:sp>
        <p:nvSpPr>
          <p:cNvPr id="3" name="Content Placeholder 2">
            <a:extLst>
              <a:ext uri="{FF2B5EF4-FFF2-40B4-BE49-F238E27FC236}">
                <a16:creationId xmlns:a16="http://schemas.microsoft.com/office/drawing/2014/main" id="{FF27B308-0935-1E82-CE70-D2A735181E43}"/>
              </a:ext>
            </a:extLst>
          </p:cNvPr>
          <p:cNvSpPr>
            <a:spLocks noGrp="1"/>
          </p:cNvSpPr>
          <p:nvPr>
            <p:ph idx="1"/>
          </p:nvPr>
        </p:nvSpPr>
        <p:spPr>
          <a:xfrm>
            <a:off x="838200" y="1545996"/>
            <a:ext cx="10515600" cy="4911365"/>
          </a:xfrm>
        </p:spPr>
        <p:txBody>
          <a:bodyPr>
            <a:normAutofit/>
          </a:bodyPr>
          <a:lstStyle/>
          <a:p>
            <a:pPr marL="0" indent="0">
              <a:buNone/>
            </a:pPr>
            <a:r>
              <a:rPr lang="en-GB" sz="4800" b="1" dirty="0"/>
              <a:t>Teaching week change:</a:t>
            </a:r>
          </a:p>
          <a:p>
            <a:pPr marL="0" indent="0">
              <a:buNone/>
            </a:pPr>
            <a:r>
              <a:rPr lang="en-GB" sz="4800" dirty="0"/>
              <a:t>Week 5 – Interviews </a:t>
            </a:r>
          </a:p>
          <a:p>
            <a:pPr marL="0" indent="0">
              <a:buNone/>
            </a:pPr>
            <a:r>
              <a:rPr lang="en-GB" sz="4800" dirty="0"/>
              <a:t>Week 6 - Surveys</a:t>
            </a:r>
          </a:p>
        </p:txBody>
      </p:sp>
    </p:spTree>
    <p:extLst>
      <p:ext uri="{BB962C8B-B14F-4D97-AF65-F5344CB8AC3E}">
        <p14:creationId xmlns:p14="http://schemas.microsoft.com/office/powerpoint/2010/main" val="158137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C78471-796E-08C4-9780-7528BAC4568C}"/>
              </a:ext>
            </a:extLst>
          </p:cNvPr>
          <p:cNvSpPr/>
          <p:nvPr/>
        </p:nvSpPr>
        <p:spPr>
          <a:xfrm>
            <a:off x="0" y="0"/>
            <a:ext cx="12192000" cy="1177047"/>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7EBF6C9-9B80-4E92-FBAD-218B963ED289}"/>
              </a:ext>
            </a:extLst>
          </p:cNvPr>
          <p:cNvSpPr>
            <a:spLocks noGrp="1"/>
          </p:cNvSpPr>
          <p:nvPr>
            <p:ph type="title"/>
          </p:nvPr>
        </p:nvSpPr>
        <p:spPr/>
        <p:txBody>
          <a:bodyPr/>
          <a:lstStyle/>
          <a:p>
            <a:r>
              <a:rPr lang="en-GB" dirty="0"/>
              <a:t>Plan for this week</a:t>
            </a:r>
          </a:p>
        </p:txBody>
      </p:sp>
      <p:sp>
        <p:nvSpPr>
          <p:cNvPr id="3" name="Content Placeholder 2">
            <a:extLst>
              <a:ext uri="{FF2B5EF4-FFF2-40B4-BE49-F238E27FC236}">
                <a16:creationId xmlns:a16="http://schemas.microsoft.com/office/drawing/2014/main" id="{FF27B308-0935-1E82-CE70-D2A735181E43}"/>
              </a:ext>
            </a:extLst>
          </p:cNvPr>
          <p:cNvSpPr>
            <a:spLocks noGrp="1"/>
          </p:cNvSpPr>
          <p:nvPr>
            <p:ph idx="1"/>
          </p:nvPr>
        </p:nvSpPr>
        <p:spPr>
          <a:xfrm>
            <a:off x="838200" y="1545996"/>
            <a:ext cx="10515600" cy="4911365"/>
          </a:xfrm>
        </p:spPr>
        <p:txBody>
          <a:bodyPr>
            <a:normAutofit/>
          </a:bodyPr>
          <a:lstStyle/>
          <a:p>
            <a:pPr marL="0" indent="0">
              <a:buNone/>
            </a:pPr>
            <a:r>
              <a:rPr lang="en-GB" dirty="0"/>
              <a:t>Before this week’s seminar:</a:t>
            </a:r>
          </a:p>
          <a:p>
            <a:pPr marL="742950" indent="-742950">
              <a:buFont typeface="+mj-lt"/>
              <a:buAutoNum type="arabicPeriod"/>
            </a:pPr>
            <a:r>
              <a:rPr lang="en-GB" sz="3600" dirty="0">
                <a:solidFill>
                  <a:srgbClr val="E76254"/>
                </a:solidFill>
              </a:rPr>
              <a:t>Assigned readings &amp; seminar questions</a:t>
            </a:r>
          </a:p>
          <a:p>
            <a:pPr marL="742950" indent="-742950">
              <a:buFont typeface="+mj-lt"/>
              <a:buAutoNum type="arabicPeriod"/>
            </a:pPr>
            <a:r>
              <a:rPr lang="en-GB" sz="3600" dirty="0">
                <a:solidFill>
                  <a:srgbClr val="E76254"/>
                </a:solidFill>
              </a:rPr>
              <a:t>Attend lecture </a:t>
            </a:r>
            <a:r>
              <a:rPr lang="en-GB" sz="3600" dirty="0"/>
              <a:t>(pick an academic source)</a:t>
            </a:r>
          </a:p>
          <a:p>
            <a:pPr marL="742950" indent="-742950">
              <a:buFont typeface="+mj-lt"/>
              <a:buAutoNum type="arabicPeriod"/>
            </a:pPr>
            <a:r>
              <a:rPr lang="en-GB" sz="3600" dirty="0">
                <a:solidFill>
                  <a:srgbClr val="E76254"/>
                </a:solidFill>
              </a:rPr>
              <a:t>Watch canvas critical reading video</a:t>
            </a:r>
          </a:p>
          <a:p>
            <a:endParaRPr lang="en-GB" dirty="0"/>
          </a:p>
          <a:p>
            <a:pPr marL="0" indent="0">
              <a:buNone/>
            </a:pPr>
            <a:r>
              <a:rPr lang="en-GB" dirty="0"/>
              <a:t>At the seminar:</a:t>
            </a:r>
          </a:p>
          <a:p>
            <a:pPr lvl="1"/>
            <a:r>
              <a:rPr lang="en-GB" dirty="0">
                <a:solidFill>
                  <a:srgbClr val="E76254"/>
                </a:solidFill>
              </a:rPr>
              <a:t>Bring along article from lecture</a:t>
            </a:r>
          </a:p>
          <a:p>
            <a:endParaRPr lang="en-GB" dirty="0"/>
          </a:p>
        </p:txBody>
      </p:sp>
    </p:spTree>
    <p:extLst>
      <p:ext uri="{BB962C8B-B14F-4D97-AF65-F5344CB8AC3E}">
        <p14:creationId xmlns:p14="http://schemas.microsoft.com/office/powerpoint/2010/main" val="2393201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777617-0F06-C751-AD28-8E2709ED0C1B}"/>
              </a:ext>
            </a:extLst>
          </p:cNvPr>
          <p:cNvSpPr/>
          <p:nvPr/>
        </p:nvSpPr>
        <p:spPr>
          <a:xfrm>
            <a:off x="0" y="0"/>
            <a:ext cx="12192000" cy="1177047"/>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053F3A0-4745-32E5-95CE-F8252A737610}"/>
              </a:ext>
            </a:extLst>
          </p:cNvPr>
          <p:cNvSpPr>
            <a:spLocks noGrp="1"/>
          </p:cNvSpPr>
          <p:nvPr>
            <p:ph type="title"/>
          </p:nvPr>
        </p:nvSpPr>
        <p:spPr/>
        <p:txBody>
          <a:bodyPr/>
          <a:lstStyle/>
          <a:p>
            <a:r>
              <a:rPr lang="en-GB" dirty="0"/>
              <a:t>Recap </a:t>
            </a:r>
          </a:p>
        </p:txBody>
      </p:sp>
      <p:sp>
        <p:nvSpPr>
          <p:cNvPr id="3" name="Content Placeholder 2">
            <a:extLst>
              <a:ext uri="{FF2B5EF4-FFF2-40B4-BE49-F238E27FC236}">
                <a16:creationId xmlns:a16="http://schemas.microsoft.com/office/drawing/2014/main" id="{C28FCBD4-AF4C-6827-5500-C01CA4014344}"/>
              </a:ext>
            </a:extLst>
          </p:cNvPr>
          <p:cNvSpPr>
            <a:spLocks noGrp="1"/>
          </p:cNvSpPr>
          <p:nvPr>
            <p:ph idx="1"/>
          </p:nvPr>
        </p:nvSpPr>
        <p:spPr>
          <a:xfrm>
            <a:off x="838200" y="1825625"/>
            <a:ext cx="10515600" cy="2136775"/>
          </a:xfrm>
        </p:spPr>
        <p:txBody>
          <a:bodyPr>
            <a:normAutofit/>
          </a:bodyPr>
          <a:lstStyle/>
          <a:p>
            <a:pPr marL="0" indent="0">
              <a:buNone/>
            </a:pPr>
            <a:r>
              <a:rPr lang="en-GB" dirty="0"/>
              <a:t>Research questions</a:t>
            </a:r>
          </a:p>
          <a:p>
            <a:pPr marL="0" indent="0">
              <a:buNone/>
            </a:pPr>
            <a:r>
              <a:rPr lang="en-GB" sz="3000" dirty="0"/>
              <a:t> - What you want to find out</a:t>
            </a:r>
          </a:p>
          <a:p>
            <a:pPr marL="0" indent="0">
              <a:buNone/>
            </a:pPr>
            <a:r>
              <a:rPr lang="en-GB" sz="3000" dirty="0"/>
              <a:t> - Why is it important (societal, academic)</a:t>
            </a:r>
          </a:p>
          <a:p>
            <a:endParaRPr lang="en-GB" dirty="0"/>
          </a:p>
        </p:txBody>
      </p:sp>
      <p:sp>
        <p:nvSpPr>
          <p:cNvPr id="5" name="TextBox 4">
            <a:extLst>
              <a:ext uri="{FF2B5EF4-FFF2-40B4-BE49-F238E27FC236}">
                <a16:creationId xmlns:a16="http://schemas.microsoft.com/office/drawing/2014/main" id="{0DE390DC-6AF5-02CF-CE34-4358D3E1A967}"/>
              </a:ext>
            </a:extLst>
          </p:cNvPr>
          <p:cNvSpPr txBox="1"/>
          <p:nvPr/>
        </p:nvSpPr>
        <p:spPr>
          <a:xfrm>
            <a:off x="838200" y="4145280"/>
            <a:ext cx="8732520" cy="1631216"/>
          </a:xfrm>
          <a:prstGeom prst="rect">
            <a:avLst/>
          </a:prstGeom>
          <a:noFill/>
        </p:spPr>
        <p:txBody>
          <a:bodyPr wrap="square" rtlCol="0">
            <a:spAutoFit/>
          </a:bodyPr>
          <a:lstStyle/>
          <a:p>
            <a:r>
              <a:rPr lang="en-GB" sz="4000" dirty="0">
                <a:latin typeface="Gill Sans MT" panose="020B0502020104020203" pitchFamily="34" charset="0"/>
              </a:rPr>
              <a:t>Evaluating research questions</a:t>
            </a:r>
          </a:p>
          <a:p>
            <a:r>
              <a:rPr lang="en-GB" sz="3000" dirty="0">
                <a:latin typeface="Gill Sans MT" panose="020B0502020104020203" pitchFamily="34" charset="0"/>
              </a:rPr>
              <a:t>- Relevance, clarity, scope, feasibility</a:t>
            </a:r>
          </a:p>
          <a:p>
            <a:endParaRPr lang="en-GB" sz="3000" dirty="0">
              <a:latin typeface="Gill Sans MT" panose="020B0502020104020203" pitchFamily="34" charset="0"/>
            </a:endParaRPr>
          </a:p>
        </p:txBody>
      </p:sp>
    </p:spTree>
    <p:extLst>
      <p:ext uri="{BB962C8B-B14F-4D97-AF65-F5344CB8AC3E}">
        <p14:creationId xmlns:p14="http://schemas.microsoft.com/office/powerpoint/2010/main" val="334437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7863CE-5081-811A-B823-39BB0DDA080C}"/>
              </a:ext>
            </a:extLst>
          </p:cNvPr>
          <p:cNvSpPr/>
          <p:nvPr/>
        </p:nvSpPr>
        <p:spPr>
          <a:xfrm>
            <a:off x="0" y="0"/>
            <a:ext cx="12192000" cy="1177047"/>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7391DEA-126D-DECF-37C1-125D9860582C}"/>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C1B7C33A-6743-64A8-41F1-1FE54DC45B93}"/>
              </a:ext>
            </a:extLst>
          </p:cNvPr>
          <p:cNvSpPr>
            <a:spLocks noGrp="1"/>
          </p:cNvSpPr>
          <p:nvPr>
            <p:ph idx="1"/>
          </p:nvPr>
        </p:nvSpPr>
        <p:spPr>
          <a:xfrm>
            <a:off x="838200" y="1825625"/>
            <a:ext cx="10515600" cy="1831975"/>
          </a:xfrm>
        </p:spPr>
        <p:txBody>
          <a:bodyPr>
            <a:normAutofit/>
          </a:bodyPr>
          <a:lstStyle/>
          <a:p>
            <a:pPr marL="0" indent="0">
              <a:buNone/>
            </a:pPr>
            <a:r>
              <a:rPr lang="en-US" dirty="0"/>
              <a:t>Models</a:t>
            </a:r>
          </a:p>
          <a:p>
            <a:pPr marL="457200" lvl="1" indent="0">
              <a:buNone/>
            </a:pPr>
            <a:r>
              <a:rPr lang="en-US" dirty="0"/>
              <a:t>- simplified representations of real world events/processes</a:t>
            </a:r>
          </a:p>
          <a:p>
            <a:pPr marL="457200" lvl="1" indent="0">
              <a:buNone/>
            </a:pPr>
            <a:r>
              <a:rPr lang="en-US" dirty="0"/>
              <a:t>- certain aspects emphasized </a:t>
            </a:r>
          </a:p>
          <a:p>
            <a:pPr marL="457200" lvl="1" indent="0">
              <a:buNone/>
            </a:pPr>
            <a:endParaRPr lang="en-US" dirty="0"/>
          </a:p>
          <a:p>
            <a:pPr marL="457200" lvl="1" indent="0">
              <a:buNone/>
            </a:pPr>
            <a:endParaRPr lang="en-US" dirty="0"/>
          </a:p>
        </p:txBody>
      </p:sp>
      <p:sp>
        <p:nvSpPr>
          <p:cNvPr id="5" name="Slide Number Placeholder 4">
            <a:extLst>
              <a:ext uri="{FF2B5EF4-FFF2-40B4-BE49-F238E27FC236}">
                <a16:creationId xmlns:a16="http://schemas.microsoft.com/office/drawing/2014/main" id="{14AE53FE-5A98-5F71-EBF3-3E2FEF398425}"/>
              </a:ext>
            </a:extLst>
          </p:cNvPr>
          <p:cNvSpPr>
            <a:spLocks noGrp="1"/>
          </p:cNvSpPr>
          <p:nvPr>
            <p:ph type="sldNum" sz="quarter" idx="12"/>
          </p:nvPr>
        </p:nvSpPr>
        <p:spPr/>
        <p:txBody>
          <a:bodyPr/>
          <a:lstStyle/>
          <a:p>
            <a:fld id="{372769DB-CAE7-4C85-A9AF-7D4D8DE4CA22}" type="slidenum">
              <a:rPr lang="en-GB" smtClean="0"/>
              <a:t>5</a:t>
            </a:fld>
            <a:endParaRPr lang="en-GB" dirty="0"/>
          </a:p>
        </p:txBody>
      </p:sp>
      <p:sp>
        <p:nvSpPr>
          <p:cNvPr id="6" name="TextBox 5">
            <a:extLst>
              <a:ext uri="{FF2B5EF4-FFF2-40B4-BE49-F238E27FC236}">
                <a16:creationId xmlns:a16="http://schemas.microsoft.com/office/drawing/2014/main" id="{E02C1181-BC68-F0E0-388A-3B49B7B5EC48}"/>
              </a:ext>
            </a:extLst>
          </p:cNvPr>
          <p:cNvSpPr txBox="1"/>
          <p:nvPr/>
        </p:nvSpPr>
        <p:spPr>
          <a:xfrm>
            <a:off x="838200" y="3794819"/>
            <a:ext cx="8732520" cy="2431435"/>
          </a:xfrm>
          <a:prstGeom prst="rect">
            <a:avLst/>
          </a:prstGeom>
          <a:noFill/>
        </p:spPr>
        <p:txBody>
          <a:bodyPr wrap="square" rtlCol="0">
            <a:spAutoFit/>
          </a:bodyPr>
          <a:lstStyle/>
          <a:p>
            <a:r>
              <a:rPr lang="en-US" sz="4000" dirty="0">
                <a:latin typeface="Gill Sans MT" panose="020B0502020104020203" pitchFamily="34" charset="0"/>
              </a:rPr>
              <a:t>Theories</a:t>
            </a:r>
          </a:p>
          <a:p>
            <a:pPr lvl="1"/>
            <a:r>
              <a:rPr lang="en-US" sz="2800" dirty="0">
                <a:latin typeface="Gill Sans MT" panose="020B0502020104020203" pitchFamily="34" charset="0"/>
              </a:rPr>
              <a:t>- Ways of explaining the social world</a:t>
            </a:r>
          </a:p>
          <a:p>
            <a:pPr lvl="1"/>
            <a:r>
              <a:rPr lang="en-US" sz="2800" dirty="0">
                <a:latin typeface="Gill Sans MT" panose="020B0502020104020203" pitchFamily="34" charset="0"/>
              </a:rPr>
              <a:t>- Offer answers to our research questions</a:t>
            </a:r>
          </a:p>
          <a:p>
            <a:pPr lvl="1"/>
            <a:r>
              <a:rPr lang="en-US" sz="2800" dirty="0">
                <a:latin typeface="Gill Sans MT" panose="020B0502020104020203" pitchFamily="34" charset="0"/>
              </a:rPr>
              <a:t>- Can vary in scope (grand/middle-range theory)</a:t>
            </a:r>
          </a:p>
          <a:p>
            <a:pPr lvl="1"/>
            <a:r>
              <a:rPr lang="en-US" sz="2800" dirty="0">
                <a:latin typeface="Gill Sans MT" panose="020B0502020104020203" pitchFamily="34" charset="0"/>
              </a:rPr>
              <a:t>- Relationship between different concepts</a:t>
            </a:r>
          </a:p>
        </p:txBody>
      </p:sp>
    </p:spTree>
    <p:extLst>
      <p:ext uri="{BB962C8B-B14F-4D97-AF65-F5344CB8AC3E}">
        <p14:creationId xmlns:p14="http://schemas.microsoft.com/office/powerpoint/2010/main" val="164731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C96AA-B2C0-0CA0-DE6A-CDBE70459D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02BE6B-6F6B-0A3C-94CF-F83DDE8C70C1}"/>
              </a:ext>
            </a:extLst>
          </p:cNvPr>
          <p:cNvSpPr/>
          <p:nvPr/>
        </p:nvSpPr>
        <p:spPr>
          <a:xfrm>
            <a:off x="0" y="0"/>
            <a:ext cx="12192000" cy="1177047"/>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D3D2EC6-47AA-0768-71D3-8269204DEF24}"/>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19F0A0FD-6CFB-36DE-D8C8-B3370354FB83}"/>
              </a:ext>
            </a:extLst>
          </p:cNvPr>
          <p:cNvSpPr>
            <a:spLocks noGrp="1"/>
          </p:cNvSpPr>
          <p:nvPr>
            <p:ph idx="1"/>
          </p:nvPr>
        </p:nvSpPr>
        <p:spPr>
          <a:xfrm>
            <a:off x="672113" y="1629744"/>
            <a:ext cx="11353800" cy="4351338"/>
          </a:xfrm>
        </p:spPr>
        <p:txBody>
          <a:bodyPr>
            <a:normAutofit fontScale="92500" lnSpcReduction="20000"/>
          </a:bodyPr>
          <a:lstStyle/>
          <a:p>
            <a:r>
              <a:rPr lang="en-US" dirty="0"/>
              <a:t>Concepts</a:t>
            </a:r>
          </a:p>
          <a:p>
            <a:pPr marL="0" indent="0">
              <a:buNone/>
            </a:pPr>
            <a:r>
              <a:rPr lang="en-US" dirty="0"/>
              <a:t>  - Labelling of items that share common features</a:t>
            </a:r>
          </a:p>
          <a:p>
            <a:pPr marL="0" indent="0">
              <a:buNone/>
            </a:pPr>
            <a:r>
              <a:rPr lang="en-US" dirty="0"/>
              <a:t>  - Lets us generalize beyond individual cases</a:t>
            </a:r>
          </a:p>
          <a:p>
            <a:pPr marL="0" indent="0">
              <a:buNone/>
            </a:pPr>
            <a:endParaRPr lang="en-US" dirty="0"/>
          </a:p>
          <a:p>
            <a:r>
              <a:rPr lang="en-US" dirty="0" err="1"/>
              <a:t>Conceptualisation</a:t>
            </a:r>
            <a:endParaRPr lang="en-US" dirty="0"/>
          </a:p>
          <a:p>
            <a:pPr lvl="1"/>
            <a:r>
              <a:rPr lang="en-US" dirty="0"/>
              <a:t>What do we mean by our chosen concept? (Definitions)</a:t>
            </a:r>
          </a:p>
          <a:p>
            <a:pPr lvl="1"/>
            <a:endParaRPr lang="en-US" dirty="0"/>
          </a:p>
          <a:p>
            <a:r>
              <a:rPr lang="en-US" dirty="0" err="1"/>
              <a:t>Operationalisation</a:t>
            </a:r>
            <a:endParaRPr lang="en-US" dirty="0"/>
          </a:p>
          <a:p>
            <a:pPr lvl="1"/>
            <a:r>
              <a:rPr lang="en-US" dirty="0"/>
              <a:t>How would we know our concept when we see it? (Measurement)</a:t>
            </a:r>
          </a:p>
        </p:txBody>
      </p:sp>
      <p:sp>
        <p:nvSpPr>
          <p:cNvPr id="5" name="Slide Number Placeholder 4">
            <a:extLst>
              <a:ext uri="{FF2B5EF4-FFF2-40B4-BE49-F238E27FC236}">
                <a16:creationId xmlns:a16="http://schemas.microsoft.com/office/drawing/2014/main" id="{6E9C9E40-7463-03F6-4569-E044918A5987}"/>
              </a:ext>
            </a:extLst>
          </p:cNvPr>
          <p:cNvSpPr>
            <a:spLocks noGrp="1"/>
          </p:cNvSpPr>
          <p:nvPr>
            <p:ph type="sldNum" sz="quarter" idx="12"/>
          </p:nvPr>
        </p:nvSpPr>
        <p:spPr/>
        <p:txBody>
          <a:bodyPr/>
          <a:lstStyle/>
          <a:p>
            <a:fld id="{372769DB-CAE7-4C85-A9AF-7D4D8DE4CA22}" type="slidenum">
              <a:rPr lang="en-GB" smtClean="0"/>
              <a:t>6</a:t>
            </a:fld>
            <a:endParaRPr lang="en-GB" dirty="0"/>
          </a:p>
        </p:txBody>
      </p:sp>
    </p:spTree>
    <p:extLst>
      <p:ext uri="{BB962C8B-B14F-4D97-AF65-F5344CB8AC3E}">
        <p14:creationId xmlns:p14="http://schemas.microsoft.com/office/powerpoint/2010/main" val="257566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35B8-049E-6FB9-2277-6B40A3A48F7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B56863F-5B23-F8F5-A2DC-4AAEA420CF37}"/>
              </a:ext>
            </a:extLst>
          </p:cNvPr>
          <p:cNvSpPr/>
          <p:nvPr/>
        </p:nvSpPr>
        <p:spPr>
          <a:xfrm>
            <a:off x="0" y="0"/>
            <a:ext cx="12192000" cy="1177047"/>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D229AD3-1C48-66B2-B330-3D0760060A57}"/>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1E0293B1-59CB-43E2-D5B5-81688466D026}"/>
              </a:ext>
            </a:extLst>
          </p:cNvPr>
          <p:cNvSpPr>
            <a:spLocks noGrp="1"/>
          </p:cNvSpPr>
          <p:nvPr>
            <p:ph idx="1"/>
          </p:nvPr>
        </p:nvSpPr>
        <p:spPr>
          <a:xfrm>
            <a:off x="672113" y="1629743"/>
            <a:ext cx="11353800" cy="4596395"/>
          </a:xfrm>
        </p:spPr>
        <p:txBody>
          <a:bodyPr>
            <a:normAutofit fontScale="85000" lnSpcReduction="20000"/>
          </a:bodyPr>
          <a:lstStyle/>
          <a:p>
            <a:r>
              <a:rPr lang="en-US" sz="4200" dirty="0"/>
              <a:t>Hypotheses</a:t>
            </a:r>
          </a:p>
          <a:p>
            <a:pPr lvl="1"/>
            <a:r>
              <a:rPr lang="en-US" sz="3300" dirty="0"/>
              <a:t>Expected relationships between our concepts, based on our theoretical assumptions</a:t>
            </a:r>
          </a:p>
          <a:p>
            <a:pPr lvl="1"/>
            <a:r>
              <a:rPr lang="en-US" sz="3300" dirty="0"/>
              <a:t>What patterns would we expect to find in our data if our theory was correct?</a:t>
            </a:r>
          </a:p>
          <a:p>
            <a:pPr lvl="1"/>
            <a:endParaRPr lang="en-US" sz="3300" dirty="0"/>
          </a:p>
          <a:p>
            <a:r>
              <a:rPr lang="en-US" sz="4200" dirty="0"/>
              <a:t>Inductive research</a:t>
            </a:r>
          </a:p>
          <a:p>
            <a:pPr marL="457200" lvl="1" indent="0">
              <a:buNone/>
            </a:pPr>
            <a:r>
              <a:rPr lang="en-US" sz="3300" dirty="0"/>
              <a:t>- Theory generation, starts with data, then theory</a:t>
            </a:r>
          </a:p>
          <a:p>
            <a:pPr marL="457200" lvl="1" indent="0">
              <a:buNone/>
            </a:pPr>
            <a:endParaRPr lang="en-US" sz="3300" dirty="0"/>
          </a:p>
          <a:p>
            <a:r>
              <a:rPr lang="en-US" sz="4200" dirty="0"/>
              <a:t>Deductive research</a:t>
            </a:r>
          </a:p>
          <a:p>
            <a:pPr marL="457200" lvl="1" indent="0">
              <a:buNone/>
            </a:pPr>
            <a:r>
              <a:rPr lang="en-US" sz="3300" dirty="0"/>
              <a:t>- Theory testing, starts with theory, then data</a:t>
            </a:r>
          </a:p>
          <a:p>
            <a:pPr marL="0"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p:txBody>
      </p:sp>
      <p:sp>
        <p:nvSpPr>
          <p:cNvPr id="5" name="Slide Number Placeholder 4">
            <a:extLst>
              <a:ext uri="{FF2B5EF4-FFF2-40B4-BE49-F238E27FC236}">
                <a16:creationId xmlns:a16="http://schemas.microsoft.com/office/drawing/2014/main" id="{34A998CC-3B2B-0BC4-37AD-3BD44BD13913}"/>
              </a:ext>
            </a:extLst>
          </p:cNvPr>
          <p:cNvSpPr>
            <a:spLocks noGrp="1"/>
          </p:cNvSpPr>
          <p:nvPr>
            <p:ph type="sldNum" sz="quarter" idx="12"/>
          </p:nvPr>
        </p:nvSpPr>
        <p:spPr/>
        <p:txBody>
          <a:bodyPr/>
          <a:lstStyle/>
          <a:p>
            <a:fld id="{372769DB-CAE7-4C85-A9AF-7D4D8DE4CA22}" type="slidenum">
              <a:rPr lang="en-GB" smtClean="0"/>
              <a:t>7</a:t>
            </a:fld>
            <a:endParaRPr lang="en-GB" dirty="0"/>
          </a:p>
        </p:txBody>
      </p:sp>
    </p:spTree>
    <p:extLst>
      <p:ext uri="{BB962C8B-B14F-4D97-AF65-F5344CB8AC3E}">
        <p14:creationId xmlns:p14="http://schemas.microsoft.com/office/powerpoint/2010/main" val="35069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What we will cover</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p:txBody>
          <a:bodyPr>
            <a:normAutofit/>
          </a:bodyPr>
          <a:lstStyle/>
          <a:p>
            <a:r>
              <a:rPr lang="en-GB" dirty="0"/>
              <a:t>What is a literature review?</a:t>
            </a:r>
          </a:p>
          <a:p>
            <a:r>
              <a:rPr lang="en-GB" dirty="0"/>
              <a:t>Why do we conduct literature reviews?</a:t>
            </a:r>
          </a:p>
          <a:p>
            <a:r>
              <a:rPr lang="en-GB" dirty="0"/>
              <a:t>What do we mean by the ‘literature’?</a:t>
            </a:r>
          </a:p>
          <a:p>
            <a:r>
              <a:rPr lang="en-GB" dirty="0"/>
              <a:t>How do we conduct a literature review?</a:t>
            </a:r>
          </a:p>
          <a:p>
            <a:r>
              <a:rPr lang="en-GB" dirty="0"/>
              <a:t>Reading critically</a:t>
            </a:r>
          </a:p>
          <a:p>
            <a:r>
              <a:rPr lang="en-GB" dirty="0"/>
              <a:t>Assessment guidance</a:t>
            </a:r>
          </a:p>
          <a:p>
            <a:endParaRPr lang="en-GB" dirty="0"/>
          </a:p>
        </p:txBody>
      </p:sp>
    </p:spTree>
    <p:extLst>
      <p:ext uri="{BB962C8B-B14F-4D97-AF65-F5344CB8AC3E}">
        <p14:creationId xmlns:p14="http://schemas.microsoft.com/office/powerpoint/2010/main" val="3796173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17B454F2-ADD0-2801-7308-1D6CC28A46E5}"/>
              </a:ext>
            </a:extLst>
          </p:cNvPr>
          <p:cNvGrpSpPr/>
          <p:nvPr/>
        </p:nvGrpSpPr>
        <p:grpSpPr>
          <a:xfrm>
            <a:off x="3574508" y="1485151"/>
            <a:ext cx="4420128" cy="758373"/>
            <a:chOff x="822960" y="1950720"/>
            <a:chExt cx="1486530" cy="1239520"/>
          </a:xfrm>
        </p:grpSpPr>
        <p:sp>
          <p:nvSpPr>
            <p:cNvPr id="23" name="Rectangle: Rounded Corners 22">
              <a:extLst>
                <a:ext uri="{FF2B5EF4-FFF2-40B4-BE49-F238E27FC236}">
                  <a16:creationId xmlns:a16="http://schemas.microsoft.com/office/drawing/2014/main" id="{985D37E0-ADCD-AF6D-2352-61A7063E2C54}"/>
                </a:ext>
              </a:extLst>
            </p:cNvPr>
            <p:cNvSpPr/>
            <p:nvPr/>
          </p:nvSpPr>
          <p:spPr>
            <a:xfrm>
              <a:off x="822960" y="1950720"/>
              <a:ext cx="1483360" cy="1239520"/>
            </a:xfrm>
            <a:prstGeom prst="roundRect">
              <a:avLst/>
            </a:prstGeom>
            <a:solidFill>
              <a:srgbClr val="0070C0"/>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0D0EB022-A7D5-F406-116C-4D0740E8C179}"/>
                </a:ext>
              </a:extLst>
            </p:cNvPr>
            <p:cNvSpPr txBox="1"/>
            <p:nvPr/>
          </p:nvSpPr>
          <p:spPr>
            <a:xfrm>
              <a:off x="826130" y="2216537"/>
              <a:ext cx="1483360" cy="754567"/>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Research Questions</a:t>
              </a:r>
            </a:p>
          </p:txBody>
        </p:sp>
      </p:grpSp>
      <p:grpSp>
        <p:nvGrpSpPr>
          <p:cNvPr id="25" name="Group 24">
            <a:extLst>
              <a:ext uri="{FF2B5EF4-FFF2-40B4-BE49-F238E27FC236}">
                <a16:creationId xmlns:a16="http://schemas.microsoft.com/office/drawing/2014/main" id="{97BDB708-BF3B-CD5D-3F8F-0766FE37258B}"/>
              </a:ext>
            </a:extLst>
          </p:cNvPr>
          <p:cNvGrpSpPr/>
          <p:nvPr/>
        </p:nvGrpSpPr>
        <p:grpSpPr>
          <a:xfrm>
            <a:off x="3587006" y="2502143"/>
            <a:ext cx="4425236" cy="742869"/>
            <a:chOff x="3007360" y="1950720"/>
            <a:chExt cx="1493520" cy="1239520"/>
          </a:xfrm>
          <a:solidFill>
            <a:srgbClr val="01A08A"/>
          </a:solidFill>
        </p:grpSpPr>
        <p:sp>
          <p:nvSpPr>
            <p:cNvPr id="26" name="Rectangle: Rounded Corners 25">
              <a:extLst>
                <a:ext uri="{FF2B5EF4-FFF2-40B4-BE49-F238E27FC236}">
                  <a16:creationId xmlns:a16="http://schemas.microsoft.com/office/drawing/2014/main" id="{F67818EA-E963-5E9E-E2DA-597F79463020}"/>
                </a:ext>
              </a:extLst>
            </p:cNvPr>
            <p:cNvSpPr/>
            <p:nvPr/>
          </p:nvSpPr>
          <p:spPr>
            <a:xfrm>
              <a:off x="3017520" y="1950720"/>
              <a:ext cx="1483360" cy="1239520"/>
            </a:xfrm>
            <a:prstGeom prst="roundRect">
              <a:avLst/>
            </a:prstGeom>
            <a:grp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TextBox 26">
              <a:extLst>
                <a:ext uri="{FF2B5EF4-FFF2-40B4-BE49-F238E27FC236}">
                  <a16:creationId xmlns:a16="http://schemas.microsoft.com/office/drawing/2014/main" id="{C9BC8D9C-923E-B3EF-8C3A-CFDA211821A2}"/>
                </a:ext>
              </a:extLst>
            </p:cNvPr>
            <p:cNvSpPr txBox="1"/>
            <p:nvPr/>
          </p:nvSpPr>
          <p:spPr>
            <a:xfrm>
              <a:off x="3007360" y="2216536"/>
              <a:ext cx="1483360" cy="770315"/>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Literature Review</a:t>
              </a:r>
            </a:p>
          </p:txBody>
        </p:sp>
      </p:grpSp>
      <p:grpSp>
        <p:nvGrpSpPr>
          <p:cNvPr id="28" name="Group 27">
            <a:extLst>
              <a:ext uri="{FF2B5EF4-FFF2-40B4-BE49-F238E27FC236}">
                <a16:creationId xmlns:a16="http://schemas.microsoft.com/office/drawing/2014/main" id="{DC59CC2F-1D13-8EDC-3845-69F0E028BB57}"/>
              </a:ext>
            </a:extLst>
          </p:cNvPr>
          <p:cNvGrpSpPr/>
          <p:nvPr/>
        </p:nvGrpSpPr>
        <p:grpSpPr>
          <a:xfrm>
            <a:off x="3587006" y="3491264"/>
            <a:ext cx="4350692" cy="758372"/>
            <a:chOff x="4897120" y="1950720"/>
            <a:chExt cx="1483360" cy="1239520"/>
          </a:xfrm>
          <a:solidFill>
            <a:srgbClr val="F7AA58"/>
          </a:solidFill>
        </p:grpSpPr>
        <p:sp>
          <p:nvSpPr>
            <p:cNvPr id="29" name="Rectangle: Rounded Corners 28">
              <a:extLst>
                <a:ext uri="{FF2B5EF4-FFF2-40B4-BE49-F238E27FC236}">
                  <a16:creationId xmlns:a16="http://schemas.microsoft.com/office/drawing/2014/main" id="{61D3BA0A-7498-0872-9162-885AA39CF886}"/>
                </a:ext>
              </a:extLst>
            </p:cNvPr>
            <p:cNvSpPr/>
            <p:nvPr/>
          </p:nvSpPr>
          <p:spPr>
            <a:xfrm>
              <a:off x="4897120" y="1950720"/>
              <a:ext cx="1483360" cy="1239520"/>
            </a:xfrm>
            <a:prstGeom prst="roundRect">
              <a:avLst/>
            </a:prstGeom>
            <a:solidFill>
              <a:srgbClr val="E76254"/>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TextBox 29">
              <a:extLst>
                <a:ext uri="{FF2B5EF4-FFF2-40B4-BE49-F238E27FC236}">
                  <a16:creationId xmlns:a16="http://schemas.microsoft.com/office/drawing/2014/main" id="{4DFBE331-3D2C-9E46-D38A-00069DDC76B8}"/>
                </a:ext>
              </a:extLst>
            </p:cNvPr>
            <p:cNvSpPr txBox="1"/>
            <p:nvPr/>
          </p:nvSpPr>
          <p:spPr>
            <a:xfrm>
              <a:off x="4897120" y="2216537"/>
              <a:ext cx="1483360" cy="754568"/>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Theory</a:t>
              </a:r>
            </a:p>
          </p:txBody>
        </p:sp>
      </p:grpSp>
      <p:grpSp>
        <p:nvGrpSpPr>
          <p:cNvPr id="31" name="Group 30">
            <a:extLst>
              <a:ext uri="{FF2B5EF4-FFF2-40B4-BE49-F238E27FC236}">
                <a16:creationId xmlns:a16="http://schemas.microsoft.com/office/drawing/2014/main" id="{D3776F3E-42C0-E779-9503-5A4C6AEFB818}"/>
              </a:ext>
            </a:extLst>
          </p:cNvPr>
          <p:cNvGrpSpPr/>
          <p:nvPr/>
        </p:nvGrpSpPr>
        <p:grpSpPr>
          <a:xfrm>
            <a:off x="3587106" y="4484836"/>
            <a:ext cx="4380696" cy="733538"/>
            <a:chOff x="3261360" y="4003040"/>
            <a:chExt cx="1483360" cy="1239520"/>
          </a:xfrm>
          <a:noFill/>
        </p:grpSpPr>
        <p:sp>
          <p:nvSpPr>
            <p:cNvPr id="32" name="Rectangle: Rounded Corners 31">
              <a:extLst>
                <a:ext uri="{FF2B5EF4-FFF2-40B4-BE49-F238E27FC236}">
                  <a16:creationId xmlns:a16="http://schemas.microsoft.com/office/drawing/2014/main" id="{7768BD3E-580C-B519-62AA-54BF4F867955}"/>
                </a:ext>
              </a:extLst>
            </p:cNvPr>
            <p:cNvSpPr/>
            <p:nvPr/>
          </p:nvSpPr>
          <p:spPr>
            <a:xfrm>
              <a:off x="3261360" y="4003040"/>
              <a:ext cx="1483360" cy="1239520"/>
            </a:xfrm>
            <a:prstGeom prst="roundRect">
              <a:avLst/>
            </a:prstGeom>
            <a:solidFill>
              <a:srgbClr val="F7AA58"/>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TextBox 32">
              <a:extLst>
                <a:ext uri="{FF2B5EF4-FFF2-40B4-BE49-F238E27FC236}">
                  <a16:creationId xmlns:a16="http://schemas.microsoft.com/office/drawing/2014/main" id="{AF376EBE-80C1-3D41-8372-EC6C5B65E4C1}"/>
                </a:ext>
              </a:extLst>
            </p:cNvPr>
            <p:cNvSpPr txBox="1"/>
            <p:nvPr/>
          </p:nvSpPr>
          <p:spPr>
            <a:xfrm>
              <a:off x="3261360" y="4268856"/>
              <a:ext cx="1483360" cy="780113"/>
            </a:xfrm>
            <a:prstGeom prst="rect">
              <a:avLst/>
            </a:prstGeom>
            <a:grpFill/>
          </p:spPr>
          <p:txBody>
            <a:bodyPr wrap="square" rtlCol="0">
              <a:spAutoFit/>
            </a:bodyPr>
            <a:lstStyle/>
            <a:p>
              <a:pPr algn="ctr"/>
              <a:r>
                <a:rPr lang="en-GB" sz="2400" dirty="0">
                  <a:solidFill>
                    <a:schemeClr val="bg1"/>
                  </a:solidFill>
                  <a:latin typeface="Franklin Gothic Demi" panose="020B0703020102020204" pitchFamily="34" charset="0"/>
                </a:rPr>
                <a:t>Data Collection &amp; Analysis</a:t>
              </a:r>
            </a:p>
          </p:txBody>
        </p:sp>
      </p:grpSp>
      <p:grpSp>
        <p:nvGrpSpPr>
          <p:cNvPr id="37" name="Group 36">
            <a:extLst>
              <a:ext uri="{FF2B5EF4-FFF2-40B4-BE49-F238E27FC236}">
                <a16:creationId xmlns:a16="http://schemas.microsoft.com/office/drawing/2014/main" id="{377A6DC0-F900-0A52-0363-8F9F1594D4CC}"/>
              </a:ext>
            </a:extLst>
          </p:cNvPr>
          <p:cNvGrpSpPr/>
          <p:nvPr/>
        </p:nvGrpSpPr>
        <p:grpSpPr>
          <a:xfrm>
            <a:off x="3572104" y="5497376"/>
            <a:ext cx="4366162" cy="758371"/>
            <a:chOff x="7317923" y="4822855"/>
            <a:chExt cx="1483360" cy="1239520"/>
          </a:xfrm>
        </p:grpSpPr>
        <p:sp>
          <p:nvSpPr>
            <p:cNvPr id="38" name="Rectangle: Rounded Corners 37">
              <a:extLst>
                <a:ext uri="{FF2B5EF4-FFF2-40B4-BE49-F238E27FC236}">
                  <a16:creationId xmlns:a16="http://schemas.microsoft.com/office/drawing/2014/main" id="{22DDB6F1-4914-43E2-B540-A1EFFB625BC2}"/>
                </a:ext>
              </a:extLst>
            </p:cNvPr>
            <p:cNvSpPr/>
            <p:nvPr/>
          </p:nvSpPr>
          <p:spPr>
            <a:xfrm>
              <a:off x="7317923" y="4822855"/>
              <a:ext cx="1483360" cy="1239520"/>
            </a:xfrm>
            <a:prstGeom prst="roundRect">
              <a:avLst/>
            </a:prstGeom>
            <a:solidFill>
              <a:srgbClr val="B33F62"/>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27101F29-6B55-9AC5-A41A-23B123EF7786}"/>
                </a:ext>
              </a:extLst>
            </p:cNvPr>
            <p:cNvSpPr txBox="1"/>
            <p:nvPr/>
          </p:nvSpPr>
          <p:spPr>
            <a:xfrm>
              <a:off x="7317923" y="5107504"/>
              <a:ext cx="1483360" cy="754569"/>
            </a:xfrm>
            <a:prstGeom prst="rect">
              <a:avLst/>
            </a:prstGeom>
            <a:noFill/>
          </p:spPr>
          <p:txBody>
            <a:bodyPr wrap="square" rtlCol="0">
              <a:spAutoFit/>
            </a:bodyPr>
            <a:lstStyle/>
            <a:p>
              <a:pPr algn="ctr"/>
              <a:r>
                <a:rPr lang="en-GB" sz="2400" dirty="0">
                  <a:solidFill>
                    <a:schemeClr val="bg1"/>
                  </a:solidFill>
                  <a:latin typeface="Franklin Gothic Demi" panose="020B0703020102020204" pitchFamily="34" charset="0"/>
                </a:rPr>
                <a:t>Report Results</a:t>
              </a:r>
            </a:p>
          </p:txBody>
        </p:sp>
      </p:grpSp>
      <p:sp>
        <p:nvSpPr>
          <p:cNvPr id="4" name="TextBox 3">
            <a:extLst>
              <a:ext uri="{FF2B5EF4-FFF2-40B4-BE49-F238E27FC236}">
                <a16:creationId xmlns:a16="http://schemas.microsoft.com/office/drawing/2014/main" id="{4DB7E357-2910-FD93-7985-62FFBC71E64C}"/>
              </a:ext>
            </a:extLst>
          </p:cNvPr>
          <p:cNvSpPr txBox="1"/>
          <p:nvPr/>
        </p:nvSpPr>
        <p:spPr>
          <a:xfrm>
            <a:off x="593888" y="216279"/>
            <a:ext cx="10661716" cy="769441"/>
          </a:xfrm>
          <a:prstGeom prst="rect">
            <a:avLst/>
          </a:prstGeom>
          <a:noFill/>
        </p:spPr>
        <p:txBody>
          <a:bodyPr wrap="square" rtlCol="0">
            <a:spAutoFit/>
          </a:bodyPr>
          <a:lstStyle/>
          <a:p>
            <a:r>
              <a:rPr lang="en-US" sz="4400" dirty="0">
                <a:latin typeface="Gill Sans MT" panose="020B0502020104020203" pitchFamily="34" charset="0"/>
              </a:rPr>
              <a:t>Example s</a:t>
            </a:r>
            <a:r>
              <a:rPr lang="en-GB" sz="4400" dirty="0" err="1">
                <a:latin typeface="Gill Sans MT" panose="020B0502020104020203" pitchFamily="34" charset="0"/>
              </a:rPr>
              <a:t>tages</a:t>
            </a:r>
            <a:r>
              <a:rPr lang="en-GB" sz="4400" dirty="0">
                <a:latin typeface="Gill Sans MT" panose="020B0502020104020203" pitchFamily="34" charset="0"/>
              </a:rPr>
              <a:t> of a research project</a:t>
            </a:r>
          </a:p>
        </p:txBody>
      </p:sp>
    </p:spTree>
    <p:extLst>
      <p:ext uri="{BB962C8B-B14F-4D97-AF65-F5344CB8AC3E}">
        <p14:creationId xmlns:p14="http://schemas.microsoft.com/office/powerpoint/2010/main" val="3716929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3D9A-B968-5A4D-6FBC-C7DFBBF5E77A}"/>
              </a:ext>
            </a:extLst>
          </p:cNvPr>
          <p:cNvSpPr>
            <a:spLocks noGrp="1"/>
          </p:cNvSpPr>
          <p:nvPr>
            <p:ph type="title"/>
          </p:nvPr>
        </p:nvSpPr>
        <p:spPr/>
        <p:txBody>
          <a:bodyPr/>
          <a:lstStyle/>
          <a:p>
            <a:r>
              <a:rPr lang="en-GB" dirty="0"/>
              <a:t>What is a literature review?</a:t>
            </a:r>
          </a:p>
        </p:txBody>
      </p:sp>
      <p:sp>
        <p:nvSpPr>
          <p:cNvPr id="3" name="Content Placeholder 2">
            <a:extLst>
              <a:ext uri="{FF2B5EF4-FFF2-40B4-BE49-F238E27FC236}">
                <a16:creationId xmlns:a16="http://schemas.microsoft.com/office/drawing/2014/main" id="{253131BC-2362-0C1D-4F13-2A3C7A96449F}"/>
              </a:ext>
            </a:extLst>
          </p:cNvPr>
          <p:cNvSpPr>
            <a:spLocks noGrp="1"/>
          </p:cNvSpPr>
          <p:nvPr>
            <p:ph idx="1"/>
          </p:nvPr>
        </p:nvSpPr>
        <p:spPr>
          <a:xfrm>
            <a:off x="324255" y="1641513"/>
            <a:ext cx="11543490" cy="4847422"/>
          </a:xfrm>
        </p:spPr>
        <p:txBody>
          <a:bodyPr>
            <a:noAutofit/>
          </a:bodyPr>
          <a:lstStyle/>
          <a:p>
            <a:pPr marL="0" indent="0">
              <a:lnSpc>
                <a:spcPct val="120000"/>
              </a:lnSpc>
              <a:buNone/>
            </a:pPr>
            <a:r>
              <a:rPr lang="en-GB" sz="3200" b="1" dirty="0"/>
              <a:t>A piece of academic writing that addresses:</a:t>
            </a:r>
          </a:p>
          <a:p>
            <a:pPr>
              <a:lnSpc>
                <a:spcPct val="120000"/>
              </a:lnSpc>
            </a:pPr>
            <a:r>
              <a:rPr lang="en-GB" sz="3200" dirty="0"/>
              <a:t>What research has already been conducted on your topic?</a:t>
            </a:r>
          </a:p>
          <a:p>
            <a:pPr>
              <a:lnSpc>
                <a:spcPct val="120000"/>
              </a:lnSpc>
            </a:pPr>
            <a:r>
              <a:rPr lang="en-GB" sz="3200" dirty="0"/>
              <a:t>What answers have been offered regarding your research question?</a:t>
            </a:r>
          </a:p>
          <a:p>
            <a:pPr>
              <a:lnSpc>
                <a:spcPct val="120000"/>
              </a:lnSpc>
            </a:pPr>
            <a:r>
              <a:rPr lang="en-GB" sz="3200" dirty="0"/>
              <a:t>How does your project fit into what has already been discovered?</a:t>
            </a:r>
          </a:p>
          <a:p>
            <a:pPr marL="0" indent="0">
              <a:lnSpc>
                <a:spcPct val="120000"/>
              </a:lnSpc>
              <a:buNone/>
            </a:pPr>
            <a:endParaRPr lang="en-GB" sz="2400" dirty="0"/>
          </a:p>
          <a:p>
            <a:pPr marL="0" indent="0">
              <a:lnSpc>
                <a:spcPct val="120000"/>
              </a:lnSpc>
              <a:buNone/>
            </a:pPr>
            <a:r>
              <a:rPr lang="en-GB" sz="3200" b="1" dirty="0"/>
              <a:t>Not an essay!</a:t>
            </a:r>
          </a:p>
          <a:p>
            <a:pPr>
              <a:lnSpc>
                <a:spcPct val="120000"/>
              </a:lnSpc>
            </a:pPr>
            <a:r>
              <a:rPr lang="en-GB" sz="2400" dirty="0"/>
              <a:t>Identifying relevant studies; summarising and critically evaluating sources; arguing how we can build on this existing work</a:t>
            </a:r>
          </a:p>
        </p:txBody>
      </p:sp>
    </p:spTree>
    <p:extLst>
      <p:ext uri="{BB962C8B-B14F-4D97-AF65-F5344CB8AC3E}">
        <p14:creationId xmlns:p14="http://schemas.microsoft.com/office/powerpoint/2010/main" val="134156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3D9A-B968-5A4D-6FBC-C7DFBBF5E77A}"/>
              </a:ext>
            </a:extLst>
          </p:cNvPr>
          <p:cNvSpPr>
            <a:spLocks noGrp="1"/>
          </p:cNvSpPr>
          <p:nvPr>
            <p:ph type="title"/>
          </p:nvPr>
        </p:nvSpPr>
        <p:spPr/>
        <p:txBody>
          <a:bodyPr/>
          <a:lstStyle/>
          <a:p>
            <a:r>
              <a:rPr lang="en-GB" dirty="0"/>
              <a:t>Why do we conduct lit reviews?</a:t>
            </a:r>
          </a:p>
        </p:txBody>
      </p:sp>
      <p:sp>
        <p:nvSpPr>
          <p:cNvPr id="3" name="Content Placeholder 2">
            <a:extLst>
              <a:ext uri="{FF2B5EF4-FFF2-40B4-BE49-F238E27FC236}">
                <a16:creationId xmlns:a16="http://schemas.microsoft.com/office/drawing/2014/main" id="{253131BC-2362-0C1D-4F13-2A3C7A96449F}"/>
              </a:ext>
            </a:extLst>
          </p:cNvPr>
          <p:cNvSpPr>
            <a:spLocks noGrp="1"/>
          </p:cNvSpPr>
          <p:nvPr>
            <p:ph idx="1"/>
          </p:nvPr>
        </p:nvSpPr>
        <p:spPr>
          <a:xfrm>
            <a:off x="838200" y="1825625"/>
            <a:ext cx="10515600" cy="4421064"/>
          </a:xfrm>
        </p:spPr>
        <p:txBody>
          <a:bodyPr>
            <a:normAutofit fontScale="92500" lnSpcReduction="20000"/>
          </a:bodyPr>
          <a:lstStyle/>
          <a:p>
            <a:r>
              <a:rPr lang="en-GB" dirty="0"/>
              <a:t>Contextualise our work within broader academic knowledge of the field </a:t>
            </a:r>
          </a:p>
          <a:p>
            <a:endParaRPr lang="en-GB" dirty="0"/>
          </a:p>
          <a:p>
            <a:r>
              <a:rPr lang="en-GB" dirty="0"/>
              <a:t>Identify understudied areas within the field</a:t>
            </a:r>
          </a:p>
          <a:p>
            <a:endParaRPr lang="en-GB" dirty="0"/>
          </a:p>
          <a:p>
            <a:r>
              <a:rPr lang="en-GB" dirty="0"/>
              <a:t>Help focus our research questions</a:t>
            </a:r>
          </a:p>
          <a:p>
            <a:endParaRPr lang="en-GB" dirty="0"/>
          </a:p>
          <a:p>
            <a:r>
              <a:rPr lang="en-GB" dirty="0"/>
              <a:t>Get familiar with relevant theory/methods</a:t>
            </a:r>
          </a:p>
        </p:txBody>
      </p:sp>
    </p:spTree>
    <p:extLst>
      <p:ext uri="{BB962C8B-B14F-4D97-AF65-F5344CB8AC3E}">
        <p14:creationId xmlns:p14="http://schemas.microsoft.com/office/powerpoint/2010/main" val="226036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17B454F2-ADD0-2801-7308-1D6CC28A46E5}"/>
              </a:ext>
            </a:extLst>
          </p:cNvPr>
          <p:cNvGrpSpPr/>
          <p:nvPr/>
        </p:nvGrpSpPr>
        <p:grpSpPr>
          <a:xfrm>
            <a:off x="1066978" y="1467597"/>
            <a:ext cx="3369454" cy="714890"/>
            <a:chOff x="822960" y="1950720"/>
            <a:chExt cx="1486530" cy="1239520"/>
          </a:xfrm>
        </p:grpSpPr>
        <p:sp>
          <p:nvSpPr>
            <p:cNvPr id="23" name="Rectangle: Rounded Corners 22">
              <a:extLst>
                <a:ext uri="{FF2B5EF4-FFF2-40B4-BE49-F238E27FC236}">
                  <a16:creationId xmlns:a16="http://schemas.microsoft.com/office/drawing/2014/main" id="{985D37E0-ADCD-AF6D-2352-61A7063E2C54}"/>
                </a:ext>
              </a:extLst>
            </p:cNvPr>
            <p:cNvSpPr/>
            <p:nvPr/>
          </p:nvSpPr>
          <p:spPr>
            <a:xfrm>
              <a:off x="822960" y="1950720"/>
              <a:ext cx="1483360" cy="1239520"/>
            </a:xfrm>
            <a:prstGeom prst="roundRect">
              <a:avLst/>
            </a:prstGeom>
            <a:solidFill>
              <a:srgbClr val="0070C0"/>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4" name="TextBox 23">
              <a:extLst>
                <a:ext uri="{FF2B5EF4-FFF2-40B4-BE49-F238E27FC236}">
                  <a16:creationId xmlns:a16="http://schemas.microsoft.com/office/drawing/2014/main" id="{0D0EB022-A7D5-F406-116C-4D0740E8C179}"/>
                </a:ext>
              </a:extLst>
            </p:cNvPr>
            <p:cNvSpPr txBox="1"/>
            <p:nvPr/>
          </p:nvSpPr>
          <p:spPr>
            <a:xfrm>
              <a:off x="826130" y="2216537"/>
              <a:ext cx="1483360" cy="603653"/>
            </a:xfrm>
            <a:prstGeom prst="rect">
              <a:avLst/>
            </a:prstGeom>
            <a:noFill/>
          </p:spPr>
          <p:txBody>
            <a:bodyPr wrap="square" rtlCol="0">
              <a:spAutoFit/>
            </a:bodyPr>
            <a:lstStyle/>
            <a:p>
              <a:pPr algn="ctr"/>
              <a:r>
                <a:rPr lang="en-GB" dirty="0">
                  <a:solidFill>
                    <a:schemeClr val="bg1"/>
                  </a:solidFill>
                  <a:latin typeface="Franklin Gothic Demi" panose="020B0703020102020204" pitchFamily="34" charset="0"/>
                </a:rPr>
                <a:t>Research Questions</a:t>
              </a:r>
            </a:p>
          </p:txBody>
        </p:sp>
      </p:grpSp>
      <p:grpSp>
        <p:nvGrpSpPr>
          <p:cNvPr id="25" name="Group 24">
            <a:extLst>
              <a:ext uri="{FF2B5EF4-FFF2-40B4-BE49-F238E27FC236}">
                <a16:creationId xmlns:a16="http://schemas.microsoft.com/office/drawing/2014/main" id="{97BDB708-BF3B-CD5D-3F8F-0766FE37258B}"/>
              </a:ext>
            </a:extLst>
          </p:cNvPr>
          <p:cNvGrpSpPr/>
          <p:nvPr/>
        </p:nvGrpSpPr>
        <p:grpSpPr>
          <a:xfrm>
            <a:off x="1079476" y="2484588"/>
            <a:ext cx="3373348" cy="700275"/>
            <a:chOff x="3007360" y="1950720"/>
            <a:chExt cx="1493520" cy="1239520"/>
          </a:xfrm>
          <a:solidFill>
            <a:srgbClr val="01A08A"/>
          </a:solidFill>
        </p:grpSpPr>
        <p:sp>
          <p:nvSpPr>
            <p:cNvPr id="26" name="Rectangle: Rounded Corners 25">
              <a:extLst>
                <a:ext uri="{FF2B5EF4-FFF2-40B4-BE49-F238E27FC236}">
                  <a16:creationId xmlns:a16="http://schemas.microsoft.com/office/drawing/2014/main" id="{F67818EA-E963-5E9E-E2DA-597F79463020}"/>
                </a:ext>
              </a:extLst>
            </p:cNvPr>
            <p:cNvSpPr/>
            <p:nvPr/>
          </p:nvSpPr>
          <p:spPr>
            <a:xfrm>
              <a:off x="3017520" y="1950720"/>
              <a:ext cx="1483360" cy="1239520"/>
            </a:xfrm>
            <a:prstGeom prst="roundRect">
              <a:avLst/>
            </a:prstGeom>
            <a:grp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7" name="TextBox 26">
              <a:extLst>
                <a:ext uri="{FF2B5EF4-FFF2-40B4-BE49-F238E27FC236}">
                  <a16:creationId xmlns:a16="http://schemas.microsoft.com/office/drawing/2014/main" id="{C9BC8D9C-923E-B3EF-8C3A-CFDA211821A2}"/>
                </a:ext>
              </a:extLst>
            </p:cNvPr>
            <p:cNvSpPr txBox="1"/>
            <p:nvPr/>
          </p:nvSpPr>
          <p:spPr>
            <a:xfrm>
              <a:off x="3007360" y="2216536"/>
              <a:ext cx="1483360" cy="616252"/>
            </a:xfrm>
            <a:prstGeom prst="rect">
              <a:avLst/>
            </a:prstGeom>
            <a:noFill/>
          </p:spPr>
          <p:txBody>
            <a:bodyPr wrap="square" rtlCol="0">
              <a:spAutoFit/>
            </a:bodyPr>
            <a:lstStyle/>
            <a:p>
              <a:pPr algn="ctr"/>
              <a:r>
                <a:rPr lang="en-GB" dirty="0">
                  <a:solidFill>
                    <a:schemeClr val="bg1"/>
                  </a:solidFill>
                  <a:latin typeface="Franklin Gothic Demi" panose="020B0703020102020204" pitchFamily="34" charset="0"/>
                </a:rPr>
                <a:t>Literature Review</a:t>
              </a:r>
            </a:p>
          </p:txBody>
        </p:sp>
      </p:grpSp>
      <p:grpSp>
        <p:nvGrpSpPr>
          <p:cNvPr id="28" name="Group 27">
            <a:extLst>
              <a:ext uri="{FF2B5EF4-FFF2-40B4-BE49-F238E27FC236}">
                <a16:creationId xmlns:a16="http://schemas.microsoft.com/office/drawing/2014/main" id="{DC59CC2F-1D13-8EDC-3845-69F0E028BB57}"/>
              </a:ext>
            </a:extLst>
          </p:cNvPr>
          <p:cNvGrpSpPr/>
          <p:nvPr/>
        </p:nvGrpSpPr>
        <p:grpSpPr>
          <a:xfrm>
            <a:off x="1079476" y="3473709"/>
            <a:ext cx="3316523" cy="714889"/>
            <a:chOff x="4897120" y="1950720"/>
            <a:chExt cx="1483360" cy="1239520"/>
          </a:xfrm>
          <a:solidFill>
            <a:srgbClr val="F7AA58"/>
          </a:solidFill>
        </p:grpSpPr>
        <p:sp>
          <p:nvSpPr>
            <p:cNvPr id="29" name="Rectangle: Rounded Corners 28">
              <a:extLst>
                <a:ext uri="{FF2B5EF4-FFF2-40B4-BE49-F238E27FC236}">
                  <a16:creationId xmlns:a16="http://schemas.microsoft.com/office/drawing/2014/main" id="{61D3BA0A-7498-0872-9162-885AA39CF886}"/>
                </a:ext>
              </a:extLst>
            </p:cNvPr>
            <p:cNvSpPr/>
            <p:nvPr/>
          </p:nvSpPr>
          <p:spPr>
            <a:xfrm>
              <a:off x="4897120" y="1950720"/>
              <a:ext cx="1483360" cy="1239520"/>
            </a:xfrm>
            <a:prstGeom prst="roundRect">
              <a:avLst/>
            </a:prstGeom>
            <a:solidFill>
              <a:srgbClr val="E76254"/>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0" name="TextBox 29">
              <a:extLst>
                <a:ext uri="{FF2B5EF4-FFF2-40B4-BE49-F238E27FC236}">
                  <a16:creationId xmlns:a16="http://schemas.microsoft.com/office/drawing/2014/main" id="{4DFBE331-3D2C-9E46-D38A-00069DDC76B8}"/>
                </a:ext>
              </a:extLst>
            </p:cNvPr>
            <p:cNvSpPr txBox="1"/>
            <p:nvPr/>
          </p:nvSpPr>
          <p:spPr>
            <a:xfrm>
              <a:off x="4897120" y="2216537"/>
              <a:ext cx="1483360" cy="603654"/>
            </a:xfrm>
            <a:prstGeom prst="rect">
              <a:avLst/>
            </a:prstGeom>
            <a:noFill/>
          </p:spPr>
          <p:txBody>
            <a:bodyPr wrap="square" rtlCol="0">
              <a:spAutoFit/>
            </a:bodyPr>
            <a:lstStyle/>
            <a:p>
              <a:pPr algn="ctr"/>
              <a:r>
                <a:rPr lang="en-GB" dirty="0">
                  <a:solidFill>
                    <a:schemeClr val="bg1"/>
                  </a:solidFill>
                  <a:latin typeface="Franklin Gothic Demi" panose="020B0703020102020204" pitchFamily="34" charset="0"/>
                </a:rPr>
                <a:t>Theory</a:t>
              </a:r>
            </a:p>
          </p:txBody>
        </p:sp>
      </p:grpSp>
      <p:grpSp>
        <p:nvGrpSpPr>
          <p:cNvPr id="31" name="Group 30">
            <a:extLst>
              <a:ext uri="{FF2B5EF4-FFF2-40B4-BE49-F238E27FC236}">
                <a16:creationId xmlns:a16="http://schemas.microsoft.com/office/drawing/2014/main" id="{D3776F3E-42C0-E779-9503-5A4C6AEFB818}"/>
              </a:ext>
            </a:extLst>
          </p:cNvPr>
          <p:cNvGrpSpPr/>
          <p:nvPr/>
        </p:nvGrpSpPr>
        <p:grpSpPr>
          <a:xfrm>
            <a:off x="1079576" y="4467281"/>
            <a:ext cx="3339395" cy="691479"/>
            <a:chOff x="3261360" y="4003040"/>
            <a:chExt cx="1483360" cy="1239520"/>
          </a:xfrm>
          <a:noFill/>
        </p:grpSpPr>
        <p:sp>
          <p:nvSpPr>
            <p:cNvPr id="32" name="Rectangle: Rounded Corners 31">
              <a:extLst>
                <a:ext uri="{FF2B5EF4-FFF2-40B4-BE49-F238E27FC236}">
                  <a16:creationId xmlns:a16="http://schemas.microsoft.com/office/drawing/2014/main" id="{7768BD3E-580C-B519-62AA-54BF4F867955}"/>
                </a:ext>
              </a:extLst>
            </p:cNvPr>
            <p:cNvSpPr/>
            <p:nvPr/>
          </p:nvSpPr>
          <p:spPr>
            <a:xfrm>
              <a:off x="3261360" y="4003040"/>
              <a:ext cx="1483360" cy="1239520"/>
            </a:xfrm>
            <a:prstGeom prst="roundRect">
              <a:avLst/>
            </a:prstGeom>
            <a:solidFill>
              <a:srgbClr val="F7AA58"/>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3" name="TextBox 32">
              <a:extLst>
                <a:ext uri="{FF2B5EF4-FFF2-40B4-BE49-F238E27FC236}">
                  <a16:creationId xmlns:a16="http://schemas.microsoft.com/office/drawing/2014/main" id="{AF376EBE-80C1-3D41-8372-EC6C5B65E4C1}"/>
                </a:ext>
              </a:extLst>
            </p:cNvPr>
            <p:cNvSpPr txBox="1"/>
            <p:nvPr/>
          </p:nvSpPr>
          <p:spPr>
            <a:xfrm>
              <a:off x="3261360" y="4268856"/>
              <a:ext cx="1483360" cy="624091"/>
            </a:xfrm>
            <a:prstGeom prst="rect">
              <a:avLst/>
            </a:prstGeom>
            <a:grpFill/>
          </p:spPr>
          <p:txBody>
            <a:bodyPr wrap="square" rtlCol="0">
              <a:spAutoFit/>
            </a:bodyPr>
            <a:lstStyle/>
            <a:p>
              <a:pPr algn="ctr"/>
              <a:r>
                <a:rPr lang="en-GB" dirty="0">
                  <a:solidFill>
                    <a:schemeClr val="bg1"/>
                  </a:solidFill>
                  <a:latin typeface="Franklin Gothic Demi" panose="020B0703020102020204" pitchFamily="34" charset="0"/>
                </a:rPr>
                <a:t>Data Collection &amp; Analysis</a:t>
              </a:r>
            </a:p>
          </p:txBody>
        </p:sp>
      </p:grpSp>
      <p:grpSp>
        <p:nvGrpSpPr>
          <p:cNvPr id="37" name="Group 36">
            <a:extLst>
              <a:ext uri="{FF2B5EF4-FFF2-40B4-BE49-F238E27FC236}">
                <a16:creationId xmlns:a16="http://schemas.microsoft.com/office/drawing/2014/main" id="{377A6DC0-F900-0A52-0363-8F9F1594D4CC}"/>
              </a:ext>
            </a:extLst>
          </p:cNvPr>
          <p:cNvGrpSpPr/>
          <p:nvPr/>
        </p:nvGrpSpPr>
        <p:grpSpPr>
          <a:xfrm>
            <a:off x="1064574" y="5479822"/>
            <a:ext cx="3328316" cy="714888"/>
            <a:chOff x="7317923" y="4822855"/>
            <a:chExt cx="1483360" cy="1239520"/>
          </a:xfrm>
        </p:grpSpPr>
        <p:sp>
          <p:nvSpPr>
            <p:cNvPr id="38" name="Rectangle: Rounded Corners 37">
              <a:extLst>
                <a:ext uri="{FF2B5EF4-FFF2-40B4-BE49-F238E27FC236}">
                  <a16:creationId xmlns:a16="http://schemas.microsoft.com/office/drawing/2014/main" id="{22DDB6F1-4914-43E2-B540-A1EFFB625BC2}"/>
                </a:ext>
              </a:extLst>
            </p:cNvPr>
            <p:cNvSpPr/>
            <p:nvPr/>
          </p:nvSpPr>
          <p:spPr>
            <a:xfrm>
              <a:off x="7317923" y="4822855"/>
              <a:ext cx="1483360" cy="1239520"/>
            </a:xfrm>
            <a:prstGeom prst="roundRect">
              <a:avLst/>
            </a:prstGeom>
            <a:solidFill>
              <a:srgbClr val="B33F62"/>
            </a:solidFill>
            <a:ln w="57150">
              <a:solidFill>
                <a:srgbClr val="203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9" name="TextBox 38">
              <a:extLst>
                <a:ext uri="{FF2B5EF4-FFF2-40B4-BE49-F238E27FC236}">
                  <a16:creationId xmlns:a16="http://schemas.microsoft.com/office/drawing/2014/main" id="{27101F29-6B55-9AC5-A41A-23B123EF7786}"/>
                </a:ext>
              </a:extLst>
            </p:cNvPr>
            <p:cNvSpPr txBox="1"/>
            <p:nvPr/>
          </p:nvSpPr>
          <p:spPr>
            <a:xfrm>
              <a:off x="7317923" y="5107504"/>
              <a:ext cx="1483360" cy="603655"/>
            </a:xfrm>
            <a:prstGeom prst="rect">
              <a:avLst/>
            </a:prstGeom>
            <a:noFill/>
          </p:spPr>
          <p:txBody>
            <a:bodyPr wrap="square" rtlCol="0">
              <a:spAutoFit/>
            </a:bodyPr>
            <a:lstStyle/>
            <a:p>
              <a:pPr algn="ctr"/>
              <a:r>
                <a:rPr lang="en-GB" dirty="0">
                  <a:solidFill>
                    <a:schemeClr val="bg1"/>
                  </a:solidFill>
                  <a:latin typeface="Franklin Gothic Demi" panose="020B0703020102020204" pitchFamily="34" charset="0"/>
                </a:rPr>
                <a:t>Report Results</a:t>
              </a:r>
            </a:p>
          </p:txBody>
        </p:sp>
      </p:grpSp>
      <p:sp>
        <p:nvSpPr>
          <p:cNvPr id="4" name="TextBox 3">
            <a:extLst>
              <a:ext uri="{FF2B5EF4-FFF2-40B4-BE49-F238E27FC236}">
                <a16:creationId xmlns:a16="http://schemas.microsoft.com/office/drawing/2014/main" id="{4DB7E357-2910-FD93-7985-62FFBC71E64C}"/>
              </a:ext>
            </a:extLst>
          </p:cNvPr>
          <p:cNvSpPr txBox="1"/>
          <p:nvPr/>
        </p:nvSpPr>
        <p:spPr>
          <a:xfrm>
            <a:off x="-245097" y="480654"/>
            <a:ext cx="5728356" cy="830997"/>
          </a:xfrm>
          <a:prstGeom prst="rect">
            <a:avLst/>
          </a:prstGeom>
          <a:noFill/>
        </p:spPr>
        <p:txBody>
          <a:bodyPr wrap="square" rtlCol="0">
            <a:spAutoFit/>
          </a:bodyPr>
          <a:lstStyle/>
          <a:p>
            <a:pPr algn="ctr"/>
            <a:r>
              <a:rPr lang="en-US" sz="2400" b="1" dirty="0">
                <a:latin typeface="Gill Sans MT" panose="020B0502020104020203" pitchFamily="34" charset="0"/>
              </a:rPr>
              <a:t>Example: </a:t>
            </a:r>
          </a:p>
          <a:p>
            <a:pPr algn="ctr"/>
            <a:r>
              <a:rPr lang="en-US" sz="2400" b="1" dirty="0">
                <a:latin typeface="Gill Sans MT" panose="020B0502020104020203" pitchFamily="34" charset="0"/>
              </a:rPr>
              <a:t>s</a:t>
            </a:r>
            <a:r>
              <a:rPr lang="en-GB" sz="2400" b="1" dirty="0" err="1">
                <a:latin typeface="Gill Sans MT" panose="020B0502020104020203" pitchFamily="34" charset="0"/>
              </a:rPr>
              <a:t>tages</a:t>
            </a:r>
            <a:r>
              <a:rPr lang="en-GB" sz="2400" b="1" dirty="0">
                <a:latin typeface="Gill Sans MT" panose="020B0502020104020203" pitchFamily="34" charset="0"/>
              </a:rPr>
              <a:t> of a research project</a:t>
            </a:r>
          </a:p>
        </p:txBody>
      </p:sp>
      <p:sp>
        <p:nvSpPr>
          <p:cNvPr id="3" name="TextBox 2">
            <a:extLst>
              <a:ext uri="{FF2B5EF4-FFF2-40B4-BE49-F238E27FC236}">
                <a16:creationId xmlns:a16="http://schemas.microsoft.com/office/drawing/2014/main" id="{5D4F299D-9F63-5182-A2DC-B9B495237A28}"/>
              </a:ext>
            </a:extLst>
          </p:cNvPr>
          <p:cNvSpPr txBox="1"/>
          <p:nvPr/>
        </p:nvSpPr>
        <p:spPr>
          <a:xfrm>
            <a:off x="5442408" y="1462702"/>
            <a:ext cx="6633328" cy="4893647"/>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Gill Sans MT" panose="020B0502020104020203" pitchFamily="34" charset="0"/>
              </a:rPr>
              <a:t>What type of research questions have been examined by researchers in your field?</a:t>
            </a:r>
          </a:p>
          <a:p>
            <a:endParaRPr lang="en-GB" sz="2400" dirty="0">
              <a:latin typeface="Gill Sans MT" panose="020B0502020104020203" pitchFamily="34" charset="0"/>
            </a:endParaRPr>
          </a:p>
          <a:p>
            <a:pPr marL="342900" indent="-342900">
              <a:buFont typeface="Arial" panose="020B0604020202020204" pitchFamily="34" charset="0"/>
              <a:buChar char="•"/>
            </a:pPr>
            <a:r>
              <a:rPr lang="en-GB" sz="2400" dirty="0">
                <a:latin typeface="Gill Sans MT" panose="020B0502020104020203" pitchFamily="34" charset="0"/>
              </a:rPr>
              <a:t>What are the main theoretical approaches that have been offered as answers to your question?</a:t>
            </a:r>
          </a:p>
          <a:p>
            <a:pPr marL="342900" indent="-342900">
              <a:buFont typeface="Arial" panose="020B0604020202020204" pitchFamily="34" charset="0"/>
              <a:buChar char="•"/>
            </a:pPr>
            <a:endParaRPr lang="en-GB" sz="2400" dirty="0">
              <a:latin typeface="Gill Sans MT" panose="020B0502020104020203" pitchFamily="34" charset="0"/>
            </a:endParaRPr>
          </a:p>
          <a:p>
            <a:pPr marL="342900" indent="-342900">
              <a:buFont typeface="Arial" panose="020B0604020202020204" pitchFamily="34" charset="0"/>
              <a:buChar char="•"/>
            </a:pPr>
            <a:r>
              <a:rPr lang="en-GB" sz="2400" dirty="0">
                <a:latin typeface="Gill Sans MT" panose="020B0502020104020203" pitchFamily="34" charset="0"/>
              </a:rPr>
              <a:t>How are your key concepts defined in the academic literature?</a:t>
            </a:r>
          </a:p>
          <a:p>
            <a:pPr marL="342900" indent="-342900">
              <a:buFont typeface="Arial" panose="020B0604020202020204" pitchFamily="34" charset="0"/>
              <a:buChar char="•"/>
            </a:pPr>
            <a:endParaRPr lang="en-GB" sz="2400" dirty="0">
              <a:latin typeface="Gill Sans MT" panose="020B0502020104020203" pitchFamily="34" charset="0"/>
            </a:endParaRPr>
          </a:p>
          <a:p>
            <a:pPr marL="342900" indent="-342900">
              <a:buFont typeface="Arial" panose="020B0604020202020204" pitchFamily="34" charset="0"/>
              <a:buChar char="•"/>
            </a:pPr>
            <a:r>
              <a:rPr lang="en-GB" sz="2400" dirty="0">
                <a:latin typeface="Gill Sans MT" panose="020B0502020104020203" pitchFamily="34" charset="0"/>
              </a:rPr>
              <a:t>What type of methods and data have researchers used when studying your topic?</a:t>
            </a:r>
          </a:p>
          <a:p>
            <a:pPr marL="342900" indent="-342900">
              <a:buFont typeface="Arial" panose="020B0604020202020204" pitchFamily="34" charset="0"/>
              <a:buChar char="•"/>
            </a:pPr>
            <a:endParaRPr lang="en-GB" sz="2400" dirty="0">
              <a:latin typeface="Gill Sans MT" panose="020B0502020104020203" pitchFamily="34" charset="0"/>
            </a:endParaRPr>
          </a:p>
          <a:p>
            <a:pPr marL="342900" indent="-342900">
              <a:buFont typeface="Arial" panose="020B0604020202020204" pitchFamily="34" charset="0"/>
              <a:buChar char="•"/>
            </a:pPr>
            <a:r>
              <a:rPr lang="en-GB" sz="2400" dirty="0">
                <a:latin typeface="Gill Sans MT" panose="020B0502020104020203" pitchFamily="34" charset="0"/>
              </a:rPr>
              <a:t>What kinds of cases do they examine?</a:t>
            </a:r>
          </a:p>
        </p:txBody>
      </p:sp>
      <p:sp>
        <p:nvSpPr>
          <p:cNvPr id="5" name="TextBox 4">
            <a:extLst>
              <a:ext uri="{FF2B5EF4-FFF2-40B4-BE49-F238E27FC236}">
                <a16:creationId xmlns:a16="http://schemas.microsoft.com/office/drawing/2014/main" id="{E8C5FBDD-DD09-24A8-74B2-79E9319DA5A9}"/>
              </a:ext>
            </a:extLst>
          </p:cNvPr>
          <p:cNvSpPr txBox="1"/>
          <p:nvPr/>
        </p:nvSpPr>
        <p:spPr>
          <a:xfrm>
            <a:off x="6708742" y="866744"/>
            <a:ext cx="5728356" cy="461665"/>
          </a:xfrm>
          <a:prstGeom prst="rect">
            <a:avLst/>
          </a:prstGeom>
          <a:noFill/>
        </p:spPr>
        <p:txBody>
          <a:bodyPr wrap="square" rtlCol="0">
            <a:spAutoFit/>
          </a:bodyPr>
          <a:lstStyle/>
          <a:p>
            <a:r>
              <a:rPr lang="en-GB" sz="2400" b="1" dirty="0">
                <a:latin typeface="Gill Sans MT" panose="020B0502020104020203" pitchFamily="34" charset="0"/>
              </a:rPr>
              <a:t>Questions to ask yourself</a:t>
            </a:r>
          </a:p>
        </p:txBody>
      </p:sp>
    </p:spTree>
    <p:extLst>
      <p:ext uri="{BB962C8B-B14F-4D97-AF65-F5344CB8AC3E}">
        <p14:creationId xmlns:p14="http://schemas.microsoft.com/office/powerpoint/2010/main" val="253244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A527-BB33-7E9B-1D26-3DA24228DC2F}"/>
              </a:ext>
            </a:extLst>
          </p:cNvPr>
          <p:cNvSpPr>
            <a:spLocks noGrp="1"/>
          </p:cNvSpPr>
          <p:nvPr>
            <p:ph type="title"/>
          </p:nvPr>
        </p:nvSpPr>
        <p:spPr/>
        <p:txBody>
          <a:bodyPr/>
          <a:lstStyle/>
          <a:p>
            <a:r>
              <a:rPr lang="en-GB" dirty="0"/>
              <a:t>What makes up the ‘literature’</a:t>
            </a:r>
          </a:p>
        </p:txBody>
      </p:sp>
      <p:sp>
        <p:nvSpPr>
          <p:cNvPr id="4" name="TextBox 3">
            <a:extLst>
              <a:ext uri="{FF2B5EF4-FFF2-40B4-BE49-F238E27FC236}">
                <a16:creationId xmlns:a16="http://schemas.microsoft.com/office/drawing/2014/main" id="{CA6FFC31-A1DC-C516-1E30-77B38FAEA952}"/>
              </a:ext>
            </a:extLst>
          </p:cNvPr>
          <p:cNvSpPr txBox="1"/>
          <p:nvPr/>
        </p:nvSpPr>
        <p:spPr>
          <a:xfrm>
            <a:off x="639093" y="2743200"/>
            <a:ext cx="11419840" cy="1754326"/>
          </a:xfrm>
          <a:prstGeom prst="rect">
            <a:avLst/>
          </a:prstGeom>
          <a:noFill/>
        </p:spPr>
        <p:txBody>
          <a:bodyPr wrap="square" rtlCol="0">
            <a:spAutoFit/>
          </a:bodyPr>
          <a:lstStyle/>
          <a:p>
            <a:r>
              <a:rPr lang="en-GB" sz="3600" b="1" dirty="0">
                <a:latin typeface="Gill Sans MT" panose="020B0502020104020203" pitchFamily="34" charset="0"/>
              </a:rPr>
              <a:t>What do you think is meant by ‘the literature’?</a:t>
            </a:r>
          </a:p>
          <a:p>
            <a:endParaRPr lang="en-GB" sz="3600" b="1" dirty="0">
              <a:latin typeface="Gill Sans MT" panose="020B0502020104020203" pitchFamily="34" charset="0"/>
            </a:endParaRPr>
          </a:p>
          <a:p>
            <a:r>
              <a:rPr lang="en-GB" sz="3600" b="1" dirty="0">
                <a:latin typeface="Gill Sans MT" panose="020B0502020104020203" pitchFamily="34" charset="0"/>
              </a:rPr>
              <a:t>What type of sources would be classed as part of it?</a:t>
            </a:r>
          </a:p>
        </p:txBody>
      </p:sp>
    </p:spTree>
    <p:extLst>
      <p:ext uri="{BB962C8B-B14F-4D97-AF65-F5344CB8AC3E}">
        <p14:creationId xmlns:p14="http://schemas.microsoft.com/office/powerpoint/2010/main" val="386475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A527-BB33-7E9B-1D26-3DA24228DC2F}"/>
              </a:ext>
            </a:extLst>
          </p:cNvPr>
          <p:cNvSpPr>
            <a:spLocks noGrp="1"/>
          </p:cNvSpPr>
          <p:nvPr>
            <p:ph type="title"/>
          </p:nvPr>
        </p:nvSpPr>
        <p:spPr/>
        <p:txBody>
          <a:bodyPr/>
          <a:lstStyle/>
          <a:p>
            <a:r>
              <a:rPr lang="en-GB" dirty="0"/>
              <a:t>What makes up the ‘literature’</a:t>
            </a:r>
          </a:p>
        </p:txBody>
      </p:sp>
      <p:sp>
        <p:nvSpPr>
          <p:cNvPr id="3" name="Content Placeholder 2">
            <a:extLst>
              <a:ext uri="{FF2B5EF4-FFF2-40B4-BE49-F238E27FC236}">
                <a16:creationId xmlns:a16="http://schemas.microsoft.com/office/drawing/2014/main" id="{FCBAAC5D-FE6C-5415-771D-6944D9A2B5EB}"/>
              </a:ext>
            </a:extLst>
          </p:cNvPr>
          <p:cNvSpPr>
            <a:spLocks noGrp="1"/>
          </p:cNvSpPr>
          <p:nvPr>
            <p:ph idx="1"/>
          </p:nvPr>
        </p:nvSpPr>
        <p:spPr/>
        <p:txBody>
          <a:bodyPr>
            <a:normAutofit/>
          </a:bodyPr>
          <a:lstStyle/>
          <a:p>
            <a:r>
              <a:rPr lang="en-GB" sz="3600" dirty="0"/>
              <a:t>Academic research</a:t>
            </a:r>
          </a:p>
          <a:p>
            <a:pPr marL="457200" lvl="1" indent="0">
              <a:buNone/>
            </a:pPr>
            <a:r>
              <a:rPr lang="en-GB" sz="2800" dirty="0"/>
              <a:t>- Journal articles, review articles, research notes</a:t>
            </a:r>
          </a:p>
          <a:p>
            <a:pPr marL="457200" lvl="1" indent="0">
              <a:buNone/>
            </a:pPr>
            <a:r>
              <a:rPr lang="en-GB" sz="2800" dirty="0"/>
              <a:t>- Books, book chapters, edited books, monographs</a:t>
            </a:r>
          </a:p>
          <a:p>
            <a:pPr marL="457200" lvl="1" indent="0">
              <a:buNone/>
            </a:pPr>
            <a:endParaRPr lang="en-GB" dirty="0"/>
          </a:p>
          <a:p>
            <a:r>
              <a:rPr lang="en-GB" sz="3600" dirty="0"/>
              <a:t>Non-academic sources</a:t>
            </a:r>
          </a:p>
          <a:p>
            <a:pPr lvl="1"/>
            <a:r>
              <a:rPr lang="en-GB" sz="2800" dirty="0"/>
              <a:t>Policy reports, media articles, official statistics, legislation, blogposts, websites, videos, parliamentary speeches, manifestos</a:t>
            </a:r>
          </a:p>
          <a:p>
            <a:pPr marL="0" indent="0">
              <a:buNone/>
            </a:pPr>
            <a:endParaRPr lang="en-GB" dirty="0"/>
          </a:p>
        </p:txBody>
      </p:sp>
    </p:spTree>
    <p:extLst>
      <p:ext uri="{BB962C8B-B14F-4D97-AF65-F5344CB8AC3E}">
        <p14:creationId xmlns:p14="http://schemas.microsoft.com/office/powerpoint/2010/main" val="341988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4ED4-7751-517F-60A4-9E619AACCFF8}"/>
              </a:ext>
            </a:extLst>
          </p:cNvPr>
          <p:cNvSpPr>
            <a:spLocks noGrp="1"/>
          </p:cNvSpPr>
          <p:nvPr>
            <p:ph type="title"/>
          </p:nvPr>
        </p:nvSpPr>
        <p:spPr/>
        <p:txBody>
          <a:bodyPr/>
          <a:lstStyle/>
          <a:p>
            <a:r>
              <a:rPr lang="en-GB" dirty="0"/>
              <a:t>How to conduct a lit review</a:t>
            </a:r>
          </a:p>
        </p:txBody>
      </p:sp>
      <p:sp>
        <p:nvSpPr>
          <p:cNvPr id="3" name="Content Placeholder 2">
            <a:extLst>
              <a:ext uri="{FF2B5EF4-FFF2-40B4-BE49-F238E27FC236}">
                <a16:creationId xmlns:a16="http://schemas.microsoft.com/office/drawing/2014/main" id="{5BC688BC-8E2B-9BFA-3853-23A951C6098A}"/>
              </a:ext>
            </a:extLst>
          </p:cNvPr>
          <p:cNvSpPr>
            <a:spLocks noGrp="1"/>
          </p:cNvSpPr>
          <p:nvPr>
            <p:ph idx="1"/>
          </p:nvPr>
        </p:nvSpPr>
        <p:spPr>
          <a:xfrm>
            <a:off x="725078" y="1629744"/>
            <a:ext cx="10515600" cy="4351338"/>
          </a:xfrm>
        </p:spPr>
        <p:txBody>
          <a:bodyPr>
            <a:normAutofit/>
          </a:bodyPr>
          <a:lstStyle/>
          <a:p>
            <a:pPr marL="742950" indent="-742950">
              <a:buFont typeface="+mj-lt"/>
              <a:buAutoNum type="arabicPeriod"/>
            </a:pPr>
            <a:endParaRPr lang="en-GB" dirty="0"/>
          </a:p>
          <a:p>
            <a:pPr marL="742950" indent="-742950">
              <a:buFont typeface="+mj-lt"/>
              <a:buAutoNum type="arabicPeriod"/>
            </a:pPr>
            <a:r>
              <a:rPr lang="en-GB" dirty="0"/>
              <a:t>Reading the literature</a:t>
            </a:r>
          </a:p>
          <a:p>
            <a:pPr marL="742950" indent="-742950">
              <a:buFont typeface="+mj-lt"/>
              <a:buAutoNum type="arabicPeriod"/>
            </a:pPr>
            <a:r>
              <a:rPr lang="en-GB" dirty="0"/>
              <a:t>Summarising the literature</a:t>
            </a:r>
          </a:p>
          <a:p>
            <a:pPr marL="742950" indent="-742950">
              <a:buFont typeface="+mj-lt"/>
              <a:buAutoNum type="arabicPeriod"/>
            </a:pPr>
            <a:r>
              <a:rPr lang="en-GB" dirty="0"/>
              <a:t>What still needs to be done?</a:t>
            </a:r>
          </a:p>
          <a:p>
            <a:pPr marL="742950" indent="-742950">
              <a:buFont typeface="+mj-lt"/>
              <a:buAutoNum type="arabicPeriod"/>
            </a:pPr>
            <a:endParaRPr lang="en-GB" dirty="0"/>
          </a:p>
        </p:txBody>
      </p:sp>
    </p:spTree>
    <p:extLst>
      <p:ext uri="{BB962C8B-B14F-4D97-AF65-F5344CB8AC3E}">
        <p14:creationId xmlns:p14="http://schemas.microsoft.com/office/powerpoint/2010/main" val="1473722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4ED4-7751-517F-60A4-9E619AACCFF8}"/>
              </a:ext>
            </a:extLst>
          </p:cNvPr>
          <p:cNvSpPr>
            <a:spLocks noGrp="1"/>
          </p:cNvSpPr>
          <p:nvPr>
            <p:ph type="title"/>
          </p:nvPr>
        </p:nvSpPr>
        <p:spPr/>
        <p:txBody>
          <a:bodyPr/>
          <a:lstStyle/>
          <a:p>
            <a:r>
              <a:rPr lang="en-GB" dirty="0"/>
              <a:t>How to conduct a lit review</a:t>
            </a:r>
          </a:p>
        </p:txBody>
      </p:sp>
      <p:sp>
        <p:nvSpPr>
          <p:cNvPr id="3" name="Content Placeholder 2">
            <a:extLst>
              <a:ext uri="{FF2B5EF4-FFF2-40B4-BE49-F238E27FC236}">
                <a16:creationId xmlns:a16="http://schemas.microsoft.com/office/drawing/2014/main" id="{5BC688BC-8E2B-9BFA-3853-23A951C6098A}"/>
              </a:ext>
            </a:extLst>
          </p:cNvPr>
          <p:cNvSpPr>
            <a:spLocks noGrp="1"/>
          </p:cNvSpPr>
          <p:nvPr>
            <p:ph idx="1"/>
          </p:nvPr>
        </p:nvSpPr>
        <p:spPr>
          <a:xfrm>
            <a:off x="725078" y="1629744"/>
            <a:ext cx="10515600" cy="4351338"/>
          </a:xfrm>
        </p:spPr>
        <p:txBody>
          <a:bodyPr>
            <a:normAutofit/>
          </a:bodyPr>
          <a:lstStyle/>
          <a:p>
            <a:pPr marL="0" indent="0">
              <a:buNone/>
            </a:pPr>
            <a:endParaRPr lang="en-GB" dirty="0"/>
          </a:p>
          <a:p>
            <a:pPr marL="742950" indent="-742950">
              <a:buFont typeface="+mj-lt"/>
              <a:buAutoNum type="arabicPeriod"/>
            </a:pPr>
            <a:r>
              <a:rPr lang="en-GB" dirty="0"/>
              <a:t>Reading the literature</a:t>
            </a:r>
          </a:p>
          <a:p>
            <a:pPr marL="0" indent="0">
              <a:buNone/>
            </a:pPr>
            <a:r>
              <a:rPr lang="en-GB" sz="3200" dirty="0"/>
              <a:t>	- identify relevant sources</a:t>
            </a:r>
          </a:p>
          <a:p>
            <a:pPr marL="0" indent="0">
              <a:buNone/>
            </a:pPr>
            <a:r>
              <a:rPr lang="en-GB" sz="3200" dirty="0"/>
              <a:t>	- summarise each text</a:t>
            </a:r>
          </a:p>
          <a:p>
            <a:pPr marL="0" indent="0">
              <a:buNone/>
            </a:pPr>
            <a:r>
              <a:rPr lang="en-GB" sz="3200" dirty="0"/>
              <a:t>	- take notes, ask questions</a:t>
            </a:r>
          </a:p>
          <a:p>
            <a:pPr marL="0" indent="0">
              <a:buNone/>
            </a:pPr>
            <a:r>
              <a:rPr lang="en-GB" sz="3200" dirty="0"/>
              <a:t>	- what are their strengths and weaknesses?</a:t>
            </a:r>
          </a:p>
        </p:txBody>
      </p:sp>
    </p:spTree>
    <p:extLst>
      <p:ext uri="{BB962C8B-B14F-4D97-AF65-F5344CB8AC3E}">
        <p14:creationId xmlns:p14="http://schemas.microsoft.com/office/powerpoint/2010/main" val="65957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4ED4-7751-517F-60A4-9E619AACCFF8}"/>
              </a:ext>
            </a:extLst>
          </p:cNvPr>
          <p:cNvSpPr>
            <a:spLocks noGrp="1"/>
          </p:cNvSpPr>
          <p:nvPr>
            <p:ph type="title"/>
          </p:nvPr>
        </p:nvSpPr>
        <p:spPr/>
        <p:txBody>
          <a:bodyPr/>
          <a:lstStyle/>
          <a:p>
            <a:r>
              <a:rPr lang="en-GB" dirty="0"/>
              <a:t>How to conduct a lit review</a:t>
            </a:r>
          </a:p>
        </p:txBody>
      </p:sp>
      <p:sp>
        <p:nvSpPr>
          <p:cNvPr id="3" name="Content Placeholder 2">
            <a:extLst>
              <a:ext uri="{FF2B5EF4-FFF2-40B4-BE49-F238E27FC236}">
                <a16:creationId xmlns:a16="http://schemas.microsoft.com/office/drawing/2014/main" id="{5BC688BC-8E2B-9BFA-3853-23A951C6098A}"/>
              </a:ext>
            </a:extLst>
          </p:cNvPr>
          <p:cNvSpPr>
            <a:spLocks noGrp="1"/>
          </p:cNvSpPr>
          <p:nvPr>
            <p:ph idx="1"/>
          </p:nvPr>
        </p:nvSpPr>
        <p:spPr>
          <a:xfrm>
            <a:off x="725077" y="1629744"/>
            <a:ext cx="11011293" cy="4351338"/>
          </a:xfrm>
        </p:spPr>
        <p:txBody>
          <a:bodyPr>
            <a:normAutofit/>
          </a:bodyPr>
          <a:lstStyle/>
          <a:p>
            <a:pPr marL="0" indent="0">
              <a:buNone/>
            </a:pPr>
            <a:endParaRPr lang="en-GB" dirty="0"/>
          </a:p>
          <a:p>
            <a:pPr marL="0" indent="0">
              <a:buNone/>
            </a:pPr>
            <a:r>
              <a:rPr lang="en-GB" dirty="0"/>
              <a:t>2.   Summarising the literature</a:t>
            </a:r>
          </a:p>
          <a:p>
            <a:pPr marL="0" indent="0">
              <a:buNone/>
            </a:pPr>
            <a:r>
              <a:rPr lang="en-GB" sz="3200" dirty="0"/>
              <a:t>	- organise the sources you examined in step 1</a:t>
            </a:r>
          </a:p>
          <a:p>
            <a:pPr marL="0" indent="0">
              <a:buNone/>
            </a:pPr>
            <a:r>
              <a:rPr lang="en-GB" sz="3200" dirty="0"/>
              <a:t>	- identify major themes, issues, arguments</a:t>
            </a:r>
          </a:p>
          <a:p>
            <a:pPr marL="0" indent="0">
              <a:buNone/>
            </a:pPr>
            <a:r>
              <a:rPr lang="en-GB" sz="3200" dirty="0"/>
              <a:t>	- not everything, just what’s relevant to your question</a:t>
            </a:r>
          </a:p>
        </p:txBody>
      </p:sp>
    </p:spTree>
    <p:extLst>
      <p:ext uri="{BB962C8B-B14F-4D97-AF65-F5344CB8AC3E}">
        <p14:creationId xmlns:p14="http://schemas.microsoft.com/office/powerpoint/2010/main" val="3467783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4ED4-7751-517F-60A4-9E619AACCFF8}"/>
              </a:ext>
            </a:extLst>
          </p:cNvPr>
          <p:cNvSpPr>
            <a:spLocks noGrp="1"/>
          </p:cNvSpPr>
          <p:nvPr>
            <p:ph type="title"/>
          </p:nvPr>
        </p:nvSpPr>
        <p:spPr/>
        <p:txBody>
          <a:bodyPr/>
          <a:lstStyle/>
          <a:p>
            <a:r>
              <a:rPr lang="en-GB" dirty="0"/>
              <a:t>How to conduct a lit review</a:t>
            </a:r>
          </a:p>
        </p:txBody>
      </p:sp>
      <p:sp>
        <p:nvSpPr>
          <p:cNvPr id="3" name="Content Placeholder 2">
            <a:extLst>
              <a:ext uri="{FF2B5EF4-FFF2-40B4-BE49-F238E27FC236}">
                <a16:creationId xmlns:a16="http://schemas.microsoft.com/office/drawing/2014/main" id="{5BC688BC-8E2B-9BFA-3853-23A951C6098A}"/>
              </a:ext>
            </a:extLst>
          </p:cNvPr>
          <p:cNvSpPr>
            <a:spLocks noGrp="1"/>
          </p:cNvSpPr>
          <p:nvPr>
            <p:ph idx="1"/>
          </p:nvPr>
        </p:nvSpPr>
        <p:spPr>
          <a:xfrm>
            <a:off x="725078" y="1629744"/>
            <a:ext cx="10515600" cy="4351338"/>
          </a:xfrm>
        </p:spPr>
        <p:txBody>
          <a:bodyPr>
            <a:normAutofit/>
          </a:bodyPr>
          <a:lstStyle/>
          <a:p>
            <a:pPr marL="0" indent="0">
              <a:buNone/>
            </a:pPr>
            <a:endParaRPr lang="en-GB" dirty="0"/>
          </a:p>
          <a:p>
            <a:pPr marL="0" indent="0">
              <a:buNone/>
            </a:pPr>
            <a:r>
              <a:rPr lang="en-GB" dirty="0"/>
              <a:t>3.   What still needs to be done?</a:t>
            </a:r>
          </a:p>
          <a:p>
            <a:pPr marL="0" indent="0">
              <a:buNone/>
            </a:pPr>
            <a:r>
              <a:rPr lang="en-GB" sz="3200" dirty="0"/>
              <a:t>	- Based on steps 1 and 2 how does your research build</a:t>
            </a:r>
          </a:p>
          <a:p>
            <a:pPr marL="0" indent="0">
              <a:buNone/>
            </a:pPr>
            <a:r>
              <a:rPr lang="en-GB" sz="3200" dirty="0"/>
              <a:t>          upon, and improve on what we already know?</a:t>
            </a:r>
          </a:p>
          <a:p>
            <a:pPr marL="0" indent="0">
              <a:buNone/>
            </a:pPr>
            <a:r>
              <a:rPr lang="en-GB" sz="3200" dirty="0"/>
              <a:t>	- What still needs to be done to be able to effectively</a:t>
            </a:r>
          </a:p>
          <a:p>
            <a:pPr marL="0" indent="0">
              <a:buNone/>
            </a:pPr>
            <a:r>
              <a:rPr lang="en-GB" sz="3200" dirty="0"/>
              <a:t>	  answer your research question?</a:t>
            </a:r>
          </a:p>
        </p:txBody>
      </p:sp>
    </p:spTree>
    <p:extLst>
      <p:ext uri="{BB962C8B-B14F-4D97-AF65-F5344CB8AC3E}">
        <p14:creationId xmlns:p14="http://schemas.microsoft.com/office/powerpoint/2010/main" val="2192471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7A033-55EE-8F42-F8EC-E762E0B1D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43302-44D6-D37B-C2C2-C43C3EF3AF29}"/>
              </a:ext>
            </a:extLst>
          </p:cNvPr>
          <p:cNvSpPr>
            <a:spLocks noGrp="1"/>
          </p:cNvSpPr>
          <p:nvPr>
            <p:ph type="title"/>
          </p:nvPr>
        </p:nvSpPr>
        <p:spPr/>
        <p:txBody>
          <a:bodyPr>
            <a:normAutofit/>
          </a:bodyPr>
          <a:lstStyle/>
          <a:p>
            <a:r>
              <a:rPr lang="en-GB" dirty="0"/>
              <a:t>Practical Tips</a:t>
            </a:r>
          </a:p>
        </p:txBody>
      </p:sp>
      <p:sp>
        <p:nvSpPr>
          <p:cNvPr id="4" name="Content Placeholder 3">
            <a:extLst>
              <a:ext uri="{FF2B5EF4-FFF2-40B4-BE49-F238E27FC236}">
                <a16:creationId xmlns:a16="http://schemas.microsoft.com/office/drawing/2014/main" id="{D203413B-7ECA-FFB0-EA5C-24D4795913AA}"/>
              </a:ext>
            </a:extLst>
          </p:cNvPr>
          <p:cNvSpPr>
            <a:spLocks noGrp="1"/>
          </p:cNvSpPr>
          <p:nvPr>
            <p:ph idx="1"/>
          </p:nvPr>
        </p:nvSpPr>
        <p:spPr/>
        <p:txBody>
          <a:bodyPr/>
          <a:lstStyle/>
          <a:p>
            <a:r>
              <a:rPr lang="en-GB" dirty="0"/>
              <a:t>Recommend keyword searches for sources</a:t>
            </a:r>
          </a:p>
          <a:p>
            <a:r>
              <a:rPr lang="en-GB" dirty="0"/>
              <a:t>Module AI policy, do not use for assessment</a:t>
            </a:r>
          </a:p>
          <a:p>
            <a:r>
              <a:rPr lang="en-GB" dirty="0"/>
              <a:t>Do not rely on AI summaries</a:t>
            </a:r>
          </a:p>
          <a:p>
            <a:r>
              <a:rPr lang="en-GB" dirty="0"/>
              <a:t>Read any sources that you cite</a:t>
            </a:r>
          </a:p>
          <a:p>
            <a:endParaRPr lang="en-GB" dirty="0"/>
          </a:p>
        </p:txBody>
      </p:sp>
    </p:spTree>
    <p:extLst>
      <p:ext uri="{BB962C8B-B14F-4D97-AF65-F5344CB8AC3E}">
        <p14:creationId xmlns:p14="http://schemas.microsoft.com/office/powerpoint/2010/main" val="1553851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95E59-A492-089B-8C9E-08122DBBDD5B}"/>
              </a:ext>
            </a:extLst>
          </p:cNvPr>
          <p:cNvSpPr>
            <a:spLocks noGrp="1"/>
          </p:cNvSpPr>
          <p:nvPr>
            <p:ph type="title"/>
          </p:nvPr>
        </p:nvSpPr>
        <p:spPr/>
        <p:txBody>
          <a:bodyPr>
            <a:normAutofit/>
          </a:bodyPr>
          <a:lstStyle/>
          <a:p>
            <a:r>
              <a:rPr lang="en-GB" dirty="0"/>
              <a:t>Practical Tips</a:t>
            </a:r>
          </a:p>
        </p:txBody>
      </p:sp>
      <p:pic>
        <p:nvPicPr>
          <p:cNvPr id="5" name="Content Placeholder 4" descr="Image of a academic journal article titled: 'Generalization bias in large model summarization of scientific research'">
            <a:hlinkClick r:id="rId2"/>
            <a:extLst>
              <a:ext uri="{FF2B5EF4-FFF2-40B4-BE49-F238E27FC236}">
                <a16:creationId xmlns:a16="http://schemas.microsoft.com/office/drawing/2014/main" id="{8CC67C95-527E-2720-DCA8-E853953816E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0857" y="2036440"/>
            <a:ext cx="6354104" cy="3787468"/>
          </a:xfrm>
        </p:spPr>
      </p:pic>
      <p:sp>
        <p:nvSpPr>
          <p:cNvPr id="6" name="TextBox 5">
            <a:extLst>
              <a:ext uri="{FF2B5EF4-FFF2-40B4-BE49-F238E27FC236}">
                <a16:creationId xmlns:a16="http://schemas.microsoft.com/office/drawing/2014/main" id="{9ECA208B-3686-62E7-FE53-C779824270F6}"/>
              </a:ext>
            </a:extLst>
          </p:cNvPr>
          <p:cNvSpPr txBox="1"/>
          <p:nvPr/>
        </p:nvSpPr>
        <p:spPr>
          <a:xfrm>
            <a:off x="6918960" y="1668016"/>
            <a:ext cx="5110480" cy="4524315"/>
          </a:xfrm>
          <a:prstGeom prst="rect">
            <a:avLst/>
          </a:prstGeom>
          <a:noFill/>
        </p:spPr>
        <p:txBody>
          <a:bodyPr wrap="square" rtlCol="0">
            <a:spAutoFit/>
          </a:bodyPr>
          <a:lstStyle/>
          <a:p>
            <a:r>
              <a:rPr lang="en-GB" sz="2400" dirty="0">
                <a:solidFill>
                  <a:srgbClr val="376795"/>
                </a:solidFill>
                <a:latin typeface="Gill Sans MT" panose="020B0502020104020203" pitchFamily="34" charset="0"/>
              </a:rPr>
              <a:t>“…when summarizing scientific texts, LLMs may omit details that limit the scope of research conclusions, leading to generalizations of results broader than warranted by the original study.”</a:t>
            </a:r>
          </a:p>
          <a:p>
            <a:endParaRPr lang="en-GB" sz="2400" dirty="0">
              <a:solidFill>
                <a:srgbClr val="376795"/>
              </a:solidFill>
              <a:latin typeface="Gill Sans MT" panose="020B0502020104020203" pitchFamily="34" charset="0"/>
            </a:endParaRPr>
          </a:p>
          <a:p>
            <a:endParaRPr lang="en-GB" sz="2400" dirty="0">
              <a:solidFill>
                <a:srgbClr val="376795"/>
              </a:solidFill>
              <a:latin typeface="Gill Sans MT" panose="020B0502020104020203" pitchFamily="34" charset="0"/>
            </a:endParaRPr>
          </a:p>
          <a:p>
            <a:r>
              <a:rPr lang="en-GB" sz="2400" dirty="0">
                <a:solidFill>
                  <a:srgbClr val="376795"/>
                </a:solidFill>
                <a:latin typeface="Gill Sans MT" panose="020B0502020104020203" pitchFamily="34" charset="0"/>
              </a:rPr>
              <a:t>“Our results indicate a strong bias in many widely used LLMs towards overgeneralizing scientific conclusions, posing a significant risk of large-scale misinterpretations of research findings.”</a:t>
            </a:r>
          </a:p>
        </p:txBody>
      </p:sp>
    </p:spTree>
    <p:extLst>
      <p:ext uri="{BB962C8B-B14F-4D97-AF65-F5344CB8AC3E}">
        <p14:creationId xmlns:p14="http://schemas.microsoft.com/office/powerpoint/2010/main" val="34607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FB0CA-1202-9A90-B8CF-AC3F1A6EE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39074-CDA2-D428-5749-F37937C9D4F7}"/>
              </a:ext>
            </a:extLst>
          </p:cNvPr>
          <p:cNvSpPr>
            <a:spLocks noGrp="1"/>
          </p:cNvSpPr>
          <p:nvPr>
            <p:ph type="title"/>
          </p:nvPr>
        </p:nvSpPr>
        <p:spPr/>
        <p:txBody>
          <a:bodyPr>
            <a:normAutofit/>
          </a:bodyPr>
          <a:lstStyle/>
          <a:p>
            <a:r>
              <a:rPr lang="en-GB" dirty="0"/>
              <a:t>Practical Tips</a:t>
            </a:r>
          </a:p>
        </p:txBody>
      </p:sp>
      <p:sp>
        <p:nvSpPr>
          <p:cNvPr id="6" name="TextBox 5">
            <a:extLst>
              <a:ext uri="{FF2B5EF4-FFF2-40B4-BE49-F238E27FC236}">
                <a16:creationId xmlns:a16="http://schemas.microsoft.com/office/drawing/2014/main" id="{DF23889E-3FDB-4D53-4B53-104930981322}"/>
              </a:ext>
            </a:extLst>
          </p:cNvPr>
          <p:cNvSpPr txBox="1"/>
          <p:nvPr/>
        </p:nvSpPr>
        <p:spPr>
          <a:xfrm>
            <a:off x="7101192" y="1673294"/>
            <a:ext cx="4974104" cy="4524315"/>
          </a:xfrm>
          <a:prstGeom prst="rect">
            <a:avLst/>
          </a:prstGeom>
          <a:noFill/>
        </p:spPr>
        <p:txBody>
          <a:bodyPr wrap="square" rtlCol="0">
            <a:spAutoFit/>
          </a:bodyPr>
          <a:lstStyle/>
          <a:p>
            <a:r>
              <a:rPr lang="en-GB" sz="2400" dirty="0">
                <a:solidFill>
                  <a:srgbClr val="376795"/>
                </a:solidFill>
                <a:latin typeface="Gill Sans MT" panose="020B0502020104020203" pitchFamily="34" charset="0"/>
              </a:rPr>
              <a:t>“…articles which include references to </a:t>
            </a:r>
            <a:r>
              <a:rPr lang="en-GB" sz="2400" dirty="0" err="1">
                <a:solidFill>
                  <a:srgbClr val="376795"/>
                </a:solidFill>
                <a:latin typeface="Gill Sans MT" panose="020B0502020104020203" pitchFamily="34" charset="0"/>
              </a:rPr>
              <a:t>nonexistent</a:t>
            </a:r>
            <a:r>
              <a:rPr lang="en-GB" sz="2400" dirty="0">
                <a:solidFill>
                  <a:srgbClr val="376795"/>
                </a:solidFill>
                <a:latin typeface="Gill Sans MT" panose="020B0502020104020203" pitchFamily="34" charset="0"/>
              </a:rPr>
              <a:t> research material are themselves being cited in other papers, which effectively launders their erroneous citations.</a:t>
            </a:r>
          </a:p>
          <a:p>
            <a:endParaRPr lang="en-GB" sz="2400" dirty="0">
              <a:solidFill>
                <a:srgbClr val="376795"/>
              </a:solidFill>
              <a:latin typeface="Gill Sans MT" panose="020B0502020104020203" pitchFamily="34" charset="0"/>
            </a:endParaRPr>
          </a:p>
          <a:p>
            <a:endParaRPr lang="en-GB" sz="2400" dirty="0">
              <a:solidFill>
                <a:srgbClr val="376795"/>
              </a:solidFill>
              <a:latin typeface="Gill Sans MT" panose="020B0502020104020203" pitchFamily="34" charset="0"/>
            </a:endParaRPr>
          </a:p>
          <a:p>
            <a:r>
              <a:rPr lang="en-GB" sz="2400" dirty="0">
                <a:solidFill>
                  <a:srgbClr val="376795"/>
                </a:solidFill>
                <a:latin typeface="Gill Sans MT" panose="020B0502020104020203" pitchFamily="34" charset="0"/>
              </a:rPr>
              <a:t>“The more these false citations are unquestioningly repeated from one article to the next, the more the illusion of their authenticity is reinforced. ”</a:t>
            </a:r>
          </a:p>
        </p:txBody>
      </p:sp>
      <p:pic>
        <p:nvPicPr>
          <p:cNvPr id="8" name="Content Placeholder 7" descr="Image of a news article from Rolling Stone magazine titled: 'AI Is Inventing Academic Papers That Don’t Exist — And They’re Being Cited in Real Journals' and the sub heading: 'The proliferation of references to fake articles threatens to undermine the legitimacy of institutional research across the board'">
            <a:hlinkClick r:id="rId2"/>
            <a:extLst>
              <a:ext uri="{FF2B5EF4-FFF2-40B4-BE49-F238E27FC236}">
                <a16:creationId xmlns:a16="http://schemas.microsoft.com/office/drawing/2014/main" id="{0C3AC252-AEC9-C127-532B-14DA25BDB04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2347" y="1790026"/>
            <a:ext cx="6595381" cy="3777654"/>
          </a:xfrm>
        </p:spPr>
      </p:pic>
    </p:spTree>
    <p:extLst>
      <p:ext uri="{BB962C8B-B14F-4D97-AF65-F5344CB8AC3E}">
        <p14:creationId xmlns:p14="http://schemas.microsoft.com/office/powerpoint/2010/main" val="281184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94EE8-F22D-1862-EE0D-7BAFB463FC9F}"/>
              </a:ext>
            </a:extLst>
          </p:cNvPr>
          <p:cNvSpPr>
            <a:spLocks noGrp="1"/>
          </p:cNvSpPr>
          <p:nvPr>
            <p:ph type="title"/>
          </p:nvPr>
        </p:nvSpPr>
        <p:spPr/>
        <p:txBody>
          <a:bodyPr/>
          <a:lstStyle/>
          <a:p>
            <a:r>
              <a:rPr lang="en-GB" dirty="0"/>
              <a:t>Practical Tips</a:t>
            </a:r>
          </a:p>
        </p:txBody>
      </p:sp>
      <p:sp>
        <p:nvSpPr>
          <p:cNvPr id="3" name="Content Placeholder 2">
            <a:extLst>
              <a:ext uri="{FF2B5EF4-FFF2-40B4-BE49-F238E27FC236}">
                <a16:creationId xmlns:a16="http://schemas.microsoft.com/office/drawing/2014/main" id="{CA28B784-CD11-00F7-CB8C-271D8FE746C2}"/>
              </a:ext>
            </a:extLst>
          </p:cNvPr>
          <p:cNvSpPr>
            <a:spLocks noGrp="1"/>
          </p:cNvSpPr>
          <p:nvPr>
            <p:ph idx="1"/>
          </p:nvPr>
        </p:nvSpPr>
        <p:spPr>
          <a:xfrm>
            <a:off x="252918" y="1882664"/>
            <a:ext cx="6995474" cy="4351338"/>
          </a:xfrm>
        </p:spPr>
        <p:txBody>
          <a:bodyPr/>
          <a:lstStyle/>
          <a:p>
            <a:pPr marL="0" indent="0">
              <a:buNone/>
            </a:pPr>
            <a:r>
              <a:rPr lang="en-GB" dirty="0"/>
              <a:t>Reference management software</a:t>
            </a:r>
          </a:p>
          <a:p>
            <a:pPr marL="0" indent="0">
              <a:buNone/>
            </a:pPr>
            <a:endParaRPr lang="en-GB" sz="3200" dirty="0"/>
          </a:p>
          <a:p>
            <a:r>
              <a:rPr lang="en-GB" sz="3200" dirty="0"/>
              <a:t>Zotero, Endnote, Mendeley (and more)</a:t>
            </a:r>
          </a:p>
          <a:p>
            <a:pPr marL="0" indent="0">
              <a:buNone/>
            </a:pPr>
            <a:r>
              <a:rPr lang="en-GB" sz="3200" dirty="0"/>
              <a:t>	- Organising the sources you find</a:t>
            </a:r>
          </a:p>
          <a:p>
            <a:pPr marL="0" indent="0">
              <a:buNone/>
            </a:pPr>
            <a:r>
              <a:rPr lang="en-GB" sz="3200" dirty="0"/>
              <a:t>	- Reading and note taking</a:t>
            </a:r>
          </a:p>
          <a:p>
            <a:pPr marL="0" indent="0">
              <a:buNone/>
            </a:pPr>
            <a:r>
              <a:rPr lang="en-GB" sz="3200" dirty="0"/>
              <a:t>	- Creating bibliographies</a:t>
            </a:r>
          </a:p>
        </p:txBody>
      </p:sp>
      <p:sp>
        <p:nvSpPr>
          <p:cNvPr id="5" name="Slide Number Placeholder 4">
            <a:extLst>
              <a:ext uri="{FF2B5EF4-FFF2-40B4-BE49-F238E27FC236}">
                <a16:creationId xmlns:a16="http://schemas.microsoft.com/office/drawing/2014/main" id="{7F8270F6-BB39-3027-6258-1C6A35458F49}"/>
              </a:ext>
            </a:extLst>
          </p:cNvPr>
          <p:cNvSpPr>
            <a:spLocks noGrp="1"/>
          </p:cNvSpPr>
          <p:nvPr>
            <p:ph type="sldNum" sz="quarter" idx="12"/>
          </p:nvPr>
        </p:nvSpPr>
        <p:spPr/>
        <p:txBody>
          <a:bodyPr/>
          <a:lstStyle/>
          <a:p>
            <a:fld id="{372769DB-CAE7-4C85-A9AF-7D4D8DE4CA22}" type="slidenum">
              <a:rPr lang="en-GB" smtClean="0"/>
              <a:t>22</a:t>
            </a:fld>
            <a:endParaRPr lang="en-GB" dirty="0"/>
          </a:p>
        </p:txBody>
      </p:sp>
      <p:pic>
        <p:nvPicPr>
          <p:cNvPr id="9" name="Picture 8" descr="A group of logos for different reference management software on a white background.&#10;&#10;">
            <a:extLst>
              <a:ext uri="{FF2B5EF4-FFF2-40B4-BE49-F238E27FC236}">
                <a16:creationId xmlns:a16="http://schemas.microsoft.com/office/drawing/2014/main" id="{7F835285-1D95-5D21-61BF-BC21B87D7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2811" y="1720571"/>
            <a:ext cx="4536271" cy="4351339"/>
          </a:xfrm>
          <a:prstGeom prst="rect">
            <a:avLst/>
          </a:prstGeom>
        </p:spPr>
      </p:pic>
    </p:spTree>
    <p:extLst>
      <p:ext uri="{BB962C8B-B14F-4D97-AF65-F5344CB8AC3E}">
        <p14:creationId xmlns:p14="http://schemas.microsoft.com/office/powerpoint/2010/main" val="255810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A62E3-E2F4-0648-AC26-B84ABF724AC8}"/>
              </a:ext>
            </a:extLst>
          </p:cNvPr>
          <p:cNvSpPr>
            <a:spLocks noGrp="1"/>
          </p:cNvSpPr>
          <p:nvPr>
            <p:ph type="ctrTitle"/>
          </p:nvPr>
        </p:nvSpPr>
        <p:spPr/>
        <p:txBody>
          <a:bodyPr/>
          <a:lstStyle/>
          <a:p>
            <a:r>
              <a:rPr lang="en-GB" dirty="0"/>
              <a:t>Critical Reading</a:t>
            </a:r>
          </a:p>
        </p:txBody>
      </p:sp>
      <p:sp>
        <p:nvSpPr>
          <p:cNvPr id="3" name="Subtitle 2">
            <a:extLst>
              <a:ext uri="{FF2B5EF4-FFF2-40B4-BE49-F238E27FC236}">
                <a16:creationId xmlns:a16="http://schemas.microsoft.com/office/drawing/2014/main" id="{32E91E35-F0F9-378D-7DF5-8E5EA29015B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349766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E5C9-8607-FAD2-C339-5C46017020B3}"/>
              </a:ext>
            </a:extLst>
          </p:cNvPr>
          <p:cNvSpPr>
            <a:spLocks noGrp="1"/>
          </p:cNvSpPr>
          <p:nvPr>
            <p:ph type="title"/>
          </p:nvPr>
        </p:nvSpPr>
        <p:spPr/>
        <p:txBody>
          <a:bodyPr>
            <a:normAutofit/>
          </a:bodyPr>
          <a:lstStyle/>
          <a:p>
            <a:r>
              <a:rPr lang="en-GB" sz="4400" dirty="0"/>
              <a:t>Bloom’s Taxonomy of learning (edited)</a:t>
            </a:r>
          </a:p>
        </p:txBody>
      </p:sp>
      <p:sp>
        <p:nvSpPr>
          <p:cNvPr id="3" name="Content Placeholder 2">
            <a:extLst>
              <a:ext uri="{FF2B5EF4-FFF2-40B4-BE49-F238E27FC236}">
                <a16:creationId xmlns:a16="http://schemas.microsoft.com/office/drawing/2014/main" id="{2FE23F42-9A40-DE1A-D24C-E6BF3E51E28A}"/>
              </a:ext>
            </a:extLst>
          </p:cNvPr>
          <p:cNvSpPr>
            <a:spLocks noGrp="1"/>
          </p:cNvSpPr>
          <p:nvPr>
            <p:ph idx="1"/>
          </p:nvPr>
        </p:nvSpPr>
        <p:spPr>
          <a:xfrm>
            <a:off x="3649494" y="1864535"/>
            <a:ext cx="4521740" cy="4351338"/>
          </a:xfrm>
        </p:spPr>
        <p:txBody>
          <a:bodyPr/>
          <a:lstStyle/>
          <a:p>
            <a:pPr marL="0" indent="0">
              <a:buNone/>
            </a:pPr>
            <a:r>
              <a:rPr lang="en-GB" dirty="0"/>
              <a:t>Synthesis</a:t>
            </a:r>
          </a:p>
          <a:p>
            <a:pPr marL="0" indent="0">
              <a:buNone/>
            </a:pPr>
            <a:r>
              <a:rPr lang="en-GB" dirty="0"/>
              <a:t>Evaluation</a:t>
            </a:r>
          </a:p>
          <a:p>
            <a:pPr marL="0" indent="0">
              <a:buNone/>
            </a:pPr>
            <a:r>
              <a:rPr lang="en-GB" dirty="0"/>
              <a:t>Analysis</a:t>
            </a:r>
          </a:p>
          <a:p>
            <a:pPr marL="0" indent="0">
              <a:buNone/>
            </a:pPr>
            <a:r>
              <a:rPr lang="en-GB" dirty="0"/>
              <a:t>Application</a:t>
            </a:r>
          </a:p>
          <a:p>
            <a:pPr marL="0" indent="0">
              <a:buNone/>
            </a:pPr>
            <a:r>
              <a:rPr lang="en-GB" dirty="0"/>
              <a:t>Understanding </a:t>
            </a:r>
          </a:p>
          <a:p>
            <a:pPr marL="0" indent="0">
              <a:buNone/>
            </a:pPr>
            <a:r>
              <a:rPr lang="en-GB" dirty="0"/>
              <a:t>Knowledge</a:t>
            </a:r>
          </a:p>
        </p:txBody>
      </p:sp>
      <p:cxnSp>
        <p:nvCxnSpPr>
          <p:cNvPr id="5" name="Straight Arrow Connector 4">
            <a:extLst>
              <a:ext uri="{FF2B5EF4-FFF2-40B4-BE49-F238E27FC236}">
                <a16:creationId xmlns:a16="http://schemas.microsoft.com/office/drawing/2014/main" id="{3BE475C5-9557-D7DF-6C65-42B49D972163}"/>
              </a:ext>
            </a:extLst>
          </p:cNvPr>
          <p:cNvCxnSpPr>
            <a:cxnSpLocks/>
          </p:cNvCxnSpPr>
          <p:nvPr/>
        </p:nvCxnSpPr>
        <p:spPr>
          <a:xfrm flipV="1">
            <a:off x="2966936" y="1864535"/>
            <a:ext cx="0" cy="3874784"/>
          </a:xfrm>
          <a:prstGeom prst="straightConnector1">
            <a:avLst/>
          </a:prstGeom>
          <a:ln w="184150">
            <a:solidFill>
              <a:srgbClr val="E7625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5182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98CE6-7702-091A-F2B9-219F277AE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66EA5-9698-579C-1938-8BB879AFD681}"/>
              </a:ext>
            </a:extLst>
          </p:cNvPr>
          <p:cNvSpPr>
            <a:spLocks noGrp="1"/>
          </p:cNvSpPr>
          <p:nvPr>
            <p:ph type="title"/>
          </p:nvPr>
        </p:nvSpPr>
        <p:spPr/>
        <p:txBody>
          <a:bodyPr/>
          <a:lstStyle/>
          <a:p>
            <a:r>
              <a:rPr lang="en-GB" dirty="0"/>
              <a:t>Reading with purpose</a:t>
            </a:r>
          </a:p>
        </p:txBody>
      </p:sp>
      <p:sp>
        <p:nvSpPr>
          <p:cNvPr id="3" name="Content Placeholder 2">
            <a:extLst>
              <a:ext uri="{FF2B5EF4-FFF2-40B4-BE49-F238E27FC236}">
                <a16:creationId xmlns:a16="http://schemas.microsoft.com/office/drawing/2014/main" id="{0BAD8A9F-3438-902F-CC18-D3EF34D66597}"/>
              </a:ext>
            </a:extLst>
          </p:cNvPr>
          <p:cNvSpPr>
            <a:spLocks noGrp="1"/>
          </p:cNvSpPr>
          <p:nvPr>
            <p:ph idx="1"/>
          </p:nvPr>
        </p:nvSpPr>
        <p:spPr>
          <a:xfrm>
            <a:off x="1313233" y="1864535"/>
            <a:ext cx="9416375" cy="4351338"/>
          </a:xfrm>
        </p:spPr>
        <p:txBody>
          <a:bodyPr>
            <a:normAutofit/>
          </a:bodyPr>
          <a:lstStyle/>
          <a:p>
            <a:r>
              <a:rPr lang="en-GB" dirty="0"/>
              <a:t>Finding literature</a:t>
            </a:r>
          </a:p>
          <a:p>
            <a:r>
              <a:rPr lang="en-GB" dirty="0"/>
              <a:t>Understanding of new topic</a:t>
            </a:r>
          </a:p>
          <a:p>
            <a:r>
              <a:rPr lang="en-GB" dirty="0"/>
              <a:t>Skimming for specific information</a:t>
            </a:r>
          </a:p>
          <a:p>
            <a:r>
              <a:rPr lang="en-GB" dirty="0"/>
              <a:t>Connecting different perspectives</a:t>
            </a:r>
          </a:p>
        </p:txBody>
      </p:sp>
    </p:spTree>
    <p:extLst>
      <p:ext uri="{BB962C8B-B14F-4D97-AF65-F5344CB8AC3E}">
        <p14:creationId xmlns:p14="http://schemas.microsoft.com/office/powerpoint/2010/main" val="1383095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8C56A096-1B36-7213-65B9-F95BC4F3F20A}"/>
              </a:ext>
            </a:extLst>
          </p:cNvPr>
          <p:cNvGraphicFramePr>
            <a:graphicFrameLocks/>
          </p:cNvGraphicFramePr>
          <p:nvPr>
            <p:extLst>
              <p:ext uri="{D42A27DB-BD31-4B8C-83A1-F6EECF244321}">
                <p14:modId xmlns:p14="http://schemas.microsoft.com/office/powerpoint/2010/main" val="657859277"/>
              </p:ext>
            </p:extLst>
          </p:nvPr>
        </p:nvGraphicFramePr>
        <p:xfrm>
          <a:off x="527724" y="640080"/>
          <a:ext cx="11136552" cy="5577840"/>
        </p:xfrm>
        <a:graphic>
          <a:graphicData uri="http://schemas.openxmlformats.org/drawingml/2006/table">
            <a:tbl>
              <a:tblPr firstRow="1" bandRow="1">
                <a:tableStyleId>{5C22544A-7EE6-4342-B048-85BDC9FD1C3A}</a:tableStyleId>
              </a:tblPr>
              <a:tblGrid>
                <a:gridCol w="3529520">
                  <a:extLst>
                    <a:ext uri="{9D8B030D-6E8A-4147-A177-3AD203B41FA5}">
                      <a16:colId xmlns:a16="http://schemas.microsoft.com/office/drawing/2014/main" val="648326667"/>
                    </a:ext>
                  </a:extLst>
                </a:gridCol>
                <a:gridCol w="2402732">
                  <a:extLst>
                    <a:ext uri="{9D8B030D-6E8A-4147-A177-3AD203B41FA5}">
                      <a16:colId xmlns:a16="http://schemas.microsoft.com/office/drawing/2014/main" val="3588599268"/>
                    </a:ext>
                  </a:extLst>
                </a:gridCol>
                <a:gridCol w="2752928">
                  <a:extLst>
                    <a:ext uri="{9D8B030D-6E8A-4147-A177-3AD203B41FA5}">
                      <a16:colId xmlns:a16="http://schemas.microsoft.com/office/drawing/2014/main" val="612137502"/>
                    </a:ext>
                  </a:extLst>
                </a:gridCol>
                <a:gridCol w="2451372">
                  <a:extLst>
                    <a:ext uri="{9D8B030D-6E8A-4147-A177-3AD203B41FA5}">
                      <a16:colId xmlns:a16="http://schemas.microsoft.com/office/drawing/2014/main" val="3277378995"/>
                    </a:ext>
                  </a:extLst>
                </a:gridCol>
              </a:tblGrid>
              <a:tr h="370840">
                <a:tc>
                  <a:txBody>
                    <a:bodyPr/>
                    <a:lstStyle/>
                    <a:p>
                      <a:endParaRPr lang="en-GB" sz="2200" dirty="0"/>
                    </a:p>
                  </a:txBody>
                  <a:tcPr/>
                </a:tc>
                <a:tc>
                  <a:txBody>
                    <a:bodyPr/>
                    <a:lstStyle/>
                    <a:p>
                      <a:r>
                        <a:rPr lang="en-GB" sz="2200" dirty="0"/>
                        <a:t>Validity: </a:t>
                      </a:r>
                    </a:p>
                    <a:p>
                      <a:r>
                        <a:rPr lang="en-GB" sz="2200" dirty="0"/>
                        <a:t>On its own terms</a:t>
                      </a:r>
                    </a:p>
                  </a:txBody>
                  <a:tcPr/>
                </a:tc>
                <a:tc>
                  <a:txBody>
                    <a:bodyPr/>
                    <a:lstStyle/>
                    <a:p>
                      <a:r>
                        <a:rPr lang="en-GB" sz="2200" dirty="0"/>
                        <a:t>Synthesis:</a:t>
                      </a:r>
                    </a:p>
                    <a:p>
                      <a:r>
                        <a:rPr lang="en-GB" sz="2200" dirty="0"/>
                        <a:t>In relation to others</a:t>
                      </a:r>
                    </a:p>
                  </a:txBody>
                  <a:tcPr/>
                </a:tc>
                <a:tc>
                  <a:txBody>
                    <a:bodyPr/>
                    <a:lstStyle/>
                    <a:p>
                      <a:r>
                        <a:rPr lang="en-GB" sz="2200" dirty="0"/>
                        <a:t>Relevance:</a:t>
                      </a:r>
                    </a:p>
                    <a:p>
                      <a:r>
                        <a:rPr lang="en-GB" sz="2200" dirty="0"/>
                        <a:t>Usefulness to you</a:t>
                      </a:r>
                    </a:p>
                  </a:txBody>
                  <a:tcPr/>
                </a:tc>
                <a:extLst>
                  <a:ext uri="{0D108BD9-81ED-4DB2-BD59-A6C34878D82A}">
                    <a16:rowId xmlns:a16="http://schemas.microsoft.com/office/drawing/2014/main" val="386060894"/>
                  </a:ext>
                </a:extLst>
              </a:tr>
              <a:tr h="370840">
                <a:tc>
                  <a:txBody>
                    <a:bodyPr/>
                    <a:lstStyle/>
                    <a:p>
                      <a:r>
                        <a:rPr lang="en-GB" sz="2200" b="1" dirty="0"/>
                        <a:t>Context</a:t>
                      </a:r>
                    </a:p>
                    <a:p>
                      <a:r>
                        <a:rPr lang="en-GB" sz="2200" dirty="0"/>
                        <a:t>Discipline, currency, authors, bias</a:t>
                      </a:r>
                    </a:p>
                  </a:txBody>
                  <a:tcPr/>
                </a:tc>
                <a:tc>
                  <a:txBody>
                    <a:bodyPr/>
                    <a:lstStyle/>
                    <a:p>
                      <a:endParaRPr lang="en-GB" sz="2200"/>
                    </a:p>
                  </a:txBody>
                  <a:tcPr/>
                </a:tc>
                <a:tc>
                  <a:txBody>
                    <a:bodyPr/>
                    <a:lstStyle/>
                    <a:p>
                      <a:endParaRPr lang="en-GB" sz="2200"/>
                    </a:p>
                  </a:txBody>
                  <a:tcPr/>
                </a:tc>
                <a:tc>
                  <a:txBody>
                    <a:bodyPr/>
                    <a:lstStyle/>
                    <a:p>
                      <a:endParaRPr lang="en-GB" sz="2200"/>
                    </a:p>
                  </a:txBody>
                  <a:tcPr/>
                </a:tc>
                <a:extLst>
                  <a:ext uri="{0D108BD9-81ED-4DB2-BD59-A6C34878D82A}">
                    <a16:rowId xmlns:a16="http://schemas.microsoft.com/office/drawing/2014/main" val="215290600"/>
                  </a:ext>
                </a:extLst>
              </a:tr>
              <a:tr h="370840">
                <a:tc>
                  <a:txBody>
                    <a:bodyPr/>
                    <a:lstStyle/>
                    <a:p>
                      <a:r>
                        <a:rPr lang="en-GB" sz="2200" b="1" dirty="0"/>
                        <a:t>What are they doing?</a:t>
                      </a:r>
                      <a:endParaRPr lang="en-GB" sz="2200" b="0" dirty="0"/>
                    </a:p>
                    <a:p>
                      <a:r>
                        <a:rPr lang="en-GB" sz="2200" b="0" dirty="0"/>
                        <a:t>Research questions, aims, hypotheses</a:t>
                      </a:r>
                      <a:endParaRPr lang="en-GB" sz="2200" b="1" dirty="0"/>
                    </a:p>
                  </a:txBody>
                  <a:tcPr/>
                </a:tc>
                <a:tc>
                  <a:txBody>
                    <a:bodyPr/>
                    <a:lstStyle/>
                    <a:p>
                      <a:endParaRPr lang="en-GB" sz="2200"/>
                    </a:p>
                  </a:txBody>
                  <a:tcPr/>
                </a:tc>
                <a:tc>
                  <a:txBody>
                    <a:bodyPr/>
                    <a:lstStyle/>
                    <a:p>
                      <a:endParaRPr lang="en-GB" sz="2200"/>
                    </a:p>
                  </a:txBody>
                  <a:tcPr/>
                </a:tc>
                <a:tc>
                  <a:txBody>
                    <a:bodyPr/>
                    <a:lstStyle/>
                    <a:p>
                      <a:endParaRPr lang="en-GB" sz="2200"/>
                    </a:p>
                  </a:txBody>
                  <a:tcPr/>
                </a:tc>
                <a:extLst>
                  <a:ext uri="{0D108BD9-81ED-4DB2-BD59-A6C34878D82A}">
                    <a16:rowId xmlns:a16="http://schemas.microsoft.com/office/drawing/2014/main" val="2876938037"/>
                  </a:ext>
                </a:extLst>
              </a:tr>
              <a:tr h="370840">
                <a:tc>
                  <a:txBody>
                    <a:bodyPr/>
                    <a:lstStyle/>
                    <a:p>
                      <a:r>
                        <a:rPr lang="en-GB" sz="2200" b="1" dirty="0"/>
                        <a:t>How did they do it?</a:t>
                      </a:r>
                    </a:p>
                    <a:p>
                      <a:r>
                        <a:rPr lang="en-GB" sz="2200" b="0" dirty="0"/>
                        <a:t>Methods, models, materials</a:t>
                      </a:r>
                    </a:p>
                  </a:txBody>
                  <a:tcPr/>
                </a:tc>
                <a:tc>
                  <a:txBody>
                    <a:bodyPr/>
                    <a:lstStyle/>
                    <a:p>
                      <a:endParaRPr lang="en-GB" sz="2200" dirty="0"/>
                    </a:p>
                  </a:txBody>
                  <a:tcPr/>
                </a:tc>
                <a:tc>
                  <a:txBody>
                    <a:bodyPr/>
                    <a:lstStyle/>
                    <a:p>
                      <a:endParaRPr lang="en-GB" sz="2200"/>
                    </a:p>
                  </a:txBody>
                  <a:tcPr/>
                </a:tc>
                <a:tc>
                  <a:txBody>
                    <a:bodyPr/>
                    <a:lstStyle/>
                    <a:p>
                      <a:endParaRPr lang="en-GB" sz="2200"/>
                    </a:p>
                  </a:txBody>
                  <a:tcPr/>
                </a:tc>
                <a:extLst>
                  <a:ext uri="{0D108BD9-81ED-4DB2-BD59-A6C34878D82A}">
                    <a16:rowId xmlns:a16="http://schemas.microsoft.com/office/drawing/2014/main" val="4231354869"/>
                  </a:ext>
                </a:extLst>
              </a:tr>
              <a:tr h="370840">
                <a:tc>
                  <a:txBody>
                    <a:bodyPr/>
                    <a:lstStyle/>
                    <a:p>
                      <a:r>
                        <a:rPr lang="en-GB" sz="2200" b="1" dirty="0"/>
                        <a:t>How do they know?</a:t>
                      </a:r>
                    </a:p>
                    <a:p>
                      <a:r>
                        <a:rPr lang="en-GB" sz="2200" b="0" dirty="0"/>
                        <a:t>Argument, evidence, logic, reasoning</a:t>
                      </a:r>
                    </a:p>
                  </a:txBody>
                  <a:tcPr/>
                </a:tc>
                <a:tc>
                  <a:txBody>
                    <a:bodyPr/>
                    <a:lstStyle/>
                    <a:p>
                      <a:endParaRPr lang="en-GB" sz="2200" dirty="0"/>
                    </a:p>
                  </a:txBody>
                  <a:tcPr/>
                </a:tc>
                <a:tc>
                  <a:txBody>
                    <a:bodyPr/>
                    <a:lstStyle/>
                    <a:p>
                      <a:endParaRPr lang="en-GB" sz="2200"/>
                    </a:p>
                  </a:txBody>
                  <a:tcPr/>
                </a:tc>
                <a:tc>
                  <a:txBody>
                    <a:bodyPr/>
                    <a:lstStyle/>
                    <a:p>
                      <a:endParaRPr lang="en-GB" sz="2200"/>
                    </a:p>
                  </a:txBody>
                  <a:tcPr/>
                </a:tc>
                <a:extLst>
                  <a:ext uri="{0D108BD9-81ED-4DB2-BD59-A6C34878D82A}">
                    <a16:rowId xmlns:a16="http://schemas.microsoft.com/office/drawing/2014/main" val="828333454"/>
                  </a:ext>
                </a:extLst>
              </a:tr>
              <a:tr h="370840">
                <a:tc>
                  <a:txBody>
                    <a:bodyPr/>
                    <a:lstStyle/>
                    <a:p>
                      <a:r>
                        <a:rPr lang="en-GB" sz="2200" b="1" dirty="0"/>
                        <a:t>What do they say?</a:t>
                      </a:r>
                    </a:p>
                    <a:p>
                      <a:r>
                        <a:rPr lang="en-GB" sz="2200" b="0" dirty="0"/>
                        <a:t>Findings and conclusions</a:t>
                      </a:r>
                    </a:p>
                  </a:txBody>
                  <a:tcPr/>
                </a:tc>
                <a:tc>
                  <a:txBody>
                    <a:bodyPr/>
                    <a:lstStyle/>
                    <a:p>
                      <a:endParaRPr lang="en-GB" sz="2200" dirty="0"/>
                    </a:p>
                  </a:txBody>
                  <a:tcPr/>
                </a:tc>
                <a:tc>
                  <a:txBody>
                    <a:bodyPr/>
                    <a:lstStyle/>
                    <a:p>
                      <a:endParaRPr lang="en-GB" sz="2200"/>
                    </a:p>
                  </a:txBody>
                  <a:tcPr/>
                </a:tc>
                <a:tc>
                  <a:txBody>
                    <a:bodyPr/>
                    <a:lstStyle/>
                    <a:p>
                      <a:endParaRPr lang="en-GB" sz="2200" dirty="0"/>
                    </a:p>
                  </a:txBody>
                  <a:tcPr/>
                </a:tc>
                <a:extLst>
                  <a:ext uri="{0D108BD9-81ED-4DB2-BD59-A6C34878D82A}">
                    <a16:rowId xmlns:a16="http://schemas.microsoft.com/office/drawing/2014/main" val="4146958722"/>
                  </a:ext>
                </a:extLst>
              </a:tr>
            </a:tbl>
          </a:graphicData>
        </a:graphic>
      </p:graphicFrame>
    </p:spTree>
    <p:extLst>
      <p:ext uri="{BB962C8B-B14F-4D97-AF65-F5344CB8AC3E}">
        <p14:creationId xmlns:p14="http://schemas.microsoft.com/office/powerpoint/2010/main" val="375592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0E463-858B-5A44-19A2-5F3A025353D6}"/>
              </a:ext>
            </a:extLst>
          </p:cNvPr>
          <p:cNvSpPr>
            <a:spLocks noGrp="1"/>
          </p:cNvSpPr>
          <p:nvPr>
            <p:ph type="title"/>
          </p:nvPr>
        </p:nvSpPr>
        <p:spPr/>
        <p:txBody>
          <a:bodyPr/>
          <a:lstStyle/>
          <a:p>
            <a:r>
              <a:rPr lang="en-GB" dirty="0"/>
              <a:t>Canvas annotated article</a:t>
            </a:r>
          </a:p>
        </p:txBody>
      </p:sp>
      <p:pic>
        <p:nvPicPr>
          <p:cNvPr id="4" name="Picture 3" descr="Image of an academic journal article titled: 'Why underachievers dominate secret police organizations: Evidence from autocratic argentina'">
            <a:hlinkClick r:id="rId3"/>
            <a:extLst>
              <a:ext uri="{FF2B5EF4-FFF2-40B4-BE49-F238E27FC236}">
                <a16:creationId xmlns:a16="http://schemas.microsoft.com/office/drawing/2014/main" id="{B0AC26CF-8167-2D4F-186F-DFC8FE2962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531" y="1919510"/>
            <a:ext cx="7719509" cy="3688810"/>
          </a:xfrm>
          <a:prstGeom prst="rect">
            <a:avLst/>
          </a:prstGeom>
        </p:spPr>
      </p:pic>
    </p:spTree>
    <p:extLst>
      <p:ext uri="{BB962C8B-B14F-4D97-AF65-F5344CB8AC3E}">
        <p14:creationId xmlns:p14="http://schemas.microsoft.com/office/powerpoint/2010/main" val="2743147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10DA9-A689-CF85-928C-3D32514D3C24}"/>
              </a:ext>
            </a:extLst>
          </p:cNvPr>
          <p:cNvSpPr>
            <a:spLocks noGrp="1"/>
          </p:cNvSpPr>
          <p:nvPr>
            <p:ph type="title"/>
          </p:nvPr>
        </p:nvSpPr>
        <p:spPr>
          <a:xfrm>
            <a:off x="1149484" y="1042373"/>
            <a:ext cx="9893031" cy="2626469"/>
          </a:xfrm>
        </p:spPr>
        <p:txBody>
          <a:bodyPr/>
          <a:lstStyle/>
          <a:p>
            <a:r>
              <a:rPr lang="en-GB" dirty="0"/>
              <a:t>Assessments</a:t>
            </a:r>
          </a:p>
        </p:txBody>
      </p:sp>
    </p:spTree>
    <p:extLst>
      <p:ext uri="{BB962C8B-B14F-4D97-AF65-F5344CB8AC3E}">
        <p14:creationId xmlns:p14="http://schemas.microsoft.com/office/powerpoint/2010/main" val="711285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6333B-B933-7E62-380E-208AB27DFF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4B7E98-7C2A-BB1B-240E-1ED6EE3C24BA}"/>
              </a:ext>
            </a:extLst>
          </p:cNvPr>
          <p:cNvSpPr/>
          <p:nvPr/>
        </p:nvSpPr>
        <p:spPr>
          <a:xfrm>
            <a:off x="0" y="0"/>
            <a:ext cx="12192000" cy="1154096"/>
          </a:xfrm>
          <a:prstGeom prst="rect">
            <a:avLst/>
          </a:prstGeom>
          <a:solidFill>
            <a:srgbClr val="E76254"/>
          </a:solidFill>
          <a:ln>
            <a:solidFill>
              <a:srgbClr val="E7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71127CE-E2BF-E273-3AF5-25D0DBBB6C22}"/>
              </a:ext>
            </a:extLst>
          </p:cNvPr>
          <p:cNvSpPr>
            <a:spLocks noGrp="1"/>
          </p:cNvSpPr>
          <p:nvPr>
            <p:ph type="title"/>
          </p:nvPr>
        </p:nvSpPr>
        <p:spPr/>
        <p:txBody>
          <a:bodyPr/>
          <a:lstStyle/>
          <a:p>
            <a:r>
              <a:rPr lang="en-GB" dirty="0"/>
              <a:t>Formative Assessment</a:t>
            </a:r>
          </a:p>
        </p:txBody>
      </p:sp>
      <p:sp>
        <p:nvSpPr>
          <p:cNvPr id="3" name="Content Placeholder 2">
            <a:extLst>
              <a:ext uri="{FF2B5EF4-FFF2-40B4-BE49-F238E27FC236}">
                <a16:creationId xmlns:a16="http://schemas.microsoft.com/office/drawing/2014/main" id="{A3AC8F4A-0EFD-3594-0237-CF99C71558D4}"/>
              </a:ext>
            </a:extLst>
          </p:cNvPr>
          <p:cNvSpPr>
            <a:spLocks noGrp="1"/>
          </p:cNvSpPr>
          <p:nvPr>
            <p:ph idx="1"/>
          </p:nvPr>
        </p:nvSpPr>
        <p:spPr>
          <a:xfrm>
            <a:off x="746760" y="1490344"/>
            <a:ext cx="10998200" cy="4961255"/>
          </a:xfrm>
        </p:spPr>
        <p:txBody>
          <a:bodyPr>
            <a:normAutofit fontScale="77500" lnSpcReduction="20000"/>
          </a:bodyPr>
          <a:lstStyle/>
          <a:p>
            <a:pPr marL="0" indent="0">
              <a:buNone/>
            </a:pPr>
            <a:r>
              <a:rPr lang="en-GB" dirty="0"/>
              <a:t>In 300 words, please respond to the prompt below, outlining a potential research question you want to use in your research proposal:</a:t>
            </a:r>
          </a:p>
          <a:p>
            <a:pPr marL="0" indent="0">
              <a:buNone/>
            </a:pPr>
            <a:endParaRPr lang="en-GB" dirty="0"/>
          </a:p>
          <a:p>
            <a:pPr marL="0" indent="0">
              <a:buNone/>
            </a:pPr>
            <a:r>
              <a:rPr lang="en-GB" sz="3100" b="1" dirty="0">
                <a:solidFill>
                  <a:srgbClr val="376795"/>
                </a:solidFill>
              </a:rPr>
              <a:t>A BRIEF EXPLANATION OF THE CHIEF RESEARCH QUESTION(S) YOU WANT TO ADDRESS:</a:t>
            </a:r>
          </a:p>
          <a:p>
            <a:pPr marL="0" indent="0">
              <a:buNone/>
            </a:pPr>
            <a:r>
              <a:rPr lang="en-GB" sz="4100" b="1" dirty="0"/>
              <a:t>What do you want to research, and why is it worth researching it? </a:t>
            </a:r>
            <a:r>
              <a:rPr lang="en-GB" sz="4100" dirty="0"/>
              <a:t>This section should provide a brief explanation of the principal research question that the project would address. It should indicate the context of your question and explain why your research question is significant. You might also indicate, if appropriate, the sub-questions that follow from your principal question.</a:t>
            </a:r>
          </a:p>
        </p:txBody>
      </p:sp>
    </p:spTree>
    <p:extLst>
      <p:ext uri="{BB962C8B-B14F-4D97-AF65-F5344CB8AC3E}">
        <p14:creationId xmlns:p14="http://schemas.microsoft.com/office/powerpoint/2010/main" val="2739701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B27B7-0B42-3A16-35CE-C870DE6F7BD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BF7408-2D53-27FF-FEA0-D0EC996AD9B2}"/>
              </a:ext>
            </a:extLst>
          </p:cNvPr>
          <p:cNvSpPr/>
          <p:nvPr/>
        </p:nvSpPr>
        <p:spPr>
          <a:xfrm>
            <a:off x="0" y="0"/>
            <a:ext cx="12192000" cy="1154096"/>
          </a:xfrm>
          <a:prstGeom prst="rect">
            <a:avLst/>
          </a:prstGeom>
          <a:solidFill>
            <a:srgbClr val="E76254"/>
          </a:solidFill>
          <a:ln>
            <a:solidFill>
              <a:srgbClr val="E7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FAD12CA-27C1-B26C-8FA8-AE088668D14F}"/>
              </a:ext>
            </a:extLst>
          </p:cNvPr>
          <p:cNvSpPr>
            <a:spLocks noGrp="1"/>
          </p:cNvSpPr>
          <p:nvPr>
            <p:ph type="title"/>
          </p:nvPr>
        </p:nvSpPr>
        <p:spPr/>
        <p:txBody>
          <a:bodyPr/>
          <a:lstStyle/>
          <a:p>
            <a:r>
              <a:rPr lang="en-GB" dirty="0"/>
              <a:t>Formative Assessment</a:t>
            </a:r>
          </a:p>
        </p:txBody>
      </p:sp>
      <p:sp>
        <p:nvSpPr>
          <p:cNvPr id="3" name="Content Placeholder 2">
            <a:extLst>
              <a:ext uri="{FF2B5EF4-FFF2-40B4-BE49-F238E27FC236}">
                <a16:creationId xmlns:a16="http://schemas.microsoft.com/office/drawing/2014/main" id="{6FD2E93F-2394-F260-D6E7-C4CF9FB1D8C4}"/>
              </a:ext>
            </a:extLst>
          </p:cNvPr>
          <p:cNvSpPr>
            <a:spLocks noGrp="1"/>
          </p:cNvSpPr>
          <p:nvPr>
            <p:ph idx="1"/>
          </p:nvPr>
        </p:nvSpPr>
        <p:spPr/>
        <p:txBody>
          <a:bodyPr>
            <a:normAutofit/>
          </a:bodyPr>
          <a:lstStyle/>
          <a:p>
            <a:r>
              <a:rPr lang="en-GB" dirty="0"/>
              <a:t>Tell us what your topic is</a:t>
            </a:r>
          </a:p>
          <a:p>
            <a:r>
              <a:rPr lang="en-GB" dirty="0"/>
              <a:t>Tell us your specific research question/s</a:t>
            </a:r>
          </a:p>
          <a:p>
            <a:r>
              <a:rPr lang="en-GB" dirty="0"/>
              <a:t>Why are they relevant (social, academic)</a:t>
            </a:r>
          </a:p>
        </p:txBody>
      </p:sp>
    </p:spTree>
    <p:extLst>
      <p:ext uri="{BB962C8B-B14F-4D97-AF65-F5344CB8AC3E}">
        <p14:creationId xmlns:p14="http://schemas.microsoft.com/office/powerpoint/2010/main" val="1094105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2BAF-CC5D-4E95-0950-F28439B14B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6FEBAD9-2232-C4FF-06C6-06B87DB87E92}"/>
              </a:ext>
            </a:extLst>
          </p:cNvPr>
          <p:cNvSpPr/>
          <p:nvPr/>
        </p:nvSpPr>
        <p:spPr>
          <a:xfrm>
            <a:off x="0" y="0"/>
            <a:ext cx="12192000" cy="1154096"/>
          </a:xfrm>
          <a:prstGeom prst="rect">
            <a:avLst/>
          </a:prstGeom>
          <a:solidFill>
            <a:srgbClr val="E76254"/>
          </a:solidFill>
          <a:ln>
            <a:solidFill>
              <a:srgbClr val="E7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84559B9-79CB-E92A-6A47-E03D8DC57EB6}"/>
              </a:ext>
            </a:extLst>
          </p:cNvPr>
          <p:cNvSpPr>
            <a:spLocks noGrp="1"/>
          </p:cNvSpPr>
          <p:nvPr>
            <p:ph type="title"/>
          </p:nvPr>
        </p:nvSpPr>
        <p:spPr/>
        <p:txBody>
          <a:bodyPr/>
          <a:lstStyle/>
          <a:p>
            <a:r>
              <a:rPr lang="en-GB" dirty="0"/>
              <a:t>Formative Assessment</a:t>
            </a:r>
          </a:p>
        </p:txBody>
      </p:sp>
      <p:sp>
        <p:nvSpPr>
          <p:cNvPr id="3" name="Content Placeholder 2">
            <a:extLst>
              <a:ext uri="{FF2B5EF4-FFF2-40B4-BE49-F238E27FC236}">
                <a16:creationId xmlns:a16="http://schemas.microsoft.com/office/drawing/2014/main" id="{B66B0E09-71A4-8A5A-944C-26DE889126E8}"/>
              </a:ext>
            </a:extLst>
          </p:cNvPr>
          <p:cNvSpPr>
            <a:spLocks noGrp="1"/>
          </p:cNvSpPr>
          <p:nvPr>
            <p:ph idx="1"/>
          </p:nvPr>
        </p:nvSpPr>
        <p:spPr/>
        <p:txBody>
          <a:bodyPr/>
          <a:lstStyle/>
          <a:p>
            <a:r>
              <a:rPr lang="en-GB" dirty="0"/>
              <a:t>Can I use the same topic for my dissertation?</a:t>
            </a:r>
          </a:p>
          <a:p>
            <a:pPr lvl="1"/>
            <a:r>
              <a:rPr lang="en-GB" dirty="0"/>
              <a:t>Can use the same topic, but cannot resubmit the exact same material.</a:t>
            </a:r>
          </a:p>
          <a:p>
            <a:pPr lvl="1"/>
            <a:endParaRPr lang="en-GB" dirty="0"/>
          </a:p>
          <a:p>
            <a:r>
              <a:rPr lang="en-GB" dirty="0"/>
              <a:t>Can I use bullet points for my assessment?</a:t>
            </a:r>
          </a:p>
          <a:p>
            <a:pPr lvl="1"/>
            <a:r>
              <a:rPr lang="en-GB" dirty="0"/>
              <a:t>Write in full sentences and paragraphs. Can use bullet points or lists sparingly.</a:t>
            </a:r>
          </a:p>
        </p:txBody>
      </p:sp>
    </p:spTree>
    <p:extLst>
      <p:ext uri="{BB962C8B-B14F-4D97-AF65-F5344CB8AC3E}">
        <p14:creationId xmlns:p14="http://schemas.microsoft.com/office/powerpoint/2010/main" val="1717991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94A12A-7A1F-108C-BE8A-23DB14710CDD}"/>
              </a:ext>
            </a:extLst>
          </p:cNvPr>
          <p:cNvSpPr/>
          <p:nvPr/>
        </p:nvSpPr>
        <p:spPr>
          <a:xfrm>
            <a:off x="0" y="0"/>
            <a:ext cx="12192000" cy="1154096"/>
          </a:xfrm>
          <a:prstGeom prst="rect">
            <a:avLst/>
          </a:prstGeom>
          <a:solidFill>
            <a:srgbClr val="E76254"/>
          </a:solidFill>
          <a:ln>
            <a:solidFill>
              <a:srgbClr val="E7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3CE3A12-4EDF-8C9C-EE6A-31B0B5AB079D}"/>
              </a:ext>
            </a:extLst>
          </p:cNvPr>
          <p:cNvSpPr>
            <a:spLocks noGrp="1"/>
          </p:cNvSpPr>
          <p:nvPr>
            <p:ph type="title"/>
          </p:nvPr>
        </p:nvSpPr>
        <p:spPr/>
        <p:txBody>
          <a:bodyPr/>
          <a:lstStyle/>
          <a:p>
            <a:r>
              <a:rPr lang="en-GB" dirty="0"/>
              <a:t>Formative Assessment</a:t>
            </a:r>
          </a:p>
        </p:txBody>
      </p:sp>
      <p:sp>
        <p:nvSpPr>
          <p:cNvPr id="3" name="Content Placeholder 2">
            <a:extLst>
              <a:ext uri="{FF2B5EF4-FFF2-40B4-BE49-F238E27FC236}">
                <a16:creationId xmlns:a16="http://schemas.microsoft.com/office/drawing/2014/main" id="{990A102B-3C72-05BB-3A63-D9C13A63D74C}"/>
              </a:ext>
            </a:extLst>
          </p:cNvPr>
          <p:cNvSpPr>
            <a:spLocks noGrp="1"/>
          </p:cNvSpPr>
          <p:nvPr>
            <p:ph idx="1"/>
          </p:nvPr>
        </p:nvSpPr>
        <p:spPr/>
        <p:txBody>
          <a:bodyPr>
            <a:normAutofit fontScale="92500" lnSpcReduction="20000"/>
          </a:bodyPr>
          <a:lstStyle/>
          <a:p>
            <a:r>
              <a:rPr lang="en-GB" dirty="0"/>
              <a:t>Start looking for relevant academic literature</a:t>
            </a:r>
          </a:p>
          <a:p>
            <a:r>
              <a:rPr lang="en-GB" dirty="0"/>
              <a:t>Help generate ideas for research questions</a:t>
            </a:r>
          </a:p>
          <a:p>
            <a:r>
              <a:rPr lang="en-GB" dirty="0"/>
              <a:t>Can skim at this stage</a:t>
            </a:r>
          </a:p>
          <a:p>
            <a:r>
              <a:rPr lang="en-GB" dirty="0"/>
              <a:t>Can also use non-academic sources</a:t>
            </a:r>
          </a:p>
          <a:p>
            <a:endParaRPr lang="en-GB" dirty="0"/>
          </a:p>
          <a:p>
            <a:r>
              <a:rPr lang="en-GB" dirty="0"/>
              <a:t>References not required for the formative assessment</a:t>
            </a:r>
          </a:p>
          <a:p>
            <a:r>
              <a:rPr lang="en-GB" dirty="0"/>
              <a:t>But will be for the full proposal</a:t>
            </a:r>
          </a:p>
        </p:txBody>
      </p:sp>
    </p:spTree>
    <p:extLst>
      <p:ext uri="{BB962C8B-B14F-4D97-AF65-F5344CB8AC3E}">
        <p14:creationId xmlns:p14="http://schemas.microsoft.com/office/powerpoint/2010/main" val="1041005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9C562-092E-4428-4356-D1C1971B36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52E092-5965-C96A-25AE-967A363FAD5A}"/>
              </a:ext>
            </a:extLst>
          </p:cNvPr>
          <p:cNvSpPr/>
          <p:nvPr/>
        </p:nvSpPr>
        <p:spPr>
          <a:xfrm>
            <a:off x="0" y="0"/>
            <a:ext cx="12192000" cy="1154096"/>
          </a:xfrm>
          <a:prstGeom prst="rect">
            <a:avLst/>
          </a:prstGeom>
          <a:solidFill>
            <a:srgbClr val="E76254"/>
          </a:solidFill>
          <a:ln>
            <a:solidFill>
              <a:srgbClr val="E7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E09A47F-E222-BDDA-753B-D6E8FD66D973}"/>
              </a:ext>
            </a:extLst>
          </p:cNvPr>
          <p:cNvSpPr>
            <a:spLocks noGrp="1"/>
          </p:cNvSpPr>
          <p:nvPr>
            <p:ph type="title"/>
          </p:nvPr>
        </p:nvSpPr>
        <p:spPr/>
        <p:txBody>
          <a:bodyPr/>
          <a:lstStyle/>
          <a:p>
            <a:r>
              <a:rPr lang="en-GB" dirty="0"/>
              <a:t>Research Proposal</a:t>
            </a:r>
          </a:p>
        </p:txBody>
      </p:sp>
      <p:sp>
        <p:nvSpPr>
          <p:cNvPr id="3" name="Content Placeholder 2">
            <a:extLst>
              <a:ext uri="{FF2B5EF4-FFF2-40B4-BE49-F238E27FC236}">
                <a16:creationId xmlns:a16="http://schemas.microsoft.com/office/drawing/2014/main" id="{887CE57A-8E72-EA8B-828B-EF8EA5070E3E}"/>
              </a:ext>
            </a:extLst>
          </p:cNvPr>
          <p:cNvSpPr>
            <a:spLocks noGrp="1"/>
          </p:cNvSpPr>
          <p:nvPr>
            <p:ph idx="1"/>
          </p:nvPr>
        </p:nvSpPr>
        <p:spPr/>
        <p:txBody>
          <a:bodyPr/>
          <a:lstStyle/>
          <a:p>
            <a:r>
              <a:rPr lang="en-GB" dirty="0"/>
              <a:t>Example past submissions now on canvas</a:t>
            </a:r>
          </a:p>
          <a:p>
            <a:r>
              <a:rPr lang="en-GB" dirty="0"/>
              <a:t>Will discuss the assessment in class</a:t>
            </a:r>
          </a:p>
          <a:p>
            <a:endParaRPr lang="en-GB" dirty="0"/>
          </a:p>
          <a:p>
            <a:r>
              <a:rPr lang="en-GB" dirty="0"/>
              <a:t>Conduct a literature review with a minimum of 5 academic sources	</a:t>
            </a:r>
          </a:p>
          <a:p>
            <a:pPr lvl="1"/>
            <a:r>
              <a:rPr lang="en-GB" dirty="0"/>
              <a:t>Journal articles</a:t>
            </a:r>
          </a:p>
          <a:p>
            <a:pPr lvl="1"/>
            <a:r>
              <a:rPr lang="en-GB" dirty="0"/>
              <a:t>Academic press book chapters</a:t>
            </a:r>
          </a:p>
        </p:txBody>
      </p:sp>
    </p:spTree>
    <p:extLst>
      <p:ext uri="{BB962C8B-B14F-4D97-AF65-F5344CB8AC3E}">
        <p14:creationId xmlns:p14="http://schemas.microsoft.com/office/powerpoint/2010/main" val="1906583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BF6C9-9B80-4E92-FBAD-218B963ED289}"/>
              </a:ext>
            </a:extLst>
          </p:cNvPr>
          <p:cNvSpPr>
            <a:spLocks noGrp="1"/>
          </p:cNvSpPr>
          <p:nvPr>
            <p:ph type="title"/>
          </p:nvPr>
        </p:nvSpPr>
        <p:spPr/>
        <p:txBody>
          <a:bodyPr/>
          <a:lstStyle/>
          <a:p>
            <a:r>
              <a:rPr lang="en-GB" dirty="0"/>
              <a:t>Next steps</a:t>
            </a:r>
          </a:p>
        </p:txBody>
      </p:sp>
      <p:sp>
        <p:nvSpPr>
          <p:cNvPr id="3" name="Content Placeholder 2">
            <a:extLst>
              <a:ext uri="{FF2B5EF4-FFF2-40B4-BE49-F238E27FC236}">
                <a16:creationId xmlns:a16="http://schemas.microsoft.com/office/drawing/2014/main" id="{FF27B308-0935-1E82-CE70-D2A735181E43}"/>
              </a:ext>
            </a:extLst>
          </p:cNvPr>
          <p:cNvSpPr>
            <a:spLocks noGrp="1"/>
          </p:cNvSpPr>
          <p:nvPr>
            <p:ph idx="1"/>
          </p:nvPr>
        </p:nvSpPr>
        <p:spPr>
          <a:xfrm>
            <a:off x="838199" y="1545996"/>
            <a:ext cx="11105561" cy="4911365"/>
          </a:xfrm>
        </p:spPr>
        <p:txBody>
          <a:bodyPr>
            <a:normAutofit lnSpcReduction="10000"/>
          </a:bodyPr>
          <a:lstStyle/>
          <a:p>
            <a:pPr marL="0" indent="0">
              <a:buNone/>
            </a:pPr>
            <a:r>
              <a:rPr lang="en-GB" b="1" dirty="0"/>
              <a:t>Lecture Part 2</a:t>
            </a:r>
          </a:p>
          <a:p>
            <a:r>
              <a:rPr lang="en-GB" sz="3200" dirty="0"/>
              <a:t>Finding information sources</a:t>
            </a:r>
          </a:p>
          <a:p>
            <a:pPr marL="0" indent="0">
              <a:buNone/>
            </a:pPr>
            <a:endParaRPr lang="en-GB" sz="3200" dirty="0"/>
          </a:p>
          <a:p>
            <a:pPr marL="0" indent="0">
              <a:buNone/>
            </a:pPr>
            <a:r>
              <a:rPr lang="en-GB" sz="3600" b="1" dirty="0"/>
              <a:t>Canvas video</a:t>
            </a:r>
          </a:p>
          <a:p>
            <a:r>
              <a:rPr lang="en-GB" sz="3200" dirty="0"/>
              <a:t>How do we read critically?</a:t>
            </a:r>
          </a:p>
          <a:p>
            <a:r>
              <a:rPr lang="en-GB" sz="3200" dirty="0"/>
              <a:t>How can we take notes effectively?</a:t>
            </a:r>
          </a:p>
          <a:p>
            <a:endParaRPr lang="en-GB" sz="3200" dirty="0"/>
          </a:p>
          <a:p>
            <a:pPr marL="0" indent="0">
              <a:buNone/>
            </a:pPr>
            <a:r>
              <a:rPr lang="en-GB" sz="3600" b="1" dirty="0"/>
              <a:t>At the seminar:</a:t>
            </a:r>
          </a:p>
          <a:p>
            <a:pPr lvl="1"/>
            <a:r>
              <a:rPr lang="en-GB" dirty="0"/>
              <a:t>Bring along article from lecture</a:t>
            </a:r>
          </a:p>
          <a:p>
            <a:endParaRPr lang="en-GB" sz="3200" dirty="0"/>
          </a:p>
          <a:p>
            <a:pPr marL="0" indent="0">
              <a:buNone/>
            </a:pPr>
            <a:endParaRPr lang="en-GB" dirty="0"/>
          </a:p>
        </p:txBody>
      </p:sp>
    </p:spTree>
    <p:extLst>
      <p:ext uri="{BB962C8B-B14F-4D97-AF65-F5344CB8AC3E}">
        <p14:creationId xmlns:p14="http://schemas.microsoft.com/office/powerpoint/2010/main" val="1774837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23AFCB4-6ED2-4A1B-B74C-8E17736BF60B}">
  <we:reference id="3e0fcce7-415c-4081-926c-b4e449c650e4" version="1.1.0.2" store="EXCatalog" storeType="EXCatalog"/>
  <we:alternateReferences>
    <we:reference id="WA200004709" version="1.1.0.2" store="en-GB"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1561</TotalTime>
  <Words>1289</Words>
  <Application>Microsoft Office PowerPoint</Application>
  <PresentationFormat>Widescreen</PresentationFormat>
  <Paragraphs>233</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Franklin Gothic Demi</vt:lpstr>
      <vt:lpstr>Gill Sans MT</vt:lpstr>
      <vt:lpstr>Office Theme</vt:lpstr>
      <vt:lpstr>Literature Reviews</vt:lpstr>
      <vt:lpstr>Updates</vt:lpstr>
      <vt:lpstr>Plan for this week</vt:lpstr>
      <vt:lpstr>Recap </vt:lpstr>
      <vt:lpstr>Recap</vt:lpstr>
      <vt:lpstr>Recap</vt:lpstr>
      <vt:lpstr>Recap</vt:lpstr>
      <vt:lpstr>What we will cover</vt:lpstr>
      <vt:lpstr>PowerPoint Presentation</vt:lpstr>
      <vt:lpstr>What is a literature review?</vt:lpstr>
      <vt:lpstr>Why do we conduct lit reviews?</vt:lpstr>
      <vt:lpstr>PowerPoint Presentation</vt:lpstr>
      <vt:lpstr>What makes up the ‘literature’</vt:lpstr>
      <vt:lpstr>What makes up the ‘literature’</vt:lpstr>
      <vt:lpstr>How to conduct a lit review</vt:lpstr>
      <vt:lpstr>How to conduct a lit review</vt:lpstr>
      <vt:lpstr>How to conduct a lit review</vt:lpstr>
      <vt:lpstr>How to conduct a lit review</vt:lpstr>
      <vt:lpstr>Practical Tips</vt:lpstr>
      <vt:lpstr>Practical Tips</vt:lpstr>
      <vt:lpstr>Practical Tips</vt:lpstr>
      <vt:lpstr>Practical Tips</vt:lpstr>
      <vt:lpstr>Critical Reading</vt:lpstr>
      <vt:lpstr>Bloom’s Taxonomy of learning (edited)</vt:lpstr>
      <vt:lpstr>Reading with purpose</vt:lpstr>
      <vt:lpstr>PowerPoint Presentation</vt:lpstr>
      <vt:lpstr>Canvas annotated article</vt:lpstr>
      <vt:lpstr>Assessments</vt:lpstr>
      <vt:lpstr>Formative Assessment</vt:lpstr>
      <vt:lpstr>Formative Assessment</vt:lpstr>
      <vt:lpstr>Formative Assessment</vt:lpstr>
      <vt:lpstr>Formative Assessment</vt:lpstr>
      <vt:lpstr>Research Proposal</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Lecture 2  Becoming a Political Researcher (POL2017)</dc:title>
  <dc:creator>brian boyle</dc:creator>
  <cp:lastModifiedBy>Brian Boyle</cp:lastModifiedBy>
  <cp:revision>216</cp:revision>
  <dcterms:created xsi:type="dcterms:W3CDTF">2023-12-20T10:52:04Z</dcterms:created>
  <dcterms:modified xsi:type="dcterms:W3CDTF">2026-02-10T14:13:14Z</dcterms:modified>
</cp:coreProperties>
</file>